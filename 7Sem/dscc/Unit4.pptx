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0" r:id="rId4"/>
    <p:sldId id="271"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292" r:id="rId20"/>
    <p:sldId id="293" r:id="rId21"/>
    <p:sldId id="294" r:id="rId22"/>
    <p:sldId id="295" r:id="rId23"/>
    <p:sldId id="296" r:id="rId24"/>
    <p:sldId id="297" r:id="rId25"/>
    <p:sldId id="298" r:id="rId26"/>
    <p:sldId id="299" r:id="rId27"/>
    <p:sldId id="300" r:id="rId28"/>
    <p:sldId id="302" r:id="rId29"/>
    <p:sldId id="303" r:id="rId30"/>
    <p:sldId id="305"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5" d="100"/>
          <a:sy n="55" d="100"/>
        </p:scale>
        <p:origin x="160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HAAN JAIN" userId="63e3117e315e3907" providerId="LiveId" clId="{180966EC-15EE-4568-80B5-90FFA421719D}"/>
    <pc:docChg chg="modSld">
      <pc:chgData name="ISHAAN JAIN" userId="63e3117e315e3907" providerId="LiveId" clId="{180966EC-15EE-4568-80B5-90FFA421719D}" dt="2025-12-16T19:27:30.952" v="1" actId="732"/>
      <pc:docMkLst>
        <pc:docMk/>
      </pc:docMkLst>
      <pc:sldChg chg="modSp mod">
        <pc:chgData name="ISHAAN JAIN" userId="63e3117e315e3907" providerId="LiveId" clId="{180966EC-15EE-4568-80B5-90FFA421719D}" dt="2025-12-16T19:27:30.952" v="1" actId="732"/>
        <pc:sldMkLst>
          <pc:docMk/>
          <pc:sldMk cId="1268334353" sldId="288"/>
        </pc:sldMkLst>
        <pc:picChg chg="mod modCrop">
          <ac:chgData name="ISHAAN JAIN" userId="63e3117e315e3907" providerId="LiveId" clId="{180966EC-15EE-4568-80B5-90FFA421719D}" dt="2025-12-16T19:27:30.952" v="1" actId="732"/>
          <ac:picMkLst>
            <pc:docMk/>
            <pc:sldMk cId="1268334353" sldId="288"/>
            <ac:picMk id="5" creationId="{D649191D-F99F-93FF-35B9-6FCAFC67D5C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Unit IV – Cloud Computing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itchFamily="18" charset="0"/>
                <a:cs typeface="Times New Roman" pitchFamily="18" charset="0"/>
              </a:rPr>
              <a:t>Overview of Unit IV</a:t>
            </a:r>
          </a:p>
        </p:txBody>
      </p:sp>
      <p:sp>
        <p:nvSpPr>
          <p:cNvPr id="3" name="Content Placeholder 2"/>
          <p:cNvSpPr>
            <a:spLocks noGrp="1"/>
          </p:cNvSpPr>
          <p:nvPr>
            <p:ph idx="1"/>
          </p:nvPr>
        </p:nvSpPr>
        <p:spPr/>
        <p:txBody>
          <a:bodyPr/>
          <a:lstStyle/>
          <a:p>
            <a:r>
              <a:rPr dirty="0">
                <a:latin typeface="Times New Roman" pitchFamily="18" charset="0"/>
                <a:cs typeface="Times New Roman" pitchFamily="18" charset="0"/>
              </a:rPr>
              <a:t>Introduction to Cloud Computing</a:t>
            </a:r>
          </a:p>
          <a:p>
            <a:r>
              <a:rPr dirty="0">
                <a:latin typeface="Times New Roman" pitchFamily="18" charset="0"/>
                <a:cs typeface="Times New Roman" pitchFamily="18" charset="0"/>
              </a:rPr>
              <a:t>Layers and Types of Clouds</a:t>
            </a:r>
          </a:p>
          <a:p>
            <a:r>
              <a:rPr dirty="0">
                <a:latin typeface="Times New Roman" pitchFamily="18" charset="0"/>
                <a:cs typeface="Times New Roman" pitchFamily="18" charset="0"/>
              </a:rPr>
              <a:t>Features and Infrastructure Management</a:t>
            </a:r>
          </a:p>
          <a:p>
            <a:r>
              <a:rPr dirty="0">
                <a:latin typeface="Times New Roman" pitchFamily="18" charset="0"/>
                <a:cs typeface="Times New Roman" pitchFamily="18" charset="0"/>
              </a:rPr>
              <a:t>Service Models (</a:t>
            </a:r>
            <a:r>
              <a:rPr dirty="0" err="1">
                <a:latin typeface="Times New Roman" pitchFamily="18" charset="0"/>
                <a:cs typeface="Times New Roman" pitchFamily="18" charset="0"/>
              </a:rPr>
              <a:t>IaaS</a:t>
            </a:r>
            <a:r>
              <a:rPr dirty="0">
                <a:latin typeface="Times New Roman" pitchFamily="18" charset="0"/>
                <a:cs typeface="Times New Roman" pitchFamily="18" charset="0"/>
              </a:rPr>
              <a:t>, </a:t>
            </a:r>
            <a:r>
              <a:rPr dirty="0" err="1">
                <a:latin typeface="Times New Roman" pitchFamily="18" charset="0"/>
                <a:cs typeface="Times New Roman" pitchFamily="18" charset="0"/>
              </a:rPr>
              <a:t>PaaS</a:t>
            </a:r>
            <a:r>
              <a:rPr dirty="0">
                <a:latin typeface="Times New Roman" pitchFamily="18" charset="0"/>
                <a:cs typeface="Times New Roman" pitchFamily="18" charset="0"/>
              </a:rPr>
              <a:t>, </a:t>
            </a:r>
            <a:r>
              <a:rPr dirty="0" err="1">
                <a:latin typeface="Times New Roman" pitchFamily="18" charset="0"/>
                <a:cs typeface="Times New Roman" pitchFamily="18" charset="0"/>
              </a:rPr>
              <a:t>SaaS</a:t>
            </a:r>
            <a:r>
              <a:rPr dirty="0">
                <a:latin typeface="Times New Roman" pitchFamily="18" charset="0"/>
                <a:cs typeface="Times New Roman" pitchFamily="18" charset="0"/>
              </a:rPr>
              <a:t>, </a:t>
            </a:r>
            <a:r>
              <a:rPr dirty="0" err="1">
                <a:latin typeface="Times New Roman" pitchFamily="18" charset="0"/>
                <a:cs typeface="Times New Roman" pitchFamily="18" charset="0"/>
              </a:rPr>
              <a:t>HaaS</a:t>
            </a:r>
            <a:r>
              <a:rPr dirty="0">
                <a:latin typeface="Times New Roman" pitchFamily="18" charset="0"/>
                <a:cs typeface="Times New Roman" pitchFamily="18" charset="0"/>
              </a:rPr>
              <a:t>)</a:t>
            </a:r>
          </a:p>
          <a:p>
            <a:r>
              <a:rPr dirty="0">
                <a:latin typeface="Times New Roman" pitchFamily="18" charset="0"/>
                <a:cs typeface="Times New Roman" pitchFamily="18" charset="0"/>
              </a:rPr>
              <a:t>Challenges &amp; Risks</a:t>
            </a:r>
          </a:p>
          <a:p>
            <a:r>
              <a:rPr dirty="0">
                <a:latin typeface="Times New Roman" pitchFamily="18" charset="0"/>
                <a:cs typeface="Times New Roman" pitchFamily="18" charset="0"/>
              </a:rPr>
              <a:t>Cloud Migration Approaches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5C0A-32F8-4E4D-BA4F-085DCF227D8C}"/>
              </a:ext>
            </a:extLst>
          </p:cNvPr>
          <p:cNvSpPr>
            <a:spLocks noGrp="1"/>
          </p:cNvSpPr>
          <p:nvPr>
            <p:ph type="title"/>
          </p:nvPr>
        </p:nvSpPr>
        <p:spPr/>
        <p:txBody>
          <a:bodyPr>
            <a:normAutofit/>
          </a:bodyPr>
          <a:lstStyle/>
          <a:p>
            <a:r>
              <a:rPr lang="en-US" sz="4400" u="sng" dirty="0">
                <a:latin typeface="Times New Roman" panose="02020603050405020304" pitchFamily="18" charset="0"/>
                <a:cs typeface="Times New Roman" panose="02020603050405020304" pitchFamily="18" charset="0"/>
              </a:rPr>
              <a:t>Cloud Computing</a:t>
            </a:r>
          </a:p>
        </p:txBody>
      </p:sp>
      <p:sp>
        <p:nvSpPr>
          <p:cNvPr id="3" name="Content Placeholder 2">
            <a:extLst>
              <a:ext uri="{FF2B5EF4-FFF2-40B4-BE49-F238E27FC236}">
                <a16:creationId xmlns:a16="http://schemas.microsoft.com/office/drawing/2014/main" id="{B6C35C12-E6EB-41FA-9108-D9CA1ADE01DA}"/>
              </a:ext>
            </a:extLst>
          </p:cNvPr>
          <p:cNvSpPr>
            <a:spLocks noGrp="1"/>
          </p:cNvSpPr>
          <p:nvPr>
            <p:ph idx="1"/>
          </p:nvPr>
        </p:nvSpPr>
        <p:spPr>
          <a:xfrm>
            <a:off x="622554" y="1981200"/>
            <a:ext cx="8064246" cy="3581400"/>
          </a:xfrm>
        </p:spPr>
        <p:txBody>
          <a:bodyPr>
            <a:normAutofit fontScale="92500" lnSpcReduction="10000"/>
          </a:bodyPr>
          <a:lstStyle/>
          <a:p>
            <a:pPr algn="just"/>
            <a:r>
              <a:rPr lang="en-US" sz="2800" dirty="0">
                <a:latin typeface="Times New Roman" pitchFamily="18" charset="0"/>
                <a:cs typeface="Times New Roman" pitchFamily="18" charset="0"/>
              </a:rPr>
              <a:t>Cloud computing is the delivery of computing services such as servers, storage, databases, networking, software, analytics and more over the Internet (“the cloud”). </a:t>
            </a:r>
          </a:p>
          <a:p>
            <a:pPr algn="just"/>
            <a:r>
              <a:rPr lang="en-US" sz="2800" dirty="0">
                <a:latin typeface="Times New Roman" pitchFamily="18" charset="0"/>
                <a:cs typeface="Times New Roman" pitchFamily="18" charset="0"/>
              </a:rPr>
              <a:t>With cloud computing user can access database resources via the internet from anywhere anytime without worrying about maintenance and management</a:t>
            </a:r>
          </a:p>
          <a:p>
            <a:pPr algn="just"/>
            <a:r>
              <a:rPr lang="en-US" sz="2800" dirty="0">
                <a:latin typeface="Times New Roman" pitchFamily="18" charset="0"/>
                <a:cs typeface="Times New Roman" pitchFamily="18" charset="0"/>
              </a:rPr>
              <a:t>Term cloud refers to a network or internet. Cloud is something which is present at remote location</a:t>
            </a:r>
          </a:p>
          <a:p>
            <a:endParaRPr lang="en-US" dirty="0"/>
          </a:p>
        </p:txBody>
      </p:sp>
    </p:spTree>
    <p:extLst>
      <p:ext uri="{BB962C8B-B14F-4D97-AF65-F5344CB8AC3E}">
        <p14:creationId xmlns:p14="http://schemas.microsoft.com/office/powerpoint/2010/main" val="2314708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2BC13-BF93-4192-8873-EB32FC690935}"/>
              </a:ext>
            </a:extLst>
          </p:cNvPr>
          <p:cNvSpPr>
            <a:spLocks noGrp="1"/>
          </p:cNvSpPr>
          <p:nvPr>
            <p:ph type="title"/>
          </p:nvPr>
        </p:nvSpPr>
        <p:spPr/>
        <p:txBody>
          <a:bodyPr>
            <a:normAutofit fontScale="90000"/>
          </a:bodyPr>
          <a:lstStyle/>
          <a:p>
            <a:r>
              <a:rPr lang="en-US" sz="4400" u="sng" dirty="0">
                <a:latin typeface="Times New Roman" panose="02020603050405020304" pitchFamily="18" charset="0"/>
                <a:cs typeface="Times New Roman" panose="02020603050405020304" pitchFamily="18" charset="0"/>
              </a:rPr>
              <a:t>Deployment models of cloud computing</a:t>
            </a:r>
          </a:p>
        </p:txBody>
      </p:sp>
      <p:sp>
        <p:nvSpPr>
          <p:cNvPr id="3" name="Content Placeholder 2">
            <a:extLst>
              <a:ext uri="{FF2B5EF4-FFF2-40B4-BE49-F238E27FC236}">
                <a16:creationId xmlns:a16="http://schemas.microsoft.com/office/drawing/2014/main" id="{472630E2-F1DE-469E-B77B-AC0B93E13062}"/>
              </a:ext>
            </a:extLst>
          </p:cNvPr>
          <p:cNvSpPr>
            <a:spLocks noGrp="1"/>
          </p:cNvSpPr>
          <p:nvPr>
            <p:ph idx="1"/>
          </p:nvPr>
        </p:nvSpPr>
        <p:spPr/>
        <p:txBody>
          <a:bodyPr>
            <a:normAutofit/>
          </a:bodyPr>
          <a:lstStyle/>
          <a:p>
            <a:pPr algn="just" fontAlgn="base"/>
            <a:r>
              <a:rPr lang="en-US" sz="2800" dirty="0">
                <a:latin typeface="Times New Roman" panose="02020603050405020304" pitchFamily="18" charset="0"/>
                <a:cs typeface="Times New Roman" panose="02020603050405020304" pitchFamily="18" charset="0"/>
              </a:rPr>
              <a:t>Deployment model defines the type of access to the cloud</a:t>
            </a:r>
          </a:p>
          <a:p>
            <a:pPr algn="just"/>
            <a:r>
              <a:rPr lang="en-US" sz="2800" dirty="0">
                <a:latin typeface="Times New Roman" panose="02020603050405020304" pitchFamily="18" charset="0"/>
                <a:cs typeface="Times New Roman" panose="02020603050405020304" pitchFamily="18" charset="0"/>
              </a:rPr>
              <a:t>The cloud deployment model identifies the specific type of cloud environment based on ownership, scale, and access, as well as the cloud’s nature and purpose.</a:t>
            </a:r>
          </a:p>
          <a:p>
            <a:pPr algn="just"/>
            <a:r>
              <a:rPr lang="en-US" sz="2800" dirty="0">
                <a:latin typeface="Times New Roman" panose="02020603050405020304" pitchFamily="18" charset="0"/>
                <a:cs typeface="Times New Roman" panose="02020603050405020304" pitchFamily="18" charset="0"/>
              </a:rPr>
              <a:t>Relationships between the infrastructure and users defined by cloud deployment models</a:t>
            </a:r>
          </a:p>
        </p:txBody>
      </p:sp>
    </p:spTree>
    <p:extLst>
      <p:ext uri="{BB962C8B-B14F-4D97-AF65-F5344CB8AC3E}">
        <p14:creationId xmlns:p14="http://schemas.microsoft.com/office/powerpoint/2010/main" val="2701660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ACAB8DF-5A4B-0D79-F169-B0CA6F819D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 y="304799"/>
            <a:ext cx="8534400" cy="6425901"/>
          </a:xfrm>
          <a:prstGeom prst="rect">
            <a:avLst/>
          </a:prstGeom>
        </p:spPr>
      </p:pic>
    </p:spTree>
    <p:extLst>
      <p:ext uri="{BB962C8B-B14F-4D97-AF65-F5344CB8AC3E}">
        <p14:creationId xmlns:p14="http://schemas.microsoft.com/office/powerpoint/2010/main" val="244702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EE0EF0-917A-773C-8031-504DC490DB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381000"/>
            <a:ext cx="7696200" cy="5715000"/>
          </a:xfrm>
          <a:prstGeom prst="rect">
            <a:avLst/>
          </a:prstGeom>
        </p:spPr>
      </p:pic>
    </p:spTree>
    <p:extLst>
      <p:ext uri="{BB962C8B-B14F-4D97-AF65-F5344CB8AC3E}">
        <p14:creationId xmlns:p14="http://schemas.microsoft.com/office/powerpoint/2010/main" val="2114286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CA974-80AD-95D9-84C1-DD30DF12520A}"/>
              </a:ext>
            </a:extLst>
          </p:cNvPr>
          <p:cNvSpPr>
            <a:spLocks noGrp="1"/>
          </p:cNvSpPr>
          <p:nvPr>
            <p:ph type="title"/>
          </p:nvPr>
        </p:nvSpPr>
        <p:spPr/>
        <p:txBody>
          <a:bodyPr/>
          <a:lstStyle/>
          <a:p>
            <a:r>
              <a:rPr lang="en-US" sz="4400" u="sng" dirty="0">
                <a:latin typeface="Times New Roman" panose="02020603050405020304" pitchFamily="18" charset="0"/>
                <a:ea typeface="Adobe Gothic Std B" pitchFamily="34" charset="-128"/>
                <a:cs typeface="Times New Roman" panose="02020603050405020304" pitchFamily="18" charset="0"/>
              </a:rPr>
              <a:t>Characteristics of cloud computing </a:t>
            </a:r>
          </a:p>
        </p:txBody>
      </p:sp>
      <p:sp>
        <p:nvSpPr>
          <p:cNvPr id="3" name="Content Placeholder 2">
            <a:extLst>
              <a:ext uri="{FF2B5EF4-FFF2-40B4-BE49-F238E27FC236}">
                <a16:creationId xmlns:a16="http://schemas.microsoft.com/office/drawing/2014/main" id="{7575704C-D38B-3765-AD48-695901BCA3B2}"/>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There are basically five essential characteristics of cloud computing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1. On demand self service</a:t>
            </a:r>
          </a:p>
          <a:p>
            <a:pPr marL="0" indent="0">
              <a:buNone/>
            </a:pPr>
            <a:r>
              <a:rPr lang="en-US" sz="2400" dirty="0">
                <a:latin typeface="Times New Roman" panose="02020603050405020304" pitchFamily="18" charset="0"/>
                <a:cs typeface="Times New Roman" panose="02020603050405020304" pitchFamily="18" charset="0"/>
              </a:rPr>
              <a:t>2. Broad network access</a:t>
            </a:r>
          </a:p>
          <a:p>
            <a:pPr marL="0" indent="0">
              <a:buNone/>
            </a:pPr>
            <a:r>
              <a:rPr lang="en-US" sz="2400" dirty="0">
                <a:latin typeface="Times New Roman" panose="02020603050405020304" pitchFamily="18" charset="0"/>
                <a:cs typeface="Times New Roman" panose="02020603050405020304" pitchFamily="18" charset="0"/>
              </a:rPr>
              <a:t>3. Rapid elasticity</a:t>
            </a:r>
          </a:p>
          <a:p>
            <a:pPr marL="0" indent="0">
              <a:buNone/>
            </a:pPr>
            <a:r>
              <a:rPr lang="en-US" sz="2400" dirty="0">
                <a:latin typeface="Times New Roman" panose="02020603050405020304" pitchFamily="18" charset="0"/>
                <a:cs typeface="Times New Roman" panose="02020603050405020304" pitchFamily="18" charset="0"/>
              </a:rPr>
              <a:t>4. Resource pooling</a:t>
            </a:r>
          </a:p>
          <a:p>
            <a:pPr marL="0" indent="0">
              <a:buNone/>
            </a:pPr>
            <a:r>
              <a:rPr lang="en-US" sz="2400" dirty="0">
                <a:latin typeface="Times New Roman" panose="02020603050405020304" pitchFamily="18" charset="0"/>
                <a:cs typeface="Times New Roman" panose="02020603050405020304" pitchFamily="18" charset="0"/>
              </a:rPr>
              <a:t>5. Measured services</a:t>
            </a:r>
          </a:p>
        </p:txBody>
      </p:sp>
    </p:spTree>
    <p:extLst>
      <p:ext uri="{BB962C8B-B14F-4D97-AF65-F5344CB8AC3E}">
        <p14:creationId xmlns:p14="http://schemas.microsoft.com/office/powerpoint/2010/main" val="744916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B60035B-5936-AD75-4C04-1D581F7D26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33551"/>
            <a:ext cx="7196137" cy="5871961"/>
          </a:xfrm>
          <a:prstGeom prst="rect">
            <a:avLst/>
          </a:prstGeom>
        </p:spPr>
      </p:pic>
    </p:spTree>
    <p:extLst>
      <p:ext uri="{BB962C8B-B14F-4D97-AF65-F5344CB8AC3E}">
        <p14:creationId xmlns:p14="http://schemas.microsoft.com/office/powerpoint/2010/main" val="195891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4400" u="sng" dirty="0">
                <a:latin typeface="Times New Roman" panose="02020603050405020304" pitchFamily="18" charset="0"/>
                <a:ea typeface="Adobe Gothic Std B" pitchFamily="34" charset="-128"/>
                <a:cs typeface="Times New Roman" panose="02020603050405020304" pitchFamily="18" charset="0"/>
              </a:rPr>
              <a:t>Service models of cloud computing </a:t>
            </a:r>
          </a:p>
        </p:txBody>
      </p:sp>
      <p:sp>
        <p:nvSpPr>
          <p:cNvPr id="6" name="Rectangle 5"/>
          <p:cNvSpPr/>
          <p:nvPr/>
        </p:nvSpPr>
        <p:spPr>
          <a:xfrm>
            <a:off x="381000" y="1828800"/>
            <a:ext cx="8382000" cy="4286302"/>
          </a:xfrm>
          <a:prstGeom prst="rect">
            <a:avLst/>
          </a:prstGeom>
        </p:spPr>
        <p:txBody>
          <a:bodyPr wrap="square">
            <a:spAutoFit/>
          </a:bodyPr>
          <a:lstStyle/>
          <a:p>
            <a:pPr marL="171450" indent="-171450" algn="just" defTabSz="685800">
              <a:lnSpc>
                <a:spcPct val="90000"/>
              </a:lnSpc>
              <a:spcBef>
                <a:spcPts val="75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Service models are the reference models on which the cloud computing is based. </a:t>
            </a:r>
          </a:p>
          <a:p>
            <a:pPr marL="171450" indent="-171450" algn="just" defTabSz="685800">
              <a:lnSpc>
                <a:spcPct val="90000"/>
              </a:lnSpc>
              <a:spcBef>
                <a:spcPts val="75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There are three main types of service models in cloud computing.</a:t>
            </a:r>
          </a:p>
          <a:p>
            <a:pPr marL="171450" indent="-171450" algn="just" defTabSz="685800">
              <a:lnSpc>
                <a:spcPct val="90000"/>
              </a:lnSpc>
              <a:spcBef>
                <a:spcPts val="75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Each service model provide different levels of control, flexibility, and management.</a:t>
            </a:r>
          </a:p>
          <a:p>
            <a:pPr algn="just"/>
            <a:endParaRPr lang="en-US" sz="2400" b="1" dirty="0">
              <a:latin typeface="Adobe Garamond Pro" pitchFamily="18" charset="0"/>
            </a:endParaRPr>
          </a:p>
          <a:p>
            <a:pPr algn="just"/>
            <a:br>
              <a:rPr lang="en-US" sz="2400" dirty="0"/>
            </a:br>
            <a:br>
              <a:rPr lang="en-US" sz="2400" dirty="0">
                <a:latin typeface="Adobe Garamond Pro" pitchFamily="18" charset="0"/>
              </a:rPr>
            </a:br>
            <a:br>
              <a:rPr lang="en-US" dirty="0"/>
            </a:br>
            <a:endParaRPr lang="en-US" dirty="0"/>
          </a:p>
        </p:txBody>
      </p:sp>
    </p:spTree>
    <p:extLst>
      <p:ext uri="{BB962C8B-B14F-4D97-AF65-F5344CB8AC3E}">
        <p14:creationId xmlns:p14="http://schemas.microsoft.com/office/powerpoint/2010/main" val="4030648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AB3C2-2E98-4388-1D80-9777BD29CA1F}"/>
              </a:ext>
            </a:extLst>
          </p:cNvPr>
          <p:cNvSpPr>
            <a:spLocks noGrp="1"/>
          </p:cNvSpPr>
          <p:nvPr>
            <p:ph type="title"/>
          </p:nvPr>
        </p:nvSpPr>
        <p:spPr>
          <a:xfrm>
            <a:off x="628650" y="838200"/>
            <a:ext cx="7886700" cy="4343400"/>
          </a:xfrm>
        </p:spPr>
        <p:txBody>
          <a:bodyPr>
            <a:normAutofit/>
          </a:bodyPr>
          <a:lstStyle/>
          <a:p>
            <a:r>
              <a:rPr lang="en-US" sz="4000" b="0" i="0" dirty="0">
                <a:solidFill>
                  <a:srgbClr val="000000"/>
                </a:solidFill>
                <a:effectLst/>
                <a:latin typeface="Times New Roman" panose="02020603050405020304" pitchFamily="18" charset="0"/>
                <a:cs typeface="Times New Roman" panose="02020603050405020304" pitchFamily="18" charset="0"/>
              </a:rPr>
              <a:t>The </a:t>
            </a:r>
            <a:r>
              <a:rPr lang="en-US" sz="4000" i="0" dirty="0">
                <a:solidFill>
                  <a:srgbClr val="000000"/>
                </a:solidFill>
                <a:effectLst/>
                <a:latin typeface="Times New Roman" panose="02020603050405020304" pitchFamily="18" charset="0"/>
                <a:cs typeface="Times New Roman" panose="02020603050405020304" pitchFamily="18" charset="0"/>
              </a:rPr>
              <a:t>three cloud </a:t>
            </a:r>
            <a:r>
              <a:rPr lang="en-US" sz="4000" dirty="0">
                <a:solidFill>
                  <a:srgbClr val="000000"/>
                </a:solidFill>
                <a:latin typeface="Times New Roman" panose="02020603050405020304" pitchFamily="18" charset="0"/>
                <a:cs typeface="Times New Roman" panose="02020603050405020304" pitchFamily="18" charset="0"/>
              </a:rPr>
              <a:t>s</a:t>
            </a:r>
            <a:r>
              <a:rPr lang="en-US" sz="4000" i="0" dirty="0">
                <a:solidFill>
                  <a:srgbClr val="000000"/>
                </a:solidFill>
                <a:effectLst/>
                <a:latin typeface="Times New Roman" panose="02020603050405020304" pitchFamily="18" charset="0"/>
                <a:cs typeface="Times New Roman" panose="02020603050405020304" pitchFamily="18" charset="0"/>
              </a:rPr>
              <a:t>ervice </a:t>
            </a:r>
            <a:r>
              <a:rPr lang="en-US" sz="4000" dirty="0">
                <a:solidFill>
                  <a:srgbClr val="000000"/>
                </a:solidFill>
                <a:latin typeface="Times New Roman" panose="02020603050405020304" pitchFamily="18" charset="0"/>
                <a:cs typeface="Times New Roman" panose="02020603050405020304" pitchFamily="18" charset="0"/>
              </a:rPr>
              <a:t>m</a:t>
            </a:r>
            <a:r>
              <a:rPr lang="en-US" sz="4000" i="0" dirty="0">
                <a:solidFill>
                  <a:srgbClr val="000000"/>
                </a:solidFill>
                <a:effectLst/>
                <a:latin typeface="Times New Roman" panose="02020603050405020304" pitchFamily="18" charset="0"/>
                <a:cs typeface="Times New Roman" panose="02020603050405020304" pitchFamily="18" charset="0"/>
              </a:rPr>
              <a:t>odels </a:t>
            </a:r>
            <a:r>
              <a:rPr lang="en-US" sz="4000" b="0" i="0" dirty="0">
                <a:solidFill>
                  <a:srgbClr val="000000"/>
                </a:solidFill>
                <a:effectLst/>
                <a:latin typeface="Times New Roman" panose="02020603050405020304" pitchFamily="18" charset="0"/>
                <a:cs typeface="Times New Roman" panose="02020603050405020304" pitchFamily="18" charset="0"/>
              </a:rPr>
              <a:t>are as follows:</a:t>
            </a:r>
            <a:br>
              <a:rPr lang="en-US" sz="4000" b="0" i="0" dirty="0">
                <a:solidFill>
                  <a:srgbClr val="000000"/>
                </a:solidFill>
                <a:effectLst/>
                <a:latin typeface="Times New Roman" panose="02020603050405020304" pitchFamily="18" charset="0"/>
                <a:cs typeface="Times New Roman" panose="02020603050405020304" pitchFamily="18" charset="0"/>
              </a:rPr>
            </a:br>
            <a:br>
              <a:rPr lang="en-US" b="0" i="0" dirty="0">
                <a:solidFill>
                  <a:srgbClr val="000000"/>
                </a:solidFill>
                <a:effectLst/>
                <a:latin typeface="Noto Sans JP"/>
              </a:rPr>
            </a:br>
            <a:r>
              <a:rPr lang="en-US" b="0" i="0" dirty="0">
                <a:solidFill>
                  <a:srgbClr val="000000"/>
                </a:solidFill>
                <a:effectLst/>
                <a:latin typeface="Times New Roman" panose="02020603050405020304" pitchFamily="18" charset="0"/>
                <a:cs typeface="Times New Roman" panose="02020603050405020304" pitchFamily="18" charset="0"/>
              </a:rPr>
              <a:t>1. </a:t>
            </a:r>
            <a:r>
              <a:rPr lang="en-US" sz="3100" b="0" i="0" dirty="0">
                <a:solidFill>
                  <a:srgbClr val="000000"/>
                </a:solidFill>
                <a:effectLst/>
                <a:latin typeface="Times New Roman" panose="02020603050405020304" pitchFamily="18" charset="0"/>
                <a:cs typeface="Times New Roman" panose="02020603050405020304" pitchFamily="18" charset="0"/>
              </a:rPr>
              <a:t>Infrastructure as a Service (IaaS)</a:t>
            </a:r>
            <a:br>
              <a:rPr lang="en-US" sz="3100" b="0" i="0" dirty="0">
                <a:solidFill>
                  <a:srgbClr val="000000"/>
                </a:solidFill>
                <a:effectLst/>
                <a:latin typeface="Times New Roman" panose="02020603050405020304" pitchFamily="18" charset="0"/>
                <a:cs typeface="Times New Roman" panose="02020603050405020304" pitchFamily="18" charset="0"/>
              </a:rPr>
            </a:br>
            <a:r>
              <a:rPr lang="en-US" sz="3100" b="0" i="0" dirty="0">
                <a:solidFill>
                  <a:srgbClr val="000000"/>
                </a:solidFill>
                <a:effectLst/>
                <a:latin typeface="Times New Roman" panose="02020603050405020304" pitchFamily="18" charset="0"/>
                <a:cs typeface="Times New Roman" panose="02020603050405020304" pitchFamily="18" charset="0"/>
              </a:rPr>
              <a:t>2. Platform as a Service (PaaS)</a:t>
            </a:r>
            <a:br>
              <a:rPr lang="en-US" sz="3100" b="0" i="0" dirty="0">
                <a:solidFill>
                  <a:srgbClr val="000000"/>
                </a:solidFill>
                <a:effectLst/>
                <a:latin typeface="Times New Roman" panose="02020603050405020304" pitchFamily="18" charset="0"/>
                <a:cs typeface="Times New Roman" panose="02020603050405020304" pitchFamily="18" charset="0"/>
              </a:rPr>
            </a:br>
            <a:r>
              <a:rPr lang="en-US" sz="3100" b="0" i="0" dirty="0">
                <a:solidFill>
                  <a:srgbClr val="000000"/>
                </a:solidFill>
                <a:effectLst/>
                <a:latin typeface="Times New Roman" panose="02020603050405020304" pitchFamily="18" charset="0"/>
                <a:cs typeface="Times New Roman" panose="02020603050405020304" pitchFamily="18" charset="0"/>
              </a:rPr>
              <a:t>3. Software as a Service (SaaS)</a:t>
            </a:r>
            <a:br>
              <a:rPr lang="en-US" sz="3100" b="0" i="0" dirty="0">
                <a:solidFill>
                  <a:srgbClr val="000000"/>
                </a:solidFill>
                <a:effectLst/>
                <a:latin typeface="Times New Roman" panose="02020603050405020304" pitchFamily="18" charset="0"/>
                <a:cs typeface="Times New Roman" panose="02020603050405020304" pitchFamily="18" charset="0"/>
              </a:rPr>
            </a:br>
            <a:endParaRPr lang="en-US" sz="3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1840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7 Different Types of Cloud Computing Structures | UniPrint.net">
            <a:extLst>
              <a:ext uri="{FF2B5EF4-FFF2-40B4-BE49-F238E27FC236}">
                <a16:creationId xmlns:a16="http://schemas.microsoft.com/office/drawing/2014/main" id="{C84F0C25-8FD1-B236-29A9-9261B13837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2400"/>
            <a:ext cx="8058150" cy="6530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848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547194-8925-4AA6-8288-0B6112F121A3}"/>
              </a:ext>
            </a:extLst>
          </p:cNvPr>
          <p:cNvSpPr>
            <a:spLocks noGrp="1"/>
          </p:cNvSpPr>
          <p:nvPr>
            <p:ph type="title"/>
          </p:nvPr>
        </p:nvSpPr>
        <p:spPr/>
        <p:txBody>
          <a:bodyPr>
            <a:normAutofit fontScale="90000"/>
          </a:bodyPr>
          <a:lstStyle/>
          <a:p>
            <a:r>
              <a:rPr lang="en-US" sz="4400" i="0" u="sng" dirty="0">
                <a:solidFill>
                  <a:srgbClr val="333333"/>
                </a:solidFill>
                <a:effectLst/>
                <a:latin typeface="Times New Roman" panose="02020603050405020304" pitchFamily="18" charset="0"/>
                <a:cs typeface="Times New Roman" panose="02020603050405020304" pitchFamily="18" charset="0"/>
              </a:rPr>
              <a:t>Infrastructure As A Service (IaaS)</a:t>
            </a:r>
            <a:br>
              <a:rPr lang="en-US" sz="4400" i="0" u="sng" dirty="0">
                <a:solidFill>
                  <a:srgbClr val="333333"/>
                </a:solidFill>
                <a:effectLst/>
                <a:latin typeface="Times New Roman" panose="02020603050405020304" pitchFamily="18" charset="0"/>
                <a:cs typeface="Times New Roman" panose="02020603050405020304" pitchFamily="18" charset="0"/>
              </a:rPr>
            </a:br>
            <a:endParaRPr lang="en-US" sz="4400" u="sng"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51471E7-A8F3-4B4C-B75B-422953AC91A9}"/>
              </a:ext>
            </a:extLst>
          </p:cNvPr>
          <p:cNvSpPr>
            <a:spLocks noGrp="1"/>
          </p:cNvSpPr>
          <p:nvPr>
            <p:ph idx="1"/>
          </p:nvPr>
        </p:nvSpPr>
        <p:spPr/>
        <p:txBody>
          <a:bodyPr>
            <a:normAutofit/>
          </a:bodyPr>
          <a:lstStyle/>
          <a:p>
            <a:pPr algn="just"/>
            <a:r>
              <a:rPr lang="en-US" sz="2400" b="0" i="0" dirty="0">
                <a:solidFill>
                  <a:srgbClr val="000000"/>
                </a:solidFill>
                <a:effectLst/>
                <a:latin typeface="Times New Roman" panose="02020603050405020304" pitchFamily="18" charset="0"/>
                <a:cs typeface="Times New Roman" panose="02020603050405020304" pitchFamily="18" charset="0"/>
              </a:rPr>
              <a:t>It is the</a:t>
            </a:r>
            <a:r>
              <a:rPr lang="en-US" sz="2400" b="1" i="0" dirty="0">
                <a:solidFill>
                  <a:srgbClr val="000000"/>
                </a:solidFill>
                <a:effectLst/>
                <a:latin typeface="Times New Roman" panose="02020603050405020304" pitchFamily="18" charset="0"/>
                <a:cs typeface="Times New Roman" panose="02020603050405020304" pitchFamily="18" charset="0"/>
              </a:rPr>
              <a:t> </a:t>
            </a:r>
            <a:r>
              <a:rPr lang="en-US" sz="2400" i="0" dirty="0">
                <a:solidFill>
                  <a:srgbClr val="000000"/>
                </a:solidFill>
                <a:effectLst/>
                <a:latin typeface="Times New Roman" panose="02020603050405020304" pitchFamily="18" charset="0"/>
                <a:cs typeface="Times New Roman" panose="02020603050405020304" pitchFamily="18" charset="0"/>
              </a:rPr>
              <a:t>most flexible </a:t>
            </a:r>
            <a:r>
              <a:rPr lang="en-US" sz="2400" b="0" i="0" dirty="0">
                <a:solidFill>
                  <a:srgbClr val="000000"/>
                </a:solidFill>
                <a:effectLst/>
                <a:latin typeface="Times New Roman" panose="02020603050405020304" pitchFamily="18" charset="0"/>
                <a:cs typeface="Times New Roman" panose="02020603050405020304" pitchFamily="18" charset="0"/>
              </a:rPr>
              <a:t>type of cloud service which lets you rent the hardware and contains the basic building blocks for cloud </a:t>
            </a:r>
          </a:p>
          <a:p>
            <a:pPr algn="just"/>
            <a:r>
              <a:rPr lang="en-US" sz="2400" dirty="0">
                <a:solidFill>
                  <a:srgbClr val="000000"/>
                </a:solidFill>
                <a:latin typeface="Times New Roman" panose="02020603050405020304" pitchFamily="18" charset="0"/>
                <a:cs typeface="Times New Roman" panose="02020603050405020304" pitchFamily="18" charset="0"/>
              </a:rPr>
              <a:t>It gives complete control over the hardware that runs your application (servers, VMs, storage, networks &amp; operating systems)</a:t>
            </a:r>
          </a:p>
          <a:p>
            <a:pPr algn="just"/>
            <a:r>
              <a:rPr lang="en-US" sz="2400" dirty="0">
                <a:solidFill>
                  <a:srgbClr val="000000"/>
                </a:solidFill>
                <a:latin typeface="Times New Roman" panose="02020603050405020304" pitchFamily="18" charset="0"/>
                <a:cs typeface="Times New Roman" panose="02020603050405020304" pitchFamily="18" charset="0"/>
              </a:rPr>
              <a:t>IaaS gives you the very best level of flexibility and management control over your IT resources.</a:t>
            </a:r>
          </a:p>
          <a:p>
            <a:pPr algn="just"/>
            <a:r>
              <a:rPr lang="en-US" sz="2400" dirty="0">
                <a:solidFill>
                  <a:srgbClr val="000000"/>
                </a:solidFill>
                <a:latin typeface="Times New Roman" panose="02020603050405020304" pitchFamily="18" charset="0"/>
                <a:cs typeface="Times New Roman" panose="02020603050405020304" pitchFamily="18" charset="0"/>
              </a:rPr>
              <a:t>Examples: Amazon Web Services (AWS), Microsoft Azure, IBM Cloud, Rackspace, Digital Ocean, Oracle Cloud.</a:t>
            </a:r>
          </a:p>
        </p:txBody>
      </p:sp>
    </p:spTree>
    <p:extLst>
      <p:ext uri="{BB962C8B-B14F-4D97-AF65-F5344CB8AC3E}">
        <p14:creationId xmlns:p14="http://schemas.microsoft.com/office/powerpoint/2010/main" val="2277574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547194-8925-4AA6-8288-0B6112F121A3}"/>
              </a:ext>
            </a:extLst>
          </p:cNvPr>
          <p:cNvSpPr>
            <a:spLocks noGrp="1"/>
          </p:cNvSpPr>
          <p:nvPr>
            <p:ph type="title"/>
          </p:nvPr>
        </p:nvSpPr>
        <p:spPr/>
        <p:txBody>
          <a:bodyPr>
            <a:normAutofit fontScale="90000"/>
          </a:bodyPr>
          <a:lstStyle/>
          <a:p>
            <a:r>
              <a:rPr lang="en-US" sz="4400" i="0" u="sng" dirty="0">
                <a:solidFill>
                  <a:srgbClr val="333333"/>
                </a:solidFill>
                <a:effectLst/>
                <a:latin typeface="Times New Roman" panose="02020603050405020304" pitchFamily="18" charset="0"/>
                <a:cs typeface="Times New Roman" panose="02020603050405020304" pitchFamily="18" charset="0"/>
              </a:rPr>
              <a:t>Platform As A Service (PaaS)</a:t>
            </a:r>
            <a:br>
              <a:rPr lang="en-US" sz="4400" i="0" u="sng" dirty="0">
                <a:solidFill>
                  <a:srgbClr val="333333"/>
                </a:solidFill>
                <a:effectLst/>
                <a:latin typeface="Times New Roman" panose="02020603050405020304" pitchFamily="18" charset="0"/>
                <a:cs typeface="Times New Roman" panose="02020603050405020304" pitchFamily="18" charset="0"/>
              </a:rPr>
            </a:br>
            <a:endParaRPr lang="en-US" sz="4400" u="sng"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51471E7-A8F3-4B4C-B75B-422953AC91A9}"/>
              </a:ext>
            </a:extLst>
          </p:cNvPr>
          <p:cNvSpPr>
            <a:spLocks noGrp="1"/>
          </p:cNvSpPr>
          <p:nvPr>
            <p:ph idx="1"/>
          </p:nvPr>
        </p:nvSpPr>
        <p:spPr/>
        <p:txBody>
          <a:bodyPr>
            <a:normAutofit/>
          </a:bodyPr>
          <a:lstStyle/>
          <a:p>
            <a:pPr algn="just"/>
            <a:r>
              <a:rPr lang="en-US" sz="2400" dirty="0">
                <a:solidFill>
                  <a:srgbClr val="000000"/>
                </a:solidFill>
                <a:latin typeface="Times New Roman" panose="02020603050405020304" pitchFamily="18" charset="0"/>
                <a:cs typeface="Times New Roman" panose="02020603050405020304" pitchFamily="18" charset="0"/>
              </a:rPr>
              <a:t>PaaS is a cloud service model that gives a ready-to-use development environment where developers can specialize in writing and executing high-quality code to make customized applications.</a:t>
            </a:r>
          </a:p>
          <a:p>
            <a:pPr algn="l">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It offers a scalable, secure, and on-demand platform to create, administer, and maintain databases.</a:t>
            </a:r>
          </a:p>
          <a:p>
            <a:pPr algn="just"/>
            <a:r>
              <a:rPr lang="en-US" sz="2400" dirty="0">
                <a:solidFill>
                  <a:srgbClr val="000000"/>
                </a:solidFill>
                <a:latin typeface="Times New Roman" panose="02020603050405020304" pitchFamily="18" charset="0"/>
                <a:cs typeface="Times New Roman" panose="02020603050405020304" pitchFamily="18" charset="0"/>
              </a:rPr>
              <a:t>IT department won’t need to spend time on manual deployments or server management.</a:t>
            </a:r>
          </a:p>
          <a:p>
            <a:pPr algn="just"/>
            <a:r>
              <a:rPr lang="en-US" sz="2400" dirty="0">
                <a:solidFill>
                  <a:srgbClr val="000000"/>
                </a:solidFill>
                <a:latin typeface="Times New Roman" panose="02020603050405020304" pitchFamily="18" charset="0"/>
                <a:cs typeface="Times New Roman" panose="02020603050405020304" pitchFamily="18" charset="0"/>
              </a:rPr>
              <a:t>Examples:</a:t>
            </a:r>
            <a:r>
              <a:rPr lang="en-US" sz="2000" b="0" i="0" dirty="0">
                <a:solidFill>
                  <a:srgbClr val="333333"/>
                </a:solidFill>
                <a:effectLst/>
                <a:latin typeface="GraphikRegular"/>
              </a:rPr>
              <a:t> </a:t>
            </a:r>
            <a:r>
              <a:rPr lang="en-US" sz="2400" dirty="0">
                <a:solidFill>
                  <a:srgbClr val="000000"/>
                </a:solidFill>
                <a:latin typeface="Times New Roman" panose="02020603050405020304" pitchFamily="18" charset="0"/>
                <a:cs typeface="Times New Roman" panose="02020603050405020304" pitchFamily="18" charset="0"/>
              </a:rPr>
              <a:t>Windows Azure, SalesForce.com, Google App Engine, OpenShift, SAP Cloud, AWS Lambda, Azure Functions.</a:t>
            </a:r>
          </a:p>
        </p:txBody>
      </p:sp>
    </p:spTree>
    <p:extLst>
      <p:ext uri="{BB962C8B-B14F-4D97-AF65-F5344CB8AC3E}">
        <p14:creationId xmlns:p14="http://schemas.microsoft.com/office/powerpoint/2010/main" val="2519993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547194-8925-4AA6-8288-0B6112F121A3}"/>
              </a:ext>
            </a:extLst>
          </p:cNvPr>
          <p:cNvSpPr>
            <a:spLocks noGrp="1"/>
          </p:cNvSpPr>
          <p:nvPr>
            <p:ph type="title"/>
          </p:nvPr>
        </p:nvSpPr>
        <p:spPr/>
        <p:txBody>
          <a:bodyPr>
            <a:normAutofit fontScale="90000"/>
          </a:bodyPr>
          <a:lstStyle/>
          <a:p>
            <a:r>
              <a:rPr lang="en-US" sz="4400" u="sng" dirty="0">
                <a:solidFill>
                  <a:srgbClr val="333333"/>
                </a:solidFill>
                <a:latin typeface="Times New Roman" panose="02020603050405020304" pitchFamily="18" charset="0"/>
                <a:cs typeface="Times New Roman" panose="02020603050405020304" pitchFamily="18" charset="0"/>
              </a:rPr>
              <a:t>Software</a:t>
            </a:r>
            <a:r>
              <a:rPr lang="en-US" sz="4400" i="0" u="sng" dirty="0">
                <a:solidFill>
                  <a:srgbClr val="333333"/>
                </a:solidFill>
                <a:effectLst/>
                <a:latin typeface="Times New Roman" panose="02020603050405020304" pitchFamily="18" charset="0"/>
                <a:cs typeface="Times New Roman" panose="02020603050405020304" pitchFamily="18" charset="0"/>
              </a:rPr>
              <a:t> As A Service (SaaS)</a:t>
            </a:r>
            <a:br>
              <a:rPr lang="en-US" sz="4400" i="0" u="sng" dirty="0">
                <a:solidFill>
                  <a:srgbClr val="333333"/>
                </a:solidFill>
                <a:effectLst/>
                <a:latin typeface="Times New Roman" panose="02020603050405020304" pitchFamily="18" charset="0"/>
                <a:cs typeface="Times New Roman" panose="02020603050405020304" pitchFamily="18" charset="0"/>
              </a:rPr>
            </a:br>
            <a:endParaRPr lang="en-US" sz="4400" u="sng"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51471E7-A8F3-4B4C-B75B-422953AC91A9}"/>
              </a:ext>
            </a:extLst>
          </p:cNvPr>
          <p:cNvSpPr>
            <a:spLocks noGrp="1"/>
          </p:cNvSpPr>
          <p:nvPr>
            <p:ph idx="1"/>
          </p:nvPr>
        </p:nvSpPr>
        <p:spPr/>
        <p:txBody>
          <a:bodyPr>
            <a:normAutofit/>
          </a:bodyPr>
          <a:lstStyle/>
          <a:p>
            <a:pPr algn="l">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SaaS provides you with a complete product that is run and managed by the service provider.</a:t>
            </a:r>
          </a:p>
          <a:p>
            <a:pPr algn="just"/>
            <a:r>
              <a:rPr lang="en-US" sz="2400" dirty="0">
                <a:solidFill>
                  <a:srgbClr val="000000"/>
                </a:solidFill>
                <a:latin typeface="Times New Roman" panose="02020603050405020304" pitchFamily="18" charset="0"/>
                <a:cs typeface="Times New Roman" panose="02020603050405020304" pitchFamily="18" charset="0"/>
              </a:rPr>
              <a:t>The software is hosted online and made available to customers on a subscription basis or for purchase in this cloud service model.</a:t>
            </a:r>
          </a:p>
          <a:p>
            <a:pPr algn="just"/>
            <a:r>
              <a:rPr lang="en-US" sz="2400" dirty="0">
                <a:solidFill>
                  <a:srgbClr val="000000"/>
                </a:solidFill>
                <a:latin typeface="Times New Roman" panose="02020603050405020304" pitchFamily="18" charset="0"/>
                <a:cs typeface="Times New Roman" panose="02020603050405020304" pitchFamily="18" charset="0"/>
              </a:rPr>
              <a:t>One of the biggest benefits of SaaS is that it lowers your total cost of ownership (TCO) by eliminating hardware expenses and maintenance costs.</a:t>
            </a:r>
          </a:p>
          <a:p>
            <a:pPr algn="just"/>
            <a:r>
              <a:rPr lang="en-US" sz="2400" dirty="0">
                <a:solidFill>
                  <a:srgbClr val="000000"/>
                </a:solidFill>
                <a:latin typeface="Times New Roman" panose="02020603050405020304" pitchFamily="18" charset="0"/>
                <a:cs typeface="Times New Roman" panose="02020603050405020304" pitchFamily="18" charset="0"/>
              </a:rPr>
              <a:t>Examples:</a:t>
            </a:r>
            <a:r>
              <a:rPr lang="en-US" sz="2000" b="0" i="0" dirty="0">
                <a:solidFill>
                  <a:srgbClr val="333333"/>
                </a:solidFill>
                <a:effectLst/>
                <a:latin typeface="GraphikRegular"/>
              </a:rPr>
              <a:t> </a:t>
            </a:r>
            <a:r>
              <a:rPr lang="en-US" sz="2400" dirty="0">
                <a:solidFill>
                  <a:srgbClr val="000000"/>
                </a:solidFill>
                <a:latin typeface="Times New Roman" panose="02020603050405020304" pitchFamily="18" charset="0"/>
                <a:cs typeface="Times New Roman" panose="02020603050405020304" pitchFamily="18" charset="0"/>
              </a:rPr>
              <a:t>Microsoft Office 365, YouTube,  Gmail, Dropbox</a:t>
            </a:r>
          </a:p>
        </p:txBody>
      </p:sp>
    </p:spTree>
    <p:extLst>
      <p:ext uri="{BB962C8B-B14F-4D97-AF65-F5344CB8AC3E}">
        <p14:creationId xmlns:p14="http://schemas.microsoft.com/office/powerpoint/2010/main" val="3235439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49191D-F99F-93FF-35B9-6FCAFC67D5C1}"/>
              </a:ext>
            </a:extLst>
          </p:cNvPr>
          <p:cNvPicPr>
            <a:picLocks noChangeAspect="1"/>
          </p:cNvPicPr>
          <p:nvPr/>
        </p:nvPicPr>
        <p:blipFill>
          <a:blip r:embed="rId2">
            <a:extLst>
              <a:ext uri="{28A0092B-C50C-407E-A947-70E740481C1C}">
                <a14:useLocalDpi xmlns:a14="http://schemas.microsoft.com/office/drawing/2010/main" val="0"/>
              </a:ext>
            </a:extLst>
          </a:blip>
          <a:srcRect l="-1852"/>
          <a:stretch>
            <a:fillRect/>
          </a:stretch>
        </p:blipFill>
        <p:spPr>
          <a:xfrm>
            <a:off x="104172" y="149902"/>
            <a:ext cx="8277828" cy="6275971"/>
          </a:xfrm>
          <a:prstGeom prst="rect">
            <a:avLst/>
          </a:prstGeom>
        </p:spPr>
      </p:pic>
    </p:spTree>
    <p:extLst>
      <p:ext uri="{BB962C8B-B14F-4D97-AF65-F5344CB8AC3E}">
        <p14:creationId xmlns:p14="http://schemas.microsoft.com/office/powerpoint/2010/main" val="1268334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2BC13-BF93-4192-8873-EB32FC690935}"/>
              </a:ext>
            </a:extLst>
          </p:cNvPr>
          <p:cNvSpPr>
            <a:spLocks noGrp="1"/>
          </p:cNvSpPr>
          <p:nvPr>
            <p:ph type="title"/>
          </p:nvPr>
        </p:nvSpPr>
        <p:spPr/>
        <p:txBody>
          <a:bodyPr>
            <a:normAutofit/>
          </a:bodyPr>
          <a:lstStyle/>
          <a:p>
            <a:r>
              <a:rPr lang="en-US" sz="4400" u="sng" dirty="0">
                <a:latin typeface="Times New Roman" panose="02020603050405020304" pitchFamily="18" charset="0"/>
                <a:cs typeface="Times New Roman" panose="02020603050405020304" pitchFamily="18" charset="0"/>
              </a:rPr>
              <a:t>Applications of cloud computing</a:t>
            </a:r>
          </a:p>
        </p:txBody>
      </p:sp>
      <p:sp>
        <p:nvSpPr>
          <p:cNvPr id="3" name="Content Placeholder 2">
            <a:extLst>
              <a:ext uri="{FF2B5EF4-FFF2-40B4-BE49-F238E27FC236}">
                <a16:creationId xmlns:a16="http://schemas.microsoft.com/office/drawing/2014/main" id="{472630E2-F1DE-469E-B77B-AC0B93E13062}"/>
              </a:ext>
            </a:extLst>
          </p:cNvPr>
          <p:cNvSpPr>
            <a:spLocks noGrp="1"/>
          </p:cNvSpPr>
          <p:nvPr>
            <p:ph idx="1"/>
          </p:nvPr>
        </p:nvSpPr>
        <p:spPr/>
        <p:txBody>
          <a:bodyPr/>
          <a:lstStyle/>
          <a:p>
            <a:pPr algn="just"/>
            <a:r>
              <a:rPr lang="en-US" sz="2800" dirty="0">
                <a:latin typeface="Times New Roman" panose="02020603050405020304" pitchFamily="18" charset="0"/>
                <a:cs typeface="Times New Roman" panose="02020603050405020304" pitchFamily="18" charset="0"/>
              </a:rPr>
              <a:t>Online Data Storage</a:t>
            </a:r>
          </a:p>
          <a:p>
            <a:pPr algn="just"/>
            <a:r>
              <a:rPr lang="en-US" sz="2800" dirty="0">
                <a:latin typeface="Times New Roman" panose="02020603050405020304" pitchFamily="18" charset="0"/>
                <a:cs typeface="Times New Roman" panose="02020603050405020304" pitchFamily="18" charset="0"/>
              </a:rPr>
              <a:t>Backup and Recovery</a:t>
            </a:r>
          </a:p>
          <a:p>
            <a:pPr algn="just"/>
            <a:r>
              <a:rPr lang="en-US" sz="2800" dirty="0">
                <a:latin typeface="Times New Roman" panose="02020603050405020304" pitchFamily="18" charset="0"/>
                <a:cs typeface="Times New Roman" panose="02020603050405020304" pitchFamily="18" charset="0"/>
              </a:rPr>
              <a:t>Big Data Analysis</a:t>
            </a:r>
          </a:p>
          <a:p>
            <a:pPr algn="just"/>
            <a:r>
              <a:rPr lang="en-US" sz="2800" dirty="0">
                <a:latin typeface="Times New Roman" panose="02020603050405020304" pitchFamily="18" charset="0"/>
                <a:cs typeface="Times New Roman" panose="02020603050405020304" pitchFamily="18" charset="0"/>
              </a:rPr>
              <a:t>Testing and Development</a:t>
            </a:r>
          </a:p>
          <a:p>
            <a:pPr algn="just"/>
            <a:r>
              <a:rPr lang="en-US" sz="2800" dirty="0">
                <a:latin typeface="Times New Roman" panose="02020603050405020304" pitchFamily="18" charset="0"/>
                <a:cs typeface="Times New Roman" panose="02020603050405020304" pitchFamily="18" charset="0"/>
              </a:rPr>
              <a:t>Antivirus Applications</a:t>
            </a:r>
          </a:p>
          <a:p>
            <a:pPr algn="just"/>
            <a:r>
              <a:rPr lang="en-US" sz="2800" dirty="0">
                <a:latin typeface="Times New Roman" panose="02020603050405020304" pitchFamily="18" charset="0"/>
                <a:cs typeface="Times New Roman" panose="02020603050405020304" pitchFamily="18" charset="0"/>
              </a:rPr>
              <a:t>E-commerce Application</a:t>
            </a:r>
          </a:p>
          <a:p>
            <a:pPr algn="just"/>
            <a:r>
              <a:rPr lang="en-US" sz="2800" dirty="0">
                <a:latin typeface="Times New Roman" panose="02020603050405020304" pitchFamily="18" charset="0"/>
                <a:cs typeface="Times New Roman" panose="02020603050405020304" pitchFamily="18" charset="0"/>
              </a:rPr>
              <a:t>Cloud Computing in Education  </a:t>
            </a:r>
          </a:p>
          <a:p>
            <a:endParaRPr lang="en-US" dirty="0"/>
          </a:p>
        </p:txBody>
      </p:sp>
    </p:spTree>
    <p:extLst>
      <p:ext uri="{BB962C8B-B14F-4D97-AF65-F5344CB8AC3E}">
        <p14:creationId xmlns:p14="http://schemas.microsoft.com/office/powerpoint/2010/main" val="1308854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2BC13-BF93-4192-8873-EB32FC690935}"/>
              </a:ext>
            </a:extLst>
          </p:cNvPr>
          <p:cNvSpPr>
            <a:spLocks noGrp="1"/>
          </p:cNvSpPr>
          <p:nvPr>
            <p:ph type="title"/>
          </p:nvPr>
        </p:nvSpPr>
        <p:spPr/>
        <p:txBody>
          <a:bodyPr>
            <a:normAutofit/>
          </a:bodyPr>
          <a:lstStyle/>
          <a:p>
            <a:r>
              <a:rPr lang="en-US" sz="4400" u="sng" dirty="0">
                <a:latin typeface="Times New Roman" panose="02020603050405020304" pitchFamily="18" charset="0"/>
                <a:cs typeface="Times New Roman" panose="02020603050405020304" pitchFamily="18" charset="0"/>
              </a:rPr>
              <a:t>Challenges in cloud computing</a:t>
            </a:r>
          </a:p>
        </p:txBody>
      </p:sp>
      <p:sp>
        <p:nvSpPr>
          <p:cNvPr id="3" name="Content Placeholder 2">
            <a:extLst>
              <a:ext uri="{FF2B5EF4-FFF2-40B4-BE49-F238E27FC236}">
                <a16:creationId xmlns:a16="http://schemas.microsoft.com/office/drawing/2014/main" id="{472630E2-F1DE-469E-B77B-AC0B93E13062}"/>
              </a:ext>
            </a:extLst>
          </p:cNvPr>
          <p:cNvSpPr>
            <a:spLocks noGrp="1"/>
          </p:cNvSpPr>
          <p:nvPr>
            <p:ph idx="1"/>
          </p:nvPr>
        </p:nvSpPr>
        <p:spPr/>
        <p:txBody>
          <a:bodyPr/>
          <a:lstStyle/>
          <a:p>
            <a:pPr algn="just" fontAlgn="base"/>
            <a:r>
              <a:rPr lang="en-US" sz="2800" dirty="0">
                <a:latin typeface="Times New Roman" panose="02020603050405020304" pitchFamily="18" charset="0"/>
                <a:cs typeface="Times New Roman" panose="02020603050405020304" pitchFamily="18" charset="0"/>
              </a:rPr>
              <a:t>Data Security and Privacy</a:t>
            </a:r>
          </a:p>
          <a:p>
            <a:pPr algn="just"/>
            <a:r>
              <a:rPr lang="en-US" sz="2800" dirty="0">
                <a:latin typeface="Times New Roman" panose="02020603050405020304" pitchFamily="18" charset="0"/>
                <a:cs typeface="Times New Roman" panose="02020603050405020304" pitchFamily="18" charset="0"/>
              </a:rPr>
              <a:t>Efficient load balancing</a:t>
            </a:r>
          </a:p>
          <a:p>
            <a:pPr algn="just" fontAlgn="base"/>
            <a:r>
              <a:rPr lang="en-US" sz="2800" dirty="0">
                <a:latin typeface="Times New Roman" panose="02020603050405020304" pitchFamily="18" charset="0"/>
                <a:cs typeface="Times New Roman" panose="02020603050405020304" pitchFamily="18" charset="0"/>
              </a:rPr>
              <a:t>Under optimization of the resources</a:t>
            </a:r>
          </a:p>
          <a:p>
            <a:pPr algn="just" fontAlgn="base"/>
            <a:r>
              <a:rPr lang="en-US" sz="2800" dirty="0">
                <a:latin typeface="Times New Roman" panose="02020603050405020304" pitchFamily="18" charset="0"/>
                <a:cs typeface="Times New Roman" panose="02020603050405020304" pitchFamily="18" charset="0"/>
              </a:rPr>
              <a:t>Interoperability and flexibility</a:t>
            </a:r>
          </a:p>
          <a:p>
            <a:pPr algn="just" fontAlgn="base"/>
            <a:r>
              <a:rPr lang="en-US" sz="2800" dirty="0">
                <a:latin typeface="Times New Roman" panose="02020603050405020304" pitchFamily="18" charset="0"/>
                <a:cs typeface="Times New Roman" panose="02020603050405020304" pitchFamily="18" charset="0"/>
              </a:rPr>
              <a:t>Lack of knowledge and expertise</a:t>
            </a:r>
          </a:p>
          <a:p>
            <a:pPr algn="just"/>
            <a:r>
              <a:rPr lang="en-US" sz="2800" dirty="0">
                <a:latin typeface="Times New Roman" panose="02020603050405020304" pitchFamily="18" charset="0"/>
                <a:cs typeface="Times New Roman" panose="02020603050405020304" pitchFamily="18" charset="0"/>
              </a:rPr>
              <a:t>Requires a fast speed internet connection.</a:t>
            </a:r>
          </a:p>
          <a:p>
            <a:pPr algn="just"/>
            <a:r>
              <a:rPr lang="en-US" sz="2800" dirty="0">
                <a:latin typeface="Times New Roman" panose="02020603050405020304" pitchFamily="18" charset="0"/>
                <a:cs typeface="Times New Roman" panose="02020603050405020304" pitchFamily="18" charset="0"/>
              </a:rPr>
              <a:t>High energy requirement</a:t>
            </a:r>
          </a:p>
          <a:p>
            <a:endParaRPr lang="en-US" dirty="0"/>
          </a:p>
        </p:txBody>
      </p:sp>
    </p:spTree>
    <p:extLst>
      <p:ext uri="{BB962C8B-B14F-4D97-AF65-F5344CB8AC3E}">
        <p14:creationId xmlns:p14="http://schemas.microsoft.com/office/powerpoint/2010/main" val="1832876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609600"/>
            <a:ext cx="8229600" cy="1143000"/>
          </a:xfrm>
        </p:spPr>
        <p:txBody>
          <a:bodyPr>
            <a:normAutofit/>
          </a:bodyPr>
          <a:lstStyle/>
          <a:p>
            <a:r>
              <a:rPr lang="en-US" sz="4400" u="sng" dirty="0">
                <a:latin typeface="Times New Roman" panose="02020603050405020304" pitchFamily="18" charset="0"/>
                <a:ea typeface="Adobe Gothic Std B" pitchFamily="34" charset="-128"/>
                <a:cs typeface="Times New Roman" panose="02020603050405020304" pitchFamily="18" charset="0"/>
              </a:rPr>
              <a:t>Cloud computing architecture</a:t>
            </a:r>
          </a:p>
        </p:txBody>
      </p:sp>
      <p:sp>
        <p:nvSpPr>
          <p:cNvPr id="7" name="TextBox 6"/>
          <p:cNvSpPr txBox="1"/>
          <p:nvPr/>
        </p:nvSpPr>
        <p:spPr>
          <a:xfrm>
            <a:off x="1447800" y="609600"/>
            <a:ext cx="8991600" cy="523220"/>
          </a:xfrm>
          <a:prstGeom prst="rect">
            <a:avLst/>
          </a:prstGeom>
          <a:noFill/>
        </p:spPr>
        <p:txBody>
          <a:bodyPr wrap="square" rtlCol="0">
            <a:spAutoFit/>
          </a:bodyPr>
          <a:lstStyle/>
          <a:p>
            <a:pPr>
              <a:buFont typeface="Arial" pitchFamily="34" charset="0"/>
              <a:buChar char="•"/>
            </a:pPr>
            <a:endParaRPr lang="en-US" sz="2800" dirty="0">
              <a:solidFill>
                <a:schemeClr val="accent4">
                  <a:lumMod val="20000"/>
                  <a:lumOff val="80000"/>
                </a:schemeClr>
              </a:solidFill>
              <a:effectLst>
                <a:outerShdw blurRad="38100" dist="38100" dir="2700000" algn="tl">
                  <a:srgbClr val="000000">
                    <a:alpha val="43137"/>
                  </a:srgbClr>
                </a:outerShdw>
              </a:effectLst>
              <a:latin typeface="Aharoni" pitchFamily="2" charset="-79"/>
              <a:cs typeface="Aharoni" pitchFamily="2" charset="-79"/>
            </a:endParaRPr>
          </a:p>
        </p:txBody>
      </p:sp>
      <p:sp>
        <p:nvSpPr>
          <p:cNvPr id="10" name="Rectangle 9"/>
          <p:cNvSpPr/>
          <p:nvPr/>
        </p:nvSpPr>
        <p:spPr>
          <a:xfrm>
            <a:off x="381000" y="1828800"/>
            <a:ext cx="7924800" cy="5410712"/>
          </a:xfrm>
          <a:prstGeom prst="rect">
            <a:avLst/>
          </a:prstGeom>
        </p:spPr>
        <p:txBody>
          <a:bodyPr wrap="square">
            <a:spAutoFit/>
          </a:bodyPr>
          <a:lstStyle/>
          <a:p>
            <a:pPr marL="171450" indent="-171450" defTabSz="685800">
              <a:lnSpc>
                <a:spcPct val="90000"/>
              </a:lnSpc>
              <a:spcBef>
                <a:spcPts val="75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Cloud computing technology is used by both small and large organizations to store the information in cloud and access it from anywhere at anytime using the internet connection</a:t>
            </a:r>
          </a:p>
          <a:p>
            <a:pPr marL="171450" indent="-171450" defTabSz="685800">
              <a:lnSpc>
                <a:spcPct val="90000"/>
              </a:lnSpc>
              <a:spcBef>
                <a:spcPts val="75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Cloud computing architecture is divided into the following two parts </a:t>
            </a:r>
          </a:p>
          <a:p>
            <a:pPr marL="171450" indent="-171450" defTabSz="685800">
              <a:lnSpc>
                <a:spcPct val="90000"/>
              </a:lnSpc>
              <a:spcBef>
                <a:spcPts val="75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Front End</a:t>
            </a:r>
          </a:p>
          <a:p>
            <a:pPr marL="171450" indent="-171450" defTabSz="685800">
              <a:lnSpc>
                <a:spcPct val="90000"/>
              </a:lnSpc>
              <a:spcBef>
                <a:spcPts val="75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Back End</a:t>
            </a:r>
          </a:p>
          <a:p>
            <a:pPr>
              <a:buFont typeface="Arial" pitchFamily="34" charset="0"/>
              <a:buChar char="•"/>
            </a:pPr>
            <a:endParaRPr lang="en-US" sz="2800" dirty="0">
              <a:latin typeface="Times New Roman" panose="02020603050405020304" pitchFamily="18" charset="0"/>
              <a:cs typeface="Times New Roman" panose="02020603050405020304" pitchFamily="18" charset="0"/>
            </a:endParaRPr>
          </a:p>
          <a:p>
            <a:pPr algn="just"/>
            <a:r>
              <a:rPr lang="en-US" sz="2400" dirty="0">
                <a:latin typeface="Adobe Garamond Pro" pitchFamily="18" charset="0"/>
              </a:rPr>
              <a:t>             </a:t>
            </a:r>
            <a:br>
              <a:rPr lang="en-US" dirty="0"/>
            </a:br>
            <a:br>
              <a:rPr lang="en-US" dirty="0"/>
            </a:br>
            <a:r>
              <a:rPr lang="en-US" dirty="0"/>
              <a:t> </a:t>
            </a:r>
            <a:br>
              <a:rPr lang="en-US" dirty="0"/>
            </a:br>
            <a:br>
              <a:rPr lang="en-US" dirty="0"/>
            </a:br>
            <a:endParaRPr lang="en-US" dirty="0"/>
          </a:p>
        </p:txBody>
      </p:sp>
    </p:spTree>
    <p:extLst>
      <p:ext uri="{BB962C8B-B14F-4D97-AF65-F5344CB8AC3E}">
        <p14:creationId xmlns:p14="http://schemas.microsoft.com/office/powerpoint/2010/main" val="3044291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16BF46-63BD-8E3B-E934-B16A0366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273844"/>
            <a:ext cx="8153400" cy="6369844"/>
          </a:xfrm>
          <a:prstGeom prst="rect">
            <a:avLst/>
          </a:prstGeom>
        </p:spPr>
      </p:pic>
    </p:spTree>
    <p:extLst>
      <p:ext uri="{BB962C8B-B14F-4D97-AF65-F5344CB8AC3E}">
        <p14:creationId xmlns:p14="http://schemas.microsoft.com/office/powerpoint/2010/main" val="678090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609600"/>
            <a:ext cx="8229600" cy="1143000"/>
          </a:xfrm>
        </p:spPr>
        <p:txBody>
          <a:bodyPr>
            <a:normAutofit/>
          </a:bodyPr>
          <a:lstStyle/>
          <a:p>
            <a:r>
              <a:rPr lang="en-US" sz="4400" u="sng" dirty="0">
                <a:latin typeface="Times New Roman" panose="02020603050405020304" pitchFamily="18" charset="0"/>
                <a:ea typeface="Adobe Gothic Std B" pitchFamily="34" charset="-128"/>
                <a:cs typeface="Times New Roman" panose="02020603050405020304" pitchFamily="18" charset="0"/>
              </a:rPr>
              <a:t>Front End</a:t>
            </a:r>
          </a:p>
        </p:txBody>
      </p:sp>
      <p:sp>
        <p:nvSpPr>
          <p:cNvPr id="7" name="TextBox 6"/>
          <p:cNvSpPr txBox="1"/>
          <p:nvPr/>
        </p:nvSpPr>
        <p:spPr>
          <a:xfrm>
            <a:off x="1447800" y="609600"/>
            <a:ext cx="8991600" cy="523220"/>
          </a:xfrm>
          <a:prstGeom prst="rect">
            <a:avLst/>
          </a:prstGeom>
          <a:noFill/>
        </p:spPr>
        <p:txBody>
          <a:bodyPr wrap="square" rtlCol="0">
            <a:spAutoFit/>
          </a:bodyPr>
          <a:lstStyle/>
          <a:p>
            <a:pPr>
              <a:buFont typeface="Arial" pitchFamily="34" charset="0"/>
              <a:buChar char="•"/>
            </a:pPr>
            <a:endParaRPr lang="en-US" sz="2800" dirty="0">
              <a:solidFill>
                <a:schemeClr val="accent4">
                  <a:lumMod val="20000"/>
                  <a:lumOff val="80000"/>
                </a:schemeClr>
              </a:solidFill>
              <a:effectLst>
                <a:outerShdw blurRad="38100" dist="38100" dir="2700000" algn="tl">
                  <a:srgbClr val="000000">
                    <a:alpha val="43137"/>
                  </a:srgbClr>
                </a:outerShdw>
              </a:effectLst>
              <a:latin typeface="Aharoni" pitchFamily="2" charset="-79"/>
              <a:cs typeface="Aharoni" pitchFamily="2" charset="-79"/>
            </a:endParaRPr>
          </a:p>
        </p:txBody>
      </p:sp>
      <p:sp>
        <p:nvSpPr>
          <p:cNvPr id="10" name="Rectangle 9"/>
          <p:cNvSpPr/>
          <p:nvPr/>
        </p:nvSpPr>
        <p:spPr>
          <a:xfrm>
            <a:off x="381000" y="1828800"/>
            <a:ext cx="7924800" cy="3999043"/>
          </a:xfrm>
          <a:prstGeom prst="rect">
            <a:avLst/>
          </a:prstGeom>
        </p:spPr>
        <p:txBody>
          <a:bodyPr wrap="square">
            <a:spAutoFit/>
          </a:bodyPr>
          <a:lstStyle/>
          <a:p>
            <a:pPr marL="171450" indent="-171450" algn="just" defTabSz="685800" fontAlgn="base">
              <a:lnSpc>
                <a:spcPct val="90000"/>
              </a:lnSpc>
              <a:spcBef>
                <a:spcPts val="750"/>
              </a:spcBef>
              <a:buFont typeface="Arial" panose="020B0604020202020204" pitchFamily="34" charset="0"/>
              <a:buChar char="•"/>
            </a:pPr>
            <a:r>
              <a:rPr lang="en-US" sz="2400" dirty="0">
                <a:effectLst>
                  <a:outerShdw blurRad="38100" dist="38100" dir="2700000" algn="tl">
                    <a:srgbClr val="000000">
                      <a:alpha val="43137"/>
                    </a:srgbClr>
                  </a:outerShdw>
                </a:effectLst>
                <a:latin typeface="Adobe Garamond Pro" pitchFamily="18" charset="0"/>
              </a:rPr>
              <a:t> </a:t>
            </a:r>
            <a:r>
              <a:rPr lang="en-US" sz="2800" dirty="0">
                <a:latin typeface="Times New Roman" panose="02020603050405020304" pitchFamily="18" charset="0"/>
                <a:cs typeface="Times New Roman" panose="02020603050405020304" pitchFamily="18" charset="0"/>
              </a:rPr>
              <a:t>The front end is used by the client. It contains client-side interfaces and applications that are required to access the cloud computing platforms</a:t>
            </a:r>
          </a:p>
          <a:p>
            <a:pPr marL="171450" indent="-171450" algn="just" defTabSz="685800" fontAlgn="base">
              <a:lnSpc>
                <a:spcPct val="90000"/>
              </a:lnSpc>
              <a:spcBef>
                <a:spcPts val="75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The front end includes web servers (including Chrome, Firefox, internet explorer, etc.), tablets, and mobile devices.</a:t>
            </a:r>
          </a:p>
          <a:p>
            <a:pPr algn="just"/>
            <a:r>
              <a:rPr lang="en-US" sz="2400" dirty="0">
                <a:latin typeface="Adobe Garamond Pro" pitchFamily="18" charset="0"/>
              </a:rPr>
              <a:t>             </a:t>
            </a:r>
            <a:br>
              <a:rPr lang="en-US" dirty="0"/>
            </a:br>
            <a:br>
              <a:rPr lang="en-US" dirty="0"/>
            </a:br>
            <a:r>
              <a:rPr lang="en-US" dirty="0"/>
              <a:t> </a:t>
            </a:r>
            <a:br>
              <a:rPr lang="en-US" dirty="0"/>
            </a:br>
            <a:br>
              <a:rPr lang="en-US" dirty="0"/>
            </a:br>
            <a:endParaRPr lang="en-US" dirty="0"/>
          </a:p>
        </p:txBody>
      </p:sp>
    </p:spTree>
    <p:extLst>
      <p:ext uri="{BB962C8B-B14F-4D97-AF65-F5344CB8AC3E}">
        <p14:creationId xmlns:p14="http://schemas.microsoft.com/office/powerpoint/2010/main" val="2446013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609600"/>
            <a:ext cx="8229600" cy="1143000"/>
          </a:xfrm>
        </p:spPr>
        <p:txBody>
          <a:bodyPr>
            <a:normAutofit/>
          </a:bodyPr>
          <a:lstStyle/>
          <a:p>
            <a:r>
              <a:rPr lang="en-US" sz="4400" u="sng" dirty="0">
                <a:latin typeface="Times New Roman" panose="02020603050405020304" pitchFamily="18" charset="0"/>
                <a:ea typeface="Adobe Gothic Std B" pitchFamily="34" charset="-128"/>
                <a:cs typeface="Times New Roman" panose="02020603050405020304" pitchFamily="18" charset="0"/>
              </a:rPr>
              <a:t>Back End</a:t>
            </a:r>
          </a:p>
        </p:txBody>
      </p:sp>
      <p:sp>
        <p:nvSpPr>
          <p:cNvPr id="7" name="TextBox 6"/>
          <p:cNvSpPr txBox="1"/>
          <p:nvPr/>
        </p:nvSpPr>
        <p:spPr>
          <a:xfrm>
            <a:off x="1447800" y="609600"/>
            <a:ext cx="8991600" cy="523220"/>
          </a:xfrm>
          <a:prstGeom prst="rect">
            <a:avLst/>
          </a:prstGeom>
          <a:noFill/>
        </p:spPr>
        <p:txBody>
          <a:bodyPr wrap="square" rtlCol="0">
            <a:spAutoFit/>
          </a:bodyPr>
          <a:lstStyle/>
          <a:p>
            <a:pPr>
              <a:buFont typeface="Arial" pitchFamily="34" charset="0"/>
              <a:buChar char="•"/>
            </a:pPr>
            <a:endParaRPr lang="en-US" sz="2800" dirty="0">
              <a:solidFill>
                <a:schemeClr val="accent4">
                  <a:lumMod val="20000"/>
                  <a:lumOff val="80000"/>
                </a:schemeClr>
              </a:solidFill>
              <a:effectLst>
                <a:outerShdw blurRad="38100" dist="38100" dir="2700000" algn="tl">
                  <a:srgbClr val="000000">
                    <a:alpha val="43137"/>
                  </a:srgbClr>
                </a:outerShdw>
              </a:effectLst>
              <a:latin typeface="Aharoni" pitchFamily="2" charset="-79"/>
              <a:cs typeface="Aharoni" pitchFamily="2" charset="-79"/>
            </a:endParaRPr>
          </a:p>
        </p:txBody>
      </p:sp>
      <p:sp>
        <p:nvSpPr>
          <p:cNvPr id="10" name="Rectangle 9"/>
          <p:cNvSpPr/>
          <p:nvPr/>
        </p:nvSpPr>
        <p:spPr>
          <a:xfrm>
            <a:off x="381000" y="1828800"/>
            <a:ext cx="7924800" cy="3953903"/>
          </a:xfrm>
          <a:prstGeom prst="rect">
            <a:avLst/>
          </a:prstGeom>
        </p:spPr>
        <p:txBody>
          <a:bodyPr wrap="square">
            <a:spAutoFit/>
          </a:bodyPr>
          <a:lstStyle/>
          <a:p>
            <a:pPr marL="171450" indent="-171450" defTabSz="685800" fontAlgn="base">
              <a:lnSpc>
                <a:spcPct val="90000"/>
              </a:lnSpc>
              <a:spcBef>
                <a:spcPts val="750"/>
              </a:spcBef>
              <a:buFont typeface="Arial" panose="020B0604020202020204" pitchFamily="34" charset="0"/>
              <a:buChar char="•"/>
            </a:pPr>
            <a:r>
              <a:rPr lang="en-US" sz="2400" dirty="0">
                <a:effectLst>
                  <a:outerShdw blurRad="38100" dist="38100" dir="2700000" algn="tl">
                    <a:srgbClr val="000000">
                      <a:alpha val="43137"/>
                    </a:srgbClr>
                  </a:outerShdw>
                </a:effectLst>
                <a:latin typeface="Adobe Garamond Pro" pitchFamily="18" charset="0"/>
              </a:rPr>
              <a:t> </a:t>
            </a:r>
            <a:r>
              <a:rPr lang="en-US" sz="2800" dirty="0">
                <a:latin typeface="Times New Roman" panose="02020603050405020304" pitchFamily="18" charset="0"/>
                <a:cs typeface="Times New Roman" panose="02020603050405020304" pitchFamily="18" charset="0"/>
              </a:rPr>
              <a:t>The back end is used by the service provider. It manages all the resources that are required to provide cloud computing services.</a:t>
            </a:r>
          </a:p>
          <a:p>
            <a:pPr marL="171450" indent="-171450" defTabSz="685800" fontAlgn="base">
              <a:lnSpc>
                <a:spcPct val="90000"/>
              </a:lnSpc>
              <a:spcBef>
                <a:spcPts val="75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It includes a huge amount of data storage, security mechanism, virtual machines, deploying models, servers, traffic control mechanisms, etc.</a:t>
            </a:r>
          </a:p>
          <a:p>
            <a:pPr algn="just" defTabSz="685800" fontAlgn="base">
              <a:lnSpc>
                <a:spcPct val="90000"/>
              </a:lnSpc>
              <a:spcBef>
                <a:spcPts val="750"/>
              </a:spcBef>
            </a:pPr>
            <a:r>
              <a:rPr lang="en-US" sz="2400" dirty="0">
                <a:latin typeface="Adobe Garamond Pro" pitchFamily="18" charset="0"/>
              </a:rPr>
              <a:t>             </a:t>
            </a:r>
            <a:br>
              <a:rPr lang="en-US" dirty="0"/>
            </a:br>
            <a:br>
              <a:rPr lang="en-US" dirty="0"/>
            </a:br>
            <a:r>
              <a:rPr lang="en-US" dirty="0"/>
              <a:t> </a:t>
            </a:r>
            <a:br>
              <a:rPr lang="en-US" dirty="0"/>
            </a:br>
            <a:br>
              <a:rPr lang="en-US" dirty="0"/>
            </a:br>
            <a:endParaRPr lang="en-US" dirty="0"/>
          </a:p>
        </p:txBody>
      </p:sp>
    </p:spTree>
    <p:extLst>
      <p:ext uri="{BB962C8B-B14F-4D97-AF65-F5344CB8AC3E}">
        <p14:creationId xmlns:p14="http://schemas.microsoft.com/office/powerpoint/2010/main" val="2547958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AB3C2-2E98-4388-1D80-9777BD29CA1F}"/>
              </a:ext>
            </a:extLst>
          </p:cNvPr>
          <p:cNvSpPr>
            <a:spLocks noGrp="1"/>
          </p:cNvSpPr>
          <p:nvPr>
            <p:ph type="title"/>
          </p:nvPr>
        </p:nvSpPr>
        <p:spPr>
          <a:xfrm>
            <a:off x="628650" y="838200"/>
            <a:ext cx="7886700" cy="4343400"/>
          </a:xfrm>
        </p:spPr>
        <p:txBody>
          <a:bodyPr>
            <a:normAutofit fontScale="90000"/>
          </a:bodyPr>
          <a:lstStyle/>
          <a:p>
            <a:pPr algn="l"/>
            <a:r>
              <a:rPr lang="en-US" sz="4000" dirty="0">
                <a:solidFill>
                  <a:srgbClr val="000000"/>
                </a:solidFill>
                <a:latin typeface="Times New Roman" panose="02020603050405020304" pitchFamily="18" charset="0"/>
                <a:cs typeface="Times New Roman" panose="02020603050405020304" pitchFamily="18" charset="0"/>
              </a:rPr>
              <a:t>Different types of cloud computing deployment models:</a:t>
            </a:r>
            <a:br>
              <a:rPr lang="en-US" sz="4000" b="0" i="0" dirty="0">
                <a:solidFill>
                  <a:srgbClr val="000000"/>
                </a:solidFill>
                <a:effectLst/>
                <a:latin typeface="Times New Roman" panose="02020603050405020304" pitchFamily="18" charset="0"/>
                <a:cs typeface="Times New Roman" panose="02020603050405020304" pitchFamily="18" charset="0"/>
              </a:rPr>
            </a:br>
            <a:br>
              <a:rPr lang="en-US" b="0" i="0" dirty="0">
                <a:solidFill>
                  <a:srgbClr val="000000"/>
                </a:solidFill>
                <a:effectLst/>
                <a:latin typeface="Noto Sans JP"/>
              </a:rPr>
            </a:br>
            <a:r>
              <a:rPr lang="en-US" b="0" i="0" dirty="0">
                <a:solidFill>
                  <a:srgbClr val="000000"/>
                </a:solidFill>
                <a:effectLst/>
                <a:latin typeface="Times New Roman" panose="02020603050405020304" pitchFamily="18" charset="0"/>
                <a:cs typeface="Times New Roman" panose="02020603050405020304" pitchFamily="18" charset="0"/>
              </a:rPr>
              <a:t>1. </a:t>
            </a:r>
            <a:r>
              <a:rPr lang="en-US" sz="3100" b="0" i="0" dirty="0">
                <a:solidFill>
                  <a:srgbClr val="000000"/>
                </a:solidFill>
                <a:effectLst/>
                <a:latin typeface="Times New Roman" panose="02020603050405020304" pitchFamily="18" charset="0"/>
                <a:cs typeface="Times New Roman" panose="02020603050405020304" pitchFamily="18" charset="0"/>
              </a:rPr>
              <a:t>Public</a:t>
            </a:r>
            <a:br>
              <a:rPr lang="en-US" sz="3100" b="0" i="0" dirty="0">
                <a:solidFill>
                  <a:srgbClr val="000000"/>
                </a:solidFill>
                <a:effectLst/>
                <a:latin typeface="Times New Roman" panose="02020603050405020304" pitchFamily="18" charset="0"/>
                <a:cs typeface="Times New Roman" panose="02020603050405020304" pitchFamily="18" charset="0"/>
              </a:rPr>
            </a:br>
            <a:r>
              <a:rPr lang="en-US" sz="3100" b="0" i="0" dirty="0">
                <a:solidFill>
                  <a:srgbClr val="000000"/>
                </a:solidFill>
                <a:effectLst/>
                <a:latin typeface="Times New Roman" panose="02020603050405020304" pitchFamily="18" charset="0"/>
                <a:cs typeface="Times New Roman" panose="02020603050405020304" pitchFamily="18" charset="0"/>
              </a:rPr>
              <a:t>2. Private</a:t>
            </a:r>
            <a:br>
              <a:rPr lang="en-US" sz="3100" b="0" i="0" dirty="0">
                <a:solidFill>
                  <a:srgbClr val="000000"/>
                </a:solidFill>
                <a:effectLst/>
                <a:latin typeface="Times New Roman" panose="02020603050405020304" pitchFamily="18" charset="0"/>
                <a:cs typeface="Times New Roman" panose="02020603050405020304" pitchFamily="18" charset="0"/>
              </a:rPr>
            </a:br>
            <a:r>
              <a:rPr lang="en-US" sz="3100" b="0" i="0" dirty="0">
                <a:solidFill>
                  <a:srgbClr val="000000"/>
                </a:solidFill>
                <a:effectLst/>
                <a:latin typeface="Times New Roman" panose="02020603050405020304" pitchFamily="18" charset="0"/>
                <a:cs typeface="Times New Roman" panose="02020603050405020304" pitchFamily="18" charset="0"/>
              </a:rPr>
              <a:t>3. Community</a:t>
            </a:r>
            <a:br>
              <a:rPr lang="en-US" sz="3100" b="0" i="0" dirty="0">
                <a:solidFill>
                  <a:srgbClr val="000000"/>
                </a:solidFill>
                <a:effectLst/>
                <a:latin typeface="Times New Roman" panose="02020603050405020304" pitchFamily="18" charset="0"/>
                <a:cs typeface="Times New Roman" panose="02020603050405020304" pitchFamily="18" charset="0"/>
              </a:rPr>
            </a:br>
            <a:r>
              <a:rPr lang="en-US" sz="3100" b="0" i="0" dirty="0">
                <a:solidFill>
                  <a:srgbClr val="000000"/>
                </a:solidFill>
                <a:effectLst/>
                <a:latin typeface="Times New Roman" panose="02020603050405020304" pitchFamily="18" charset="0"/>
                <a:cs typeface="Times New Roman" panose="02020603050405020304" pitchFamily="18" charset="0"/>
              </a:rPr>
              <a:t>4. Hybrid</a:t>
            </a:r>
            <a:br>
              <a:rPr lang="en-US" sz="3100" b="0" i="0" dirty="0">
                <a:solidFill>
                  <a:srgbClr val="000000"/>
                </a:solidFill>
                <a:effectLst/>
                <a:latin typeface="Times New Roman" panose="02020603050405020304" pitchFamily="18" charset="0"/>
                <a:cs typeface="Times New Roman" panose="02020603050405020304" pitchFamily="18" charset="0"/>
              </a:rPr>
            </a:br>
            <a:endParaRPr lang="en-US" sz="3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0597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FD3532-44D7-B71D-BC8B-5E798338BF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533400"/>
            <a:ext cx="8686799" cy="6019800"/>
          </a:xfrm>
          <a:prstGeom prst="rect">
            <a:avLst/>
          </a:prstGeom>
        </p:spPr>
      </p:pic>
    </p:spTree>
    <p:extLst>
      <p:ext uri="{BB962C8B-B14F-4D97-AF65-F5344CB8AC3E}">
        <p14:creationId xmlns:p14="http://schemas.microsoft.com/office/powerpoint/2010/main" val="746549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609600"/>
            <a:ext cx="8229600" cy="1143000"/>
          </a:xfrm>
        </p:spPr>
        <p:txBody>
          <a:bodyPr>
            <a:normAutofit/>
          </a:bodyPr>
          <a:lstStyle/>
          <a:p>
            <a:r>
              <a:rPr lang="en-US" sz="4400" u="sng" dirty="0">
                <a:latin typeface="Times New Roman" panose="02020603050405020304" pitchFamily="18" charset="0"/>
                <a:ea typeface="Adobe Gothic Std B" pitchFamily="34" charset="-128"/>
                <a:cs typeface="Times New Roman" panose="02020603050405020304" pitchFamily="18" charset="0"/>
              </a:rPr>
              <a:t>Public cloud</a:t>
            </a:r>
          </a:p>
        </p:txBody>
      </p:sp>
      <p:sp>
        <p:nvSpPr>
          <p:cNvPr id="7" name="TextBox 6"/>
          <p:cNvSpPr txBox="1"/>
          <p:nvPr/>
        </p:nvSpPr>
        <p:spPr>
          <a:xfrm>
            <a:off x="1447800" y="609600"/>
            <a:ext cx="8991600" cy="523220"/>
          </a:xfrm>
          <a:prstGeom prst="rect">
            <a:avLst/>
          </a:prstGeom>
          <a:noFill/>
        </p:spPr>
        <p:txBody>
          <a:bodyPr wrap="square" rtlCol="0">
            <a:spAutoFit/>
          </a:bodyPr>
          <a:lstStyle/>
          <a:p>
            <a:pPr>
              <a:buFont typeface="Arial" pitchFamily="34" charset="0"/>
              <a:buChar char="•"/>
            </a:pPr>
            <a:endParaRPr lang="en-US" sz="2800" dirty="0">
              <a:solidFill>
                <a:schemeClr val="accent4">
                  <a:lumMod val="20000"/>
                  <a:lumOff val="80000"/>
                </a:schemeClr>
              </a:solidFill>
              <a:effectLst>
                <a:outerShdw blurRad="38100" dist="38100" dir="2700000" algn="tl">
                  <a:srgbClr val="000000">
                    <a:alpha val="43137"/>
                  </a:srgbClr>
                </a:outerShdw>
              </a:effectLst>
              <a:latin typeface="Aharoni" pitchFamily="2" charset="-79"/>
              <a:cs typeface="Aharoni" pitchFamily="2" charset="-79"/>
            </a:endParaRPr>
          </a:p>
        </p:txBody>
      </p:sp>
      <p:sp>
        <p:nvSpPr>
          <p:cNvPr id="10" name="Rectangle 9"/>
          <p:cNvSpPr/>
          <p:nvPr/>
        </p:nvSpPr>
        <p:spPr>
          <a:xfrm>
            <a:off x="381000" y="1828800"/>
            <a:ext cx="7924800" cy="6309420"/>
          </a:xfrm>
          <a:prstGeom prst="rect">
            <a:avLst/>
          </a:prstGeom>
        </p:spPr>
        <p:txBody>
          <a:bodyPr wrap="square">
            <a:spAutoFit/>
          </a:bodyPr>
          <a:lstStyle/>
          <a:p>
            <a:pPr algn="just">
              <a:buFont typeface="Arial" pitchFamily="34" charset="0"/>
              <a:buChar char="•"/>
            </a:pPr>
            <a:r>
              <a:rPr lang="en-US" sz="2400" dirty="0">
                <a:effectLst>
                  <a:outerShdw blurRad="38100" dist="38100" dir="2700000" algn="tl">
                    <a:srgbClr val="000000">
                      <a:alpha val="43137"/>
                    </a:srgbClr>
                  </a:outerShdw>
                </a:effectLst>
                <a:latin typeface="Adobe Garamond Pro" pitchFamily="18" charset="0"/>
              </a:rPr>
              <a:t> </a:t>
            </a:r>
            <a:r>
              <a:rPr lang="en-US" sz="2800" dirty="0">
                <a:latin typeface="Times New Roman" panose="02020603050405020304" pitchFamily="18" charset="0"/>
                <a:cs typeface="Times New Roman" panose="02020603050405020304" pitchFamily="18" charset="0"/>
              </a:rPr>
              <a:t>The public cloud makes it possible for anybody to access systems and services.</a:t>
            </a:r>
          </a:p>
          <a:p>
            <a:pPr>
              <a:buFont typeface="Arial" pitchFamily="34" charset="0"/>
              <a:buChar char="•"/>
            </a:pPr>
            <a:r>
              <a:rPr lang="en-US" sz="2800" dirty="0">
                <a:latin typeface="Times New Roman" panose="02020603050405020304" pitchFamily="18" charset="0"/>
                <a:cs typeface="Times New Roman" panose="02020603050405020304" pitchFamily="18" charset="0"/>
              </a:rPr>
              <a:t>The public cloud may be less secure as it is open for everyone.</a:t>
            </a:r>
          </a:p>
          <a:p>
            <a:pPr>
              <a:buFont typeface="Arial" pitchFamily="34" charset="0"/>
              <a:buChar char="•"/>
            </a:pPr>
            <a:r>
              <a:rPr lang="en-US" sz="2800" dirty="0">
                <a:latin typeface="Times New Roman" panose="02020603050405020304" pitchFamily="18" charset="0"/>
                <a:cs typeface="Times New Roman" panose="02020603050405020304" pitchFamily="18" charset="0"/>
              </a:rPr>
              <a:t>In this arrangement, storage backup and retrieval services are given for free, as a subscription, or on a per-use basis.</a:t>
            </a:r>
          </a:p>
          <a:p>
            <a:pPr>
              <a:buFont typeface="Arial" pitchFamily="34" charset="0"/>
              <a:buChar char="•"/>
            </a:pPr>
            <a:r>
              <a:rPr lang="en-US" sz="2800" dirty="0">
                <a:latin typeface="Times New Roman" panose="02020603050405020304" pitchFamily="18" charset="0"/>
                <a:cs typeface="Times New Roman" panose="02020603050405020304" pitchFamily="18" charset="0"/>
              </a:rPr>
              <a:t>Examples: Google drive, Google App Engine, Blue Cloud by IBM and Azure services Platform by Windows.</a:t>
            </a:r>
          </a:p>
          <a:p>
            <a:pPr>
              <a:buFont typeface="Arial" pitchFamily="34" charset="0"/>
              <a:buChar char="•"/>
            </a:pPr>
            <a:endParaRPr lang="en-US" sz="2800" dirty="0">
              <a:latin typeface="Times New Roman" panose="02020603050405020304" pitchFamily="18" charset="0"/>
              <a:cs typeface="Times New Roman" panose="02020603050405020304" pitchFamily="18" charset="0"/>
            </a:endParaRPr>
          </a:p>
          <a:p>
            <a:pPr algn="just"/>
            <a:r>
              <a:rPr lang="en-US" sz="2400" dirty="0">
                <a:latin typeface="Adobe Garamond Pro" pitchFamily="18" charset="0"/>
              </a:rPr>
              <a:t>             </a:t>
            </a:r>
            <a:br>
              <a:rPr lang="en-US" dirty="0"/>
            </a:br>
            <a:br>
              <a:rPr lang="en-US" dirty="0"/>
            </a:br>
            <a:r>
              <a:rPr lang="en-US" dirty="0"/>
              <a:t> </a:t>
            </a:r>
            <a:br>
              <a:rPr lang="en-US" dirty="0"/>
            </a:br>
            <a:br>
              <a:rPr lang="en-US" dirty="0"/>
            </a:br>
            <a:endParaRPr lang="en-US" dirty="0"/>
          </a:p>
        </p:txBody>
      </p:sp>
    </p:spTree>
    <p:extLst>
      <p:ext uri="{BB962C8B-B14F-4D97-AF65-F5344CB8AC3E}">
        <p14:creationId xmlns:p14="http://schemas.microsoft.com/office/powerpoint/2010/main" val="1302483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609600"/>
            <a:ext cx="8229600" cy="1143000"/>
          </a:xfrm>
        </p:spPr>
        <p:txBody>
          <a:bodyPr>
            <a:normAutofit/>
          </a:bodyPr>
          <a:lstStyle/>
          <a:p>
            <a:r>
              <a:rPr lang="en-US" sz="4400" u="sng" dirty="0">
                <a:latin typeface="Times New Roman" panose="02020603050405020304" pitchFamily="18" charset="0"/>
                <a:ea typeface="Adobe Gothic Std B" pitchFamily="34" charset="-128"/>
                <a:cs typeface="Times New Roman" panose="02020603050405020304" pitchFamily="18" charset="0"/>
              </a:rPr>
              <a:t>Private cloud</a:t>
            </a:r>
          </a:p>
        </p:txBody>
      </p:sp>
      <p:sp>
        <p:nvSpPr>
          <p:cNvPr id="7" name="TextBox 6"/>
          <p:cNvSpPr txBox="1"/>
          <p:nvPr/>
        </p:nvSpPr>
        <p:spPr>
          <a:xfrm>
            <a:off x="1447800" y="609600"/>
            <a:ext cx="8991600" cy="523220"/>
          </a:xfrm>
          <a:prstGeom prst="rect">
            <a:avLst/>
          </a:prstGeom>
          <a:noFill/>
        </p:spPr>
        <p:txBody>
          <a:bodyPr wrap="square" rtlCol="0">
            <a:spAutoFit/>
          </a:bodyPr>
          <a:lstStyle/>
          <a:p>
            <a:pPr>
              <a:buFont typeface="Arial" pitchFamily="34" charset="0"/>
              <a:buChar char="•"/>
            </a:pPr>
            <a:endParaRPr lang="en-US" sz="2800" dirty="0">
              <a:solidFill>
                <a:schemeClr val="accent4">
                  <a:lumMod val="20000"/>
                  <a:lumOff val="80000"/>
                </a:schemeClr>
              </a:solidFill>
              <a:effectLst>
                <a:outerShdw blurRad="38100" dist="38100" dir="2700000" algn="tl">
                  <a:srgbClr val="000000">
                    <a:alpha val="43137"/>
                  </a:srgbClr>
                </a:outerShdw>
              </a:effectLst>
              <a:latin typeface="Aharoni" pitchFamily="2" charset="-79"/>
              <a:cs typeface="Aharoni" pitchFamily="2" charset="-79"/>
            </a:endParaRPr>
          </a:p>
        </p:txBody>
      </p:sp>
      <p:sp>
        <p:nvSpPr>
          <p:cNvPr id="10" name="Rectangle 9"/>
          <p:cNvSpPr/>
          <p:nvPr/>
        </p:nvSpPr>
        <p:spPr>
          <a:xfrm>
            <a:off x="381000" y="1828800"/>
            <a:ext cx="7924800" cy="6309420"/>
          </a:xfrm>
          <a:prstGeom prst="rect">
            <a:avLst/>
          </a:prstGeom>
        </p:spPr>
        <p:txBody>
          <a:bodyPr wrap="square">
            <a:spAutoFit/>
          </a:bodyPr>
          <a:lstStyle/>
          <a:p>
            <a:pPr algn="just">
              <a:buFont typeface="Arial" pitchFamily="34" charset="0"/>
              <a:buChar char="•"/>
            </a:pPr>
            <a:r>
              <a:rPr lang="en-US" sz="2400" dirty="0">
                <a:effectLst>
                  <a:outerShdw blurRad="38100" dist="38100" dir="2700000" algn="tl">
                    <a:srgbClr val="000000">
                      <a:alpha val="43137"/>
                    </a:srgbClr>
                  </a:outerShdw>
                </a:effectLst>
                <a:latin typeface="Adobe Garamond Pro" pitchFamily="18" charset="0"/>
              </a:rPr>
              <a:t> </a:t>
            </a:r>
            <a:r>
              <a:rPr lang="en-US" sz="2800" dirty="0">
                <a:latin typeface="Times New Roman" panose="02020603050405020304" pitchFamily="18" charset="0"/>
                <a:cs typeface="Times New Roman" panose="02020603050405020304" pitchFamily="18" charset="0"/>
              </a:rPr>
              <a:t>It’s a one-on-one environment for a single user (customer)</a:t>
            </a:r>
          </a:p>
          <a:p>
            <a:pPr algn="just">
              <a:buFont typeface="Arial" pitchFamily="34" charset="0"/>
              <a:buChar char="•"/>
            </a:pPr>
            <a:r>
              <a:rPr lang="en-US" sz="2800" dirty="0">
                <a:latin typeface="Times New Roman" panose="02020603050405020304" pitchFamily="18" charset="0"/>
                <a:cs typeface="Times New Roman" panose="02020603050405020304" pitchFamily="18" charset="0"/>
              </a:rPr>
              <a:t>There is no need to share hardware with anyone else</a:t>
            </a:r>
          </a:p>
          <a:p>
            <a:pPr algn="just">
              <a:buFont typeface="Arial" pitchFamily="34" charset="0"/>
              <a:buChar char="•"/>
            </a:pPr>
            <a:r>
              <a:rPr lang="en-US" sz="2800" dirty="0">
                <a:latin typeface="Times New Roman" panose="02020603050405020304" pitchFamily="18" charset="0"/>
                <a:cs typeface="Times New Roman" panose="02020603050405020304" pitchFamily="18" charset="0"/>
              </a:rPr>
              <a:t>The cloud platform is implemented in a cloud-based secure environment that is protected by powerful firewalls and under the supervision of an organization’s IT department.</a:t>
            </a:r>
          </a:p>
          <a:p>
            <a:pPr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Examples: Amazon Web Services, Microsoft Azure, IBM Cloud, Google Cloud Platform, Oracle Cloud.</a:t>
            </a:r>
          </a:p>
          <a:p>
            <a:pPr>
              <a:buFont typeface="Arial" pitchFamily="34" charset="0"/>
              <a:buChar char="•"/>
            </a:pPr>
            <a:endParaRPr lang="en-US" sz="2800" dirty="0">
              <a:latin typeface="Times New Roman" panose="02020603050405020304" pitchFamily="18" charset="0"/>
              <a:cs typeface="Times New Roman" panose="02020603050405020304" pitchFamily="18" charset="0"/>
            </a:endParaRPr>
          </a:p>
          <a:p>
            <a:pPr>
              <a:buFont typeface="Arial" pitchFamily="34" charset="0"/>
              <a:buChar char="•"/>
            </a:pPr>
            <a:endParaRPr lang="en-US" sz="2800" dirty="0">
              <a:latin typeface="Times New Roman" panose="02020603050405020304" pitchFamily="18" charset="0"/>
              <a:cs typeface="Times New Roman" panose="02020603050405020304" pitchFamily="18" charset="0"/>
            </a:endParaRPr>
          </a:p>
          <a:p>
            <a:pPr algn="just"/>
            <a:r>
              <a:rPr lang="en-US" sz="2400" dirty="0">
                <a:latin typeface="Adobe Garamond Pro" pitchFamily="18" charset="0"/>
              </a:rPr>
              <a:t>             </a:t>
            </a:r>
            <a:br>
              <a:rPr lang="en-US" dirty="0"/>
            </a:br>
            <a:br>
              <a:rPr lang="en-US" dirty="0"/>
            </a:br>
            <a:r>
              <a:rPr lang="en-US" dirty="0"/>
              <a:t> </a:t>
            </a:r>
            <a:br>
              <a:rPr lang="en-US" dirty="0"/>
            </a:br>
            <a:br>
              <a:rPr lang="en-US" dirty="0"/>
            </a:br>
            <a:endParaRPr lang="en-US" dirty="0"/>
          </a:p>
        </p:txBody>
      </p:sp>
    </p:spTree>
    <p:extLst>
      <p:ext uri="{BB962C8B-B14F-4D97-AF65-F5344CB8AC3E}">
        <p14:creationId xmlns:p14="http://schemas.microsoft.com/office/powerpoint/2010/main" val="914270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609600"/>
            <a:ext cx="8229600" cy="1143000"/>
          </a:xfrm>
        </p:spPr>
        <p:txBody>
          <a:bodyPr>
            <a:normAutofit/>
          </a:bodyPr>
          <a:lstStyle/>
          <a:p>
            <a:r>
              <a:rPr lang="en-US" sz="4400" u="sng" dirty="0">
                <a:latin typeface="Times New Roman" panose="02020603050405020304" pitchFamily="18" charset="0"/>
                <a:ea typeface="Adobe Gothic Std B" pitchFamily="34" charset="-128"/>
                <a:cs typeface="Times New Roman" panose="02020603050405020304" pitchFamily="18" charset="0"/>
              </a:rPr>
              <a:t>Hybrid cloud</a:t>
            </a:r>
          </a:p>
        </p:txBody>
      </p:sp>
      <p:sp>
        <p:nvSpPr>
          <p:cNvPr id="7" name="TextBox 6"/>
          <p:cNvSpPr txBox="1"/>
          <p:nvPr/>
        </p:nvSpPr>
        <p:spPr>
          <a:xfrm>
            <a:off x="1447800" y="609600"/>
            <a:ext cx="8991600" cy="523220"/>
          </a:xfrm>
          <a:prstGeom prst="rect">
            <a:avLst/>
          </a:prstGeom>
          <a:noFill/>
        </p:spPr>
        <p:txBody>
          <a:bodyPr wrap="square" rtlCol="0">
            <a:spAutoFit/>
          </a:bodyPr>
          <a:lstStyle/>
          <a:p>
            <a:pPr>
              <a:buFont typeface="Arial" pitchFamily="34" charset="0"/>
              <a:buChar char="•"/>
            </a:pPr>
            <a:endParaRPr lang="en-US" sz="2800" dirty="0">
              <a:solidFill>
                <a:schemeClr val="accent4">
                  <a:lumMod val="20000"/>
                  <a:lumOff val="80000"/>
                </a:schemeClr>
              </a:solidFill>
              <a:effectLst>
                <a:outerShdw blurRad="38100" dist="38100" dir="2700000" algn="tl">
                  <a:srgbClr val="000000">
                    <a:alpha val="43137"/>
                  </a:srgbClr>
                </a:outerShdw>
              </a:effectLst>
              <a:latin typeface="Aharoni" pitchFamily="2" charset="-79"/>
              <a:cs typeface="Aharoni" pitchFamily="2" charset="-79"/>
            </a:endParaRPr>
          </a:p>
        </p:txBody>
      </p:sp>
      <p:sp>
        <p:nvSpPr>
          <p:cNvPr id="10" name="Rectangle 9"/>
          <p:cNvSpPr/>
          <p:nvPr/>
        </p:nvSpPr>
        <p:spPr>
          <a:xfrm>
            <a:off x="381000" y="1828800"/>
            <a:ext cx="7924800" cy="5016758"/>
          </a:xfrm>
          <a:prstGeom prst="rect">
            <a:avLst/>
          </a:prstGeom>
        </p:spPr>
        <p:txBody>
          <a:bodyPr wrap="square">
            <a:spAutoFit/>
          </a:bodyPr>
          <a:lstStyle/>
          <a:p>
            <a:pPr algn="just">
              <a:buFont typeface="Arial" pitchFamily="34" charset="0"/>
              <a:buChar char="•"/>
            </a:pPr>
            <a:r>
              <a:rPr lang="en-US" sz="2400" dirty="0">
                <a:effectLst>
                  <a:outerShdw blurRad="38100" dist="38100" dir="2700000" algn="tl">
                    <a:srgbClr val="000000">
                      <a:alpha val="43137"/>
                    </a:srgbClr>
                  </a:outerShdw>
                </a:effectLst>
                <a:latin typeface="Adobe Garamond Pro" pitchFamily="18" charset="0"/>
              </a:rPr>
              <a:t> </a:t>
            </a:r>
            <a:r>
              <a:rPr lang="en-US" sz="2800" dirty="0">
                <a:latin typeface="Times New Roman" panose="02020603050405020304" pitchFamily="18" charset="0"/>
                <a:cs typeface="Times New Roman" panose="02020603050405020304" pitchFamily="18" charset="0"/>
              </a:rPr>
              <a:t>Hybrid cloud is a mixture of both public and private cloud</a:t>
            </a:r>
          </a:p>
          <a:p>
            <a:pPr algn="just">
              <a:buFont typeface="Arial" pitchFamily="34" charset="0"/>
              <a:buChar char="•"/>
            </a:pPr>
            <a:r>
              <a:rPr lang="en-US" sz="2800" dirty="0">
                <a:latin typeface="Times New Roman" panose="02020603050405020304" pitchFamily="18" charset="0"/>
                <a:cs typeface="Times New Roman" panose="02020603050405020304" pitchFamily="18" charset="0"/>
              </a:rPr>
              <a:t>Critical activities are performed using private cloud while the non critical activities performed by public cloud</a:t>
            </a:r>
          </a:p>
          <a:p>
            <a:pPr algn="just">
              <a:buFont typeface="Arial" pitchFamily="34" charset="0"/>
              <a:buChar char="•"/>
            </a:pPr>
            <a:r>
              <a:rPr lang="en-US" sz="2800" dirty="0">
                <a:latin typeface="Times New Roman" panose="02020603050405020304" pitchFamily="18" charset="0"/>
                <a:cs typeface="Times New Roman" panose="02020603050405020304" pitchFamily="18" charset="0"/>
              </a:rPr>
              <a:t>Businesses with more flexibility can design personalized solutions that meet their particular needs</a:t>
            </a:r>
          </a:p>
          <a:p>
            <a:endParaRPr lang="en-US" sz="2800" dirty="0">
              <a:latin typeface="Times New Roman" panose="02020603050405020304" pitchFamily="18" charset="0"/>
              <a:cs typeface="Times New Roman" panose="02020603050405020304" pitchFamily="18" charset="0"/>
            </a:endParaRPr>
          </a:p>
          <a:p>
            <a:pPr algn="just"/>
            <a:r>
              <a:rPr lang="en-US" sz="2400" dirty="0">
                <a:latin typeface="Adobe Garamond Pro" pitchFamily="18" charset="0"/>
              </a:rPr>
              <a:t>             </a:t>
            </a:r>
            <a:br>
              <a:rPr lang="en-US" dirty="0"/>
            </a:br>
            <a:br>
              <a:rPr lang="en-US" dirty="0"/>
            </a:br>
            <a:r>
              <a:rPr lang="en-US" dirty="0"/>
              <a:t> </a:t>
            </a:r>
            <a:br>
              <a:rPr lang="en-US" dirty="0"/>
            </a:br>
            <a:br>
              <a:rPr lang="en-US" dirty="0"/>
            </a:br>
            <a:endParaRPr lang="en-US" dirty="0"/>
          </a:p>
        </p:txBody>
      </p:sp>
    </p:spTree>
    <p:extLst>
      <p:ext uri="{BB962C8B-B14F-4D97-AF65-F5344CB8AC3E}">
        <p14:creationId xmlns:p14="http://schemas.microsoft.com/office/powerpoint/2010/main" val="19469825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609600"/>
            <a:ext cx="8229600" cy="1143000"/>
          </a:xfrm>
        </p:spPr>
        <p:txBody>
          <a:bodyPr>
            <a:normAutofit/>
          </a:bodyPr>
          <a:lstStyle/>
          <a:p>
            <a:r>
              <a:rPr lang="en-US" sz="4400" u="sng" dirty="0">
                <a:latin typeface="Times New Roman" panose="02020603050405020304" pitchFamily="18" charset="0"/>
                <a:ea typeface="Adobe Gothic Std B" pitchFamily="34" charset="-128"/>
                <a:cs typeface="Times New Roman" panose="02020603050405020304" pitchFamily="18" charset="0"/>
              </a:rPr>
              <a:t>Community cloud</a:t>
            </a:r>
          </a:p>
        </p:txBody>
      </p:sp>
      <p:sp>
        <p:nvSpPr>
          <p:cNvPr id="7" name="TextBox 6"/>
          <p:cNvSpPr txBox="1"/>
          <p:nvPr/>
        </p:nvSpPr>
        <p:spPr>
          <a:xfrm>
            <a:off x="1447800" y="609600"/>
            <a:ext cx="8991600" cy="523220"/>
          </a:xfrm>
          <a:prstGeom prst="rect">
            <a:avLst/>
          </a:prstGeom>
          <a:noFill/>
        </p:spPr>
        <p:txBody>
          <a:bodyPr wrap="square" rtlCol="0">
            <a:spAutoFit/>
          </a:bodyPr>
          <a:lstStyle/>
          <a:p>
            <a:pPr>
              <a:buFont typeface="Arial" pitchFamily="34" charset="0"/>
              <a:buChar char="•"/>
            </a:pPr>
            <a:endParaRPr lang="en-US" sz="2800" dirty="0">
              <a:solidFill>
                <a:schemeClr val="accent4">
                  <a:lumMod val="20000"/>
                  <a:lumOff val="80000"/>
                </a:schemeClr>
              </a:solidFill>
              <a:effectLst>
                <a:outerShdw blurRad="38100" dist="38100" dir="2700000" algn="tl">
                  <a:srgbClr val="000000">
                    <a:alpha val="43137"/>
                  </a:srgbClr>
                </a:outerShdw>
              </a:effectLst>
              <a:latin typeface="Aharoni" pitchFamily="2" charset="-79"/>
              <a:cs typeface="Aharoni" pitchFamily="2" charset="-79"/>
            </a:endParaRPr>
          </a:p>
        </p:txBody>
      </p:sp>
      <p:sp>
        <p:nvSpPr>
          <p:cNvPr id="10" name="Rectangle 9"/>
          <p:cNvSpPr/>
          <p:nvPr/>
        </p:nvSpPr>
        <p:spPr>
          <a:xfrm>
            <a:off x="381000" y="1828800"/>
            <a:ext cx="7924800" cy="6740307"/>
          </a:xfrm>
          <a:prstGeom prst="rect">
            <a:avLst/>
          </a:prstGeom>
        </p:spPr>
        <p:txBody>
          <a:bodyPr wrap="square">
            <a:spAutoFit/>
          </a:bodyPr>
          <a:lstStyle/>
          <a:p>
            <a:pPr algn="just">
              <a:buFont typeface="Arial" pitchFamily="34" charset="0"/>
              <a:buChar char="•"/>
            </a:pPr>
            <a:r>
              <a:rPr lang="en-US" sz="2400" dirty="0">
                <a:effectLst>
                  <a:outerShdw blurRad="38100" dist="38100" dir="2700000" algn="tl">
                    <a:srgbClr val="000000">
                      <a:alpha val="43137"/>
                    </a:srgbClr>
                  </a:outerShdw>
                </a:effectLst>
                <a:latin typeface="Adobe Garamond Pro" pitchFamily="18" charset="0"/>
              </a:rPr>
              <a:t> </a:t>
            </a:r>
            <a:r>
              <a:rPr lang="en-US" sz="2800" dirty="0">
                <a:latin typeface="Times New Roman" panose="02020603050405020304" pitchFamily="18" charset="0"/>
                <a:cs typeface="Times New Roman" panose="02020603050405020304" pitchFamily="18" charset="0"/>
              </a:rPr>
              <a:t>It allows systems and services to be accessible by a specific group of organizations</a:t>
            </a:r>
          </a:p>
          <a:p>
            <a:pPr algn="just">
              <a:buFont typeface="Arial" pitchFamily="34" charset="0"/>
              <a:buChar char="•"/>
            </a:pPr>
            <a:r>
              <a:rPr lang="en-US" sz="2800" dirty="0">
                <a:latin typeface="Times New Roman" panose="02020603050405020304" pitchFamily="18" charset="0"/>
                <a:cs typeface="Times New Roman" panose="02020603050405020304" pitchFamily="18" charset="0"/>
              </a:rPr>
              <a:t>It allows to share resources, infrastructure, etc. with multiple organizations</a:t>
            </a:r>
          </a:p>
          <a:p>
            <a:pPr algn="just">
              <a:buFont typeface="Arial" pitchFamily="34" charset="0"/>
              <a:buChar char="•"/>
            </a:pPr>
            <a:r>
              <a:rPr lang="en-US" sz="2800" dirty="0">
                <a:latin typeface="Times New Roman" panose="02020603050405020304" pitchFamily="18" charset="0"/>
                <a:cs typeface="Times New Roman" panose="02020603050405020304" pitchFamily="18" charset="0"/>
              </a:rPr>
              <a:t>It is suitable for both collaboration and data sharing</a:t>
            </a:r>
          </a:p>
          <a:p>
            <a:pPr algn="just">
              <a:buFont typeface="Arial" pitchFamily="34" charset="0"/>
              <a:buChar char="•"/>
            </a:pPr>
            <a:r>
              <a:rPr lang="en-US" sz="2800" dirty="0">
                <a:latin typeface="Times New Roman" panose="02020603050405020304" pitchFamily="18" charset="0"/>
                <a:cs typeface="Times New Roman" panose="02020603050405020304" pitchFamily="18" charset="0"/>
              </a:rPr>
              <a:t>It is generally managed by a third party or by the combination of one or more organizations in the community</a:t>
            </a:r>
          </a:p>
          <a:p>
            <a:pPr algn="just">
              <a:buFont typeface="Arial" pitchFamily="34" charset="0"/>
              <a:buChar char="•"/>
            </a:pPr>
            <a:r>
              <a:rPr lang="en-US" sz="2800" dirty="0">
                <a:latin typeface="Times New Roman" panose="02020603050405020304" pitchFamily="18" charset="0"/>
                <a:cs typeface="Times New Roman" panose="02020603050405020304" pitchFamily="18" charset="0"/>
              </a:rPr>
              <a:t>Examples: community cloud used by different govt. departments.</a:t>
            </a:r>
          </a:p>
          <a:p>
            <a:pPr>
              <a:buFont typeface="Arial" pitchFamily="34" charset="0"/>
              <a:buChar char="•"/>
            </a:pPr>
            <a:endParaRPr lang="en-US" sz="2800" dirty="0">
              <a:latin typeface="Times New Roman" panose="02020603050405020304" pitchFamily="18" charset="0"/>
              <a:cs typeface="Times New Roman" panose="02020603050405020304" pitchFamily="18" charset="0"/>
            </a:endParaRPr>
          </a:p>
          <a:p>
            <a:pPr>
              <a:buFont typeface="Arial" pitchFamily="34" charset="0"/>
              <a:buChar char="•"/>
            </a:pPr>
            <a:endParaRPr lang="en-US" sz="2800" dirty="0">
              <a:latin typeface="Times New Roman" panose="02020603050405020304" pitchFamily="18" charset="0"/>
              <a:cs typeface="Times New Roman" panose="02020603050405020304" pitchFamily="18" charset="0"/>
            </a:endParaRPr>
          </a:p>
          <a:p>
            <a:pPr algn="just"/>
            <a:r>
              <a:rPr lang="en-US" sz="2400" dirty="0">
                <a:latin typeface="Adobe Garamond Pro" pitchFamily="18" charset="0"/>
              </a:rPr>
              <a:t>             </a:t>
            </a:r>
            <a:br>
              <a:rPr lang="en-US" dirty="0"/>
            </a:br>
            <a:br>
              <a:rPr lang="en-US" dirty="0"/>
            </a:br>
            <a:r>
              <a:rPr lang="en-US" dirty="0"/>
              <a:t> </a:t>
            </a:r>
            <a:br>
              <a:rPr lang="en-US" dirty="0"/>
            </a:br>
            <a:br>
              <a:rPr lang="en-US" dirty="0"/>
            </a:br>
            <a:endParaRPr lang="en-US" dirty="0"/>
          </a:p>
        </p:txBody>
      </p:sp>
    </p:spTree>
    <p:extLst>
      <p:ext uri="{BB962C8B-B14F-4D97-AF65-F5344CB8AC3E}">
        <p14:creationId xmlns:p14="http://schemas.microsoft.com/office/powerpoint/2010/main" val="3548502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299710"/>
            <a:ext cx="8229600" cy="1143000"/>
          </a:xfrm>
        </p:spPr>
        <p:txBody>
          <a:bodyPr>
            <a:normAutofit fontScale="90000"/>
          </a:bodyPr>
          <a:lstStyle/>
          <a:p>
            <a:r>
              <a:rPr lang="en-US" b="1" dirty="0"/>
              <a:t>The Seven-Step Model of Migration into a Cloud</a:t>
            </a:r>
            <a:r>
              <a:rPr lang="en-US" dirty="0"/>
              <a:t> </a:t>
            </a:r>
            <a:endParaRPr lang="en-US" sz="4400" u="sng" dirty="0">
              <a:latin typeface="Times New Roman" panose="02020603050405020304" pitchFamily="18" charset="0"/>
              <a:ea typeface="Adobe Gothic Std B" pitchFamily="34" charset="-128"/>
              <a:cs typeface="Times New Roman" panose="02020603050405020304" pitchFamily="18" charset="0"/>
            </a:endParaRPr>
          </a:p>
        </p:txBody>
      </p:sp>
      <p:sp>
        <p:nvSpPr>
          <p:cNvPr id="7" name="TextBox 6"/>
          <p:cNvSpPr txBox="1"/>
          <p:nvPr/>
        </p:nvSpPr>
        <p:spPr>
          <a:xfrm>
            <a:off x="1447800" y="609600"/>
            <a:ext cx="8991600" cy="523220"/>
          </a:xfrm>
          <a:prstGeom prst="rect">
            <a:avLst/>
          </a:prstGeom>
          <a:noFill/>
        </p:spPr>
        <p:txBody>
          <a:bodyPr wrap="square" rtlCol="0">
            <a:spAutoFit/>
          </a:bodyPr>
          <a:lstStyle/>
          <a:p>
            <a:pPr>
              <a:buFont typeface="Arial" pitchFamily="34" charset="0"/>
              <a:buChar char="•"/>
            </a:pPr>
            <a:endParaRPr lang="en-US" sz="2800" dirty="0">
              <a:solidFill>
                <a:schemeClr val="accent4">
                  <a:lumMod val="20000"/>
                  <a:lumOff val="80000"/>
                </a:schemeClr>
              </a:solidFill>
              <a:effectLst>
                <a:outerShdw blurRad="38100" dist="38100" dir="2700000" algn="tl">
                  <a:srgbClr val="000000">
                    <a:alpha val="43137"/>
                  </a:srgbClr>
                </a:outerShdw>
              </a:effectLst>
              <a:latin typeface="Aharoni" pitchFamily="2" charset="-79"/>
              <a:cs typeface="Aharoni" pitchFamily="2" charset="-79"/>
            </a:endParaRPr>
          </a:p>
        </p:txBody>
      </p:sp>
      <p:sp>
        <p:nvSpPr>
          <p:cNvPr id="10" name="Rectangle 9"/>
          <p:cNvSpPr/>
          <p:nvPr/>
        </p:nvSpPr>
        <p:spPr>
          <a:xfrm>
            <a:off x="381000" y="1828800"/>
            <a:ext cx="7924800" cy="6617196"/>
          </a:xfrm>
          <a:prstGeom prst="rect">
            <a:avLst/>
          </a:prstGeom>
        </p:spPr>
        <p:txBody>
          <a:bodyPr wrap="square">
            <a:spAutoFit/>
          </a:bodyPr>
          <a:lstStyle/>
          <a:p>
            <a:pPr algn="just"/>
            <a:r>
              <a:rPr lang="en-US" sz="2000" dirty="0"/>
              <a:t>The Seven-Step Model of Migration into a Cloud is a structured approach that organizations follow to move their IT applications, data, and services from traditional on-premises systems to cloud platforms. It ensures that cloud migration is planned, secure, and cost-effective. </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t>1. Identify system candidates for migration (Assessment step)</a:t>
            </a:r>
            <a:br>
              <a:rPr lang="en-US" sz="2000" dirty="0"/>
            </a:br>
            <a:r>
              <a:rPr lang="en-US" sz="2000" dirty="0"/>
              <a:t>In this step, the organization evaluates which applications or workloads are suitable for cloud migration based on factors like performance needs, security, data sensitivity, and cost.</a:t>
            </a:r>
          </a:p>
          <a:p>
            <a:pPr algn="just"/>
            <a:r>
              <a:rPr lang="en-US" sz="2000" b="1" dirty="0"/>
              <a:t>2. Map application components to cloud services (Isolation step)</a:t>
            </a:r>
            <a:br>
              <a:rPr lang="en-US" sz="2000" dirty="0"/>
            </a:br>
            <a:r>
              <a:rPr lang="en-US" sz="2000" dirty="0"/>
              <a:t>The internal components of the application (database, storage, compute, network, middleware, etc.) are analyzed and matched with equivalent cloud services (such as VMs, containers, managed databases, and storage services).</a:t>
            </a:r>
          </a:p>
          <a:p>
            <a:pPr algn="just"/>
            <a:endParaRPr lang="en-US" sz="2000" dirty="0">
              <a:latin typeface="Times New Roman" panose="02020603050405020304" pitchFamily="18" charset="0"/>
              <a:cs typeface="Times New Roman" panose="02020603050405020304" pitchFamily="18" charset="0"/>
            </a:endParaRPr>
          </a:p>
          <a:p>
            <a:pPr>
              <a:buFont typeface="Arial" pitchFamily="34" charset="0"/>
              <a:buChar char="•"/>
            </a:pPr>
            <a:endParaRPr lang="en-US" sz="2800" dirty="0">
              <a:latin typeface="Times New Roman" panose="02020603050405020304" pitchFamily="18" charset="0"/>
              <a:cs typeface="Times New Roman" panose="02020603050405020304" pitchFamily="18" charset="0"/>
            </a:endParaRPr>
          </a:p>
          <a:p>
            <a:pPr algn="just"/>
            <a:r>
              <a:rPr lang="en-US" sz="2400" dirty="0">
                <a:latin typeface="Adobe Garamond Pro" pitchFamily="18" charset="0"/>
              </a:rPr>
              <a:t>             </a:t>
            </a:r>
            <a:br>
              <a:rPr lang="en-US" dirty="0"/>
            </a:br>
            <a:br>
              <a:rPr lang="en-US" dirty="0"/>
            </a:br>
            <a:r>
              <a:rPr lang="en-US" dirty="0"/>
              <a:t> </a:t>
            </a:r>
            <a:br>
              <a:rPr lang="en-US" dirty="0"/>
            </a:br>
            <a:br>
              <a:rPr lang="en-US" dirty="0"/>
            </a:br>
            <a:endParaRPr lang="en-US" dirty="0"/>
          </a:p>
        </p:txBody>
      </p:sp>
    </p:spTree>
    <p:extLst>
      <p:ext uri="{BB962C8B-B14F-4D97-AF65-F5344CB8AC3E}">
        <p14:creationId xmlns:p14="http://schemas.microsoft.com/office/powerpoint/2010/main" val="3724283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299710"/>
            <a:ext cx="8229600" cy="1143000"/>
          </a:xfrm>
        </p:spPr>
        <p:txBody>
          <a:bodyPr>
            <a:normAutofit fontScale="90000"/>
          </a:bodyPr>
          <a:lstStyle/>
          <a:p>
            <a:r>
              <a:rPr lang="en-US" b="1" dirty="0"/>
              <a:t>The Seven-Step Model of Migration into a Cloud</a:t>
            </a:r>
            <a:r>
              <a:rPr lang="en-US" dirty="0"/>
              <a:t> </a:t>
            </a:r>
            <a:endParaRPr lang="en-US" sz="4400" u="sng" dirty="0">
              <a:latin typeface="Times New Roman" panose="02020603050405020304" pitchFamily="18" charset="0"/>
              <a:ea typeface="Adobe Gothic Std B" pitchFamily="34" charset="-128"/>
              <a:cs typeface="Times New Roman" panose="02020603050405020304" pitchFamily="18" charset="0"/>
            </a:endParaRPr>
          </a:p>
        </p:txBody>
      </p:sp>
      <p:sp>
        <p:nvSpPr>
          <p:cNvPr id="7" name="TextBox 6"/>
          <p:cNvSpPr txBox="1"/>
          <p:nvPr/>
        </p:nvSpPr>
        <p:spPr>
          <a:xfrm>
            <a:off x="1447800" y="609600"/>
            <a:ext cx="8991600" cy="523220"/>
          </a:xfrm>
          <a:prstGeom prst="rect">
            <a:avLst/>
          </a:prstGeom>
          <a:noFill/>
        </p:spPr>
        <p:txBody>
          <a:bodyPr wrap="square" rtlCol="0">
            <a:spAutoFit/>
          </a:bodyPr>
          <a:lstStyle/>
          <a:p>
            <a:pPr>
              <a:buFont typeface="Arial" pitchFamily="34" charset="0"/>
              <a:buChar char="•"/>
            </a:pPr>
            <a:endParaRPr lang="en-US" sz="2800" dirty="0">
              <a:solidFill>
                <a:schemeClr val="accent4">
                  <a:lumMod val="20000"/>
                  <a:lumOff val="80000"/>
                </a:schemeClr>
              </a:solidFill>
              <a:effectLst>
                <a:outerShdw blurRad="38100" dist="38100" dir="2700000" algn="tl">
                  <a:srgbClr val="000000">
                    <a:alpha val="43137"/>
                  </a:srgbClr>
                </a:outerShdw>
              </a:effectLst>
              <a:latin typeface="Aharoni" pitchFamily="2" charset="-79"/>
              <a:cs typeface="Aharoni" pitchFamily="2" charset="-79"/>
            </a:endParaRPr>
          </a:p>
        </p:txBody>
      </p:sp>
      <p:sp>
        <p:nvSpPr>
          <p:cNvPr id="10" name="Rectangle 9"/>
          <p:cNvSpPr/>
          <p:nvPr/>
        </p:nvSpPr>
        <p:spPr>
          <a:xfrm>
            <a:off x="381000" y="1828800"/>
            <a:ext cx="7924800" cy="5693866"/>
          </a:xfrm>
          <a:prstGeom prst="rect">
            <a:avLst/>
          </a:prstGeom>
        </p:spPr>
        <p:txBody>
          <a:bodyPr wrap="square">
            <a:spAutoFit/>
          </a:bodyPr>
          <a:lstStyle/>
          <a:p>
            <a:pPr marL="457200" indent="-457200">
              <a:buAutoNum type="arabicPlain" startAt="3"/>
            </a:pPr>
            <a:r>
              <a:rPr lang="en-US" sz="2000" b="1" dirty="0"/>
              <a:t>Create a migration strategy</a:t>
            </a:r>
            <a:br>
              <a:rPr lang="en-US" sz="2000" dirty="0"/>
            </a:br>
            <a:r>
              <a:rPr lang="en-US" sz="2000" dirty="0"/>
              <a:t>The organization decides the best method for migration. Common strategies include re-hosting (lift-and-shift), re-</a:t>
            </a:r>
            <a:r>
              <a:rPr lang="en-US" sz="2000" dirty="0" err="1"/>
              <a:t>platforming</a:t>
            </a:r>
            <a:r>
              <a:rPr lang="en-US" sz="2000" dirty="0"/>
              <a:t>, re-architecting, or replacing the application with a </a:t>
            </a:r>
            <a:r>
              <a:rPr lang="en-US" sz="2000" dirty="0" err="1"/>
              <a:t>SaaS</a:t>
            </a:r>
            <a:r>
              <a:rPr lang="en-US" sz="2000" dirty="0"/>
              <a:t> solution.</a:t>
            </a:r>
          </a:p>
          <a:p>
            <a:pPr marL="457200" indent="-457200">
              <a:buAutoNum type="arabicPlain" startAt="3"/>
            </a:pPr>
            <a:r>
              <a:rPr lang="en-US" sz="2000" b="1" dirty="0"/>
              <a:t>Perform risk analysis</a:t>
            </a:r>
            <a:br>
              <a:rPr lang="en-US" sz="2000" dirty="0"/>
            </a:br>
            <a:r>
              <a:rPr lang="en-US" sz="2000" dirty="0"/>
              <a:t>Security threats, downtime issues, compliance policies, vendor lock-in, and costs are evaluated to understand the possible risks involved in cloud migration.</a:t>
            </a:r>
          </a:p>
          <a:p>
            <a:pPr marL="457200" indent="-457200">
              <a:buAutoNum type="arabicPlain" startAt="3"/>
            </a:pPr>
            <a:r>
              <a:rPr lang="en-US" sz="2000" b="1" dirty="0"/>
              <a:t>Build and test migration plan</a:t>
            </a:r>
            <a:br>
              <a:rPr lang="en-US" sz="2000" dirty="0"/>
            </a:br>
            <a:r>
              <a:rPr lang="en-US" sz="2000" dirty="0"/>
              <a:t>A complete migration plan is prepared including backup, disaster recovery, resource allocation, cut-over strategy, and timelines. A test migration or pilot migration is performed in a controlled environment.</a:t>
            </a:r>
            <a:endParaRPr lang="en-US" sz="2000" dirty="0">
              <a:latin typeface="Times New Roman" panose="02020603050405020304" pitchFamily="18" charset="0"/>
              <a:cs typeface="Times New Roman" panose="02020603050405020304" pitchFamily="18" charset="0"/>
            </a:endParaRPr>
          </a:p>
          <a:p>
            <a:pPr>
              <a:buFont typeface="Arial" pitchFamily="34" charset="0"/>
              <a:buChar char="•"/>
            </a:pPr>
            <a:endParaRPr lang="en-US" sz="2800" dirty="0">
              <a:latin typeface="Times New Roman" panose="02020603050405020304" pitchFamily="18" charset="0"/>
              <a:cs typeface="Times New Roman" panose="02020603050405020304" pitchFamily="18" charset="0"/>
            </a:endParaRPr>
          </a:p>
          <a:p>
            <a:pPr algn="just"/>
            <a:r>
              <a:rPr lang="en-US" sz="2400" dirty="0">
                <a:latin typeface="Adobe Garamond Pro" pitchFamily="18" charset="0"/>
              </a:rPr>
              <a:t>             </a:t>
            </a:r>
            <a:br>
              <a:rPr lang="en-US" dirty="0"/>
            </a:br>
            <a:br>
              <a:rPr lang="en-US" dirty="0"/>
            </a:br>
            <a:r>
              <a:rPr lang="en-US" dirty="0"/>
              <a:t> </a:t>
            </a:r>
            <a:br>
              <a:rPr lang="en-US" dirty="0"/>
            </a:br>
            <a:br>
              <a:rPr lang="en-US" dirty="0"/>
            </a:br>
            <a:endParaRPr lang="en-US" dirty="0"/>
          </a:p>
        </p:txBody>
      </p:sp>
    </p:spTree>
    <p:extLst>
      <p:ext uri="{BB962C8B-B14F-4D97-AF65-F5344CB8AC3E}">
        <p14:creationId xmlns:p14="http://schemas.microsoft.com/office/powerpoint/2010/main" val="772508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299710"/>
            <a:ext cx="8229600" cy="1143000"/>
          </a:xfrm>
        </p:spPr>
        <p:txBody>
          <a:bodyPr>
            <a:normAutofit fontScale="90000"/>
          </a:bodyPr>
          <a:lstStyle/>
          <a:p>
            <a:r>
              <a:rPr lang="en-US" b="1" dirty="0"/>
              <a:t>The Seven-Step Model of Migration into a Cloud</a:t>
            </a:r>
            <a:r>
              <a:rPr lang="en-US" dirty="0"/>
              <a:t> </a:t>
            </a:r>
            <a:endParaRPr lang="en-US" sz="4400" u="sng" dirty="0">
              <a:latin typeface="Times New Roman" panose="02020603050405020304" pitchFamily="18" charset="0"/>
              <a:ea typeface="Adobe Gothic Std B" pitchFamily="34" charset="-128"/>
              <a:cs typeface="Times New Roman" panose="02020603050405020304" pitchFamily="18" charset="0"/>
            </a:endParaRPr>
          </a:p>
        </p:txBody>
      </p:sp>
      <p:sp>
        <p:nvSpPr>
          <p:cNvPr id="7" name="TextBox 6"/>
          <p:cNvSpPr txBox="1"/>
          <p:nvPr/>
        </p:nvSpPr>
        <p:spPr>
          <a:xfrm>
            <a:off x="1447800" y="609600"/>
            <a:ext cx="8991600" cy="523220"/>
          </a:xfrm>
          <a:prstGeom prst="rect">
            <a:avLst/>
          </a:prstGeom>
          <a:noFill/>
        </p:spPr>
        <p:txBody>
          <a:bodyPr wrap="square" rtlCol="0">
            <a:spAutoFit/>
          </a:bodyPr>
          <a:lstStyle/>
          <a:p>
            <a:pPr>
              <a:buFont typeface="Arial" pitchFamily="34" charset="0"/>
              <a:buChar char="•"/>
            </a:pPr>
            <a:endParaRPr lang="en-US" sz="2800" dirty="0">
              <a:solidFill>
                <a:schemeClr val="accent4">
                  <a:lumMod val="20000"/>
                  <a:lumOff val="80000"/>
                </a:schemeClr>
              </a:solidFill>
              <a:effectLst>
                <a:outerShdw blurRad="38100" dist="38100" dir="2700000" algn="tl">
                  <a:srgbClr val="000000">
                    <a:alpha val="43137"/>
                  </a:srgbClr>
                </a:outerShdw>
              </a:effectLst>
              <a:latin typeface="Aharoni" pitchFamily="2" charset="-79"/>
              <a:cs typeface="Aharoni" pitchFamily="2" charset="-79"/>
            </a:endParaRPr>
          </a:p>
        </p:txBody>
      </p:sp>
      <p:sp>
        <p:nvSpPr>
          <p:cNvPr id="10" name="Rectangle 9"/>
          <p:cNvSpPr/>
          <p:nvPr/>
        </p:nvSpPr>
        <p:spPr>
          <a:xfrm>
            <a:off x="381000" y="1828800"/>
            <a:ext cx="7924800" cy="6740307"/>
          </a:xfrm>
          <a:prstGeom prst="rect">
            <a:avLst/>
          </a:prstGeom>
        </p:spPr>
        <p:txBody>
          <a:bodyPr wrap="square">
            <a:spAutoFit/>
          </a:bodyPr>
          <a:lstStyle/>
          <a:p>
            <a:r>
              <a:rPr lang="en-US" sz="2800" b="1" dirty="0"/>
              <a:t>6  Execute migration</a:t>
            </a:r>
            <a:endParaRPr lang="en-US" sz="2800" dirty="0"/>
          </a:p>
          <a:p>
            <a:r>
              <a:rPr lang="en-US" sz="2800" dirty="0"/>
              <a:t>In this phase the actual migration happens. Resources and data are transferred to the cloud, applications are deployed on cloud infrastructure, and performance monitoring begins.</a:t>
            </a:r>
          </a:p>
          <a:p>
            <a:r>
              <a:rPr lang="en-US" sz="2800" b="1" dirty="0"/>
              <a:t>7  Final testing and optimization</a:t>
            </a:r>
            <a:br>
              <a:rPr lang="en-US" sz="2800" dirty="0"/>
            </a:br>
            <a:r>
              <a:rPr lang="en-US" sz="2800" dirty="0"/>
              <a:t>Once migration is complete, all features of the system are tested for performance, security, and scalability. Optimization steps may be taken to reduce cost, improve speed, automate scaling, and configure monitoring tools.</a:t>
            </a:r>
          </a:p>
          <a:p>
            <a:endParaRPr lang="en-US" sz="2800" dirty="0">
              <a:latin typeface="Times New Roman" panose="02020603050405020304" pitchFamily="18" charset="0"/>
              <a:cs typeface="Times New Roman" panose="02020603050405020304" pitchFamily="18" charset="0"/>
            </a:endParaRPr>
          </a:p>
          <a:p>
            <a:pPr algn="just"/>
            <a:r>
              <a:rPr lang="en-US" sz="2400" dirty="0">
                <a:latin typeface="Adobe Garamond Pro" pitchFamily="18" charset="0"/>
              </a:rPr>
              <a:t>             </a:t>
            </a:r>
            <a:br>
              <a:rPr lang="en-US" dirty="0"/>
            </a:br>
            <a:br>
              <a:rPr lang="en-US" dirty="0"/>
            </a:br>
            <a:r>
              <a:rPr lang="en-US" dirty="0"/>
              <a:t> </a:t>
            </a:r>
            <a:br>
              <a:rPr lang="en-US" dirty="0"/>
            </a:br>
            <a:br>
              <a:rPr lang="en-US" dirty="0"/>
            </a:br>
            <a:endParaRPr lang="en-US" dirty="0"/>
          </a:p>
        </p:txBody>
      </p:sp>
    </p:spTree>
    <p:extLst>
      <p:ext uri="{BB962C8B-B14F-4D97-AF65-F5344CB8AC3E}">
        <p14:creationId xmlns:p14="http://schemas.microsoft.com/office/powerpoint/2010/main" val="41394912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TotalTime>
  <Words>1461</Words>
  <Application>Microsoft Office PowerPoint</Application>
  <PresentationFormat>On-screen Show (4:3)</PresentationFormat>
  <Paragraphs>128</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Adobe Garamond Pro</vt:lpstr>
      <vt:lpstr>Aharoni</vt:lpstr>
      <vt:lpstr>Arial</vt:lpstr>
      <vt:lpstr>Calibri</vt:lpstr>
      <vt:lpstr>GraphikRegular</vt:lpstr>
      <vt:lpstr>Noto Sans JP</vt:lpstr>
      <vt:lpstr>Times New Roman</vt:lpstr>
      <vt:lpstr>Office Theme</vt:lpstr>
      <vt:lpstr>Unit IV – Cloud Computing</vt:lpstr>
      <vt:lpstr>Overview of Unit IV</vt:lpstr>
      <vt:lpstr>Cloud Computing</vt:lpstr>
      <vt:lpstr>Deployment models of cloud computing</vt:lpstr>
      <vt:lpstr>PowerPoint Presentation</vt:lpstr>
      <vt:lpstr>PowerPoint Presentation</vt:lpstr>
      <vt:lpstr>Characteristics of cloud computing </vt:lpstr>
      <vt:lpstr>PowerPoint Presentation</vt:lpstr>
      <vt:lpstr>Service models of cloud computing </vt:lpstr>
      <vt:lpstr>The three cloud service models are as follows:  1. Infrastructure as a Service (IaaS) 2. Platform as a Service (PaaS) 3. Software as a Service (SaaS) </vt:lpstr>
      <vt:lpstr>PowerPoint Presentation</vt:lpstr>
      <vt:lpstr>Infrastructure As A Service (IaaS) </vt:lpstr>
      <vt:lpstr>Platform As A Service (PaaS) </vt:lpstr>
      <vt:lpstr>Software As A Service (SaaS) </vt:lpstr>
      <vt:lpstr>PowerPoint Presentation</vt:lpstr>
      <vt:lpstr>Applications of cloud computing</vt:lpstr>
      <vt:lpstr>Challenges in cloud computing</vt:lpstr>
      <vt:lpstr>Cloud computing architecture</vt:lpstr>
      <vt:lpstr>PowerPoint Presentation</vt:lpstr>
      <vt:lpstr>Front End</vt:lpstr>
      <vt:lpstr>Back End</vt:lpstr>
      <vt:lpstr>Different types of cloud computing deployment models:  1. Public 2. Private 3. Community 4. Hybrid </vt:lpstr>
      <vt:lpstr>PowerPoint Presentation</vt:lpstr>
      <vt:lpstr>Public cloud</vt:lpstr>
      <vt:lpstr>Private cloud</vt:lpstr>
      <vt:lpstr>Hybrid cloud</vt:lpstr>
      <vt:lpstr>Community cloud</vt:lpstr>
      <vt:lpstr>The Seven-Step Model of Migration into a Cloud </vt:lpstr>
      <vt:lpstr>The Seven-Step Model of Migration into a Cloud </vt:lpstr>
      <vt:lpstr>The Seven-Step Model of Migration into a Cloud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IV – Cloud Computing</dc:title>
  <dc:subject/>
  <dc:creator/>
  <cp:keywords/>
  <dc:description>generated using python-pptx</dc:description>
  <cp:lastModifiedBy>ISHAAN JAIN</cp:lastModifiedBy>
  <cp:revision>6</cp:revision>
  <dcterms:created xsi:type="dcterms:W3CDTF">2013-01-27T09:14:16Z</dcterms:created>
  <dcterms:modified xsi:type="dcterms:W3CDTF">2025-12-16T19:27:34Z</dcterms:modified>
  <cp:category/>
</cp:coreProperties>
</file>