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76" r:id="rId4"/>
    <p:sldId id="277" r:id="rId5"/>
    <p:sldId id="295" r:id="rId6"/>
    <p:sldId id="278" r:id="rId7"/>
    <p:sldId id="280" r:id="rId8"/>
    <p:sldId id="281" r:id="rId9"/>
    <p:sldId id="283" r:id="rId10"/>
    <p:sldId id="284" r:id="rId11"/>
    <p:sldId id="285" r:id="rId12"/>
    <p:sldId id="262" r:id="rId13"/>
    <p:sldId id="296" r:id="rId14"/>
    <p:sldId id="286" r:id="rId15"/>
    <p:sldId id="263" r:id="rId16"/>
    <p:sldId id="287" r:id="rId17"/>
    <p:sldId id="288" r:id="rId18"/>
    <p:sldId id="270" r:id="rId19"/>
    <p:sldId id="272" r:id="rId20"/>
    <p:sldId id="271" r:id="rId21"/>
    <p:sldId id="274" r:id="rId22"/>
    <p:sldId id="292" r:id="rId23"/>
    <p:sldId id="293" r:id="rId24"/>
    <p:sldId id="275" r:id="rId25"/>
    <p:sldId id="289" r:id="rId26"/>
    <p:sldId id="290" r:id="rId27"/>
    <p:sldId id="297" r:id="rId28"/>
    <p:sldId id="291" r:id="rId29"/>
    <p:sldId id="266" r:id="rId30"/>
    <p:sldId id="267" r:id="rId31"/>
    <p:sldId id="294" r:id="rId32"/>
    <p:sldId id="269"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0" d="100"/>
          <a:sy n="60" d="100"/>
        </p:scale>
        <p:origin x="-1384"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518854-ED2A-419B-9390-DD1DC463C420}" type="datetimeFigureOut">
              <a:rPr lang="en-US" smtClean="0"/>
              <a:t>12/9/2025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A1A4F2-B654-4943-8AFF-69A8E1CF9925}" type="slidenum">
              <a:rPr lang="en-US" smtClean="0"/>
              <a:t>‹#›</a:t>
            </a:fld>
            <a:endParaRPr lang="en-US"/>
          </a:p>
        </p:txBody>
      </p:sp>
    </p:spTree>
    <p:extLst>
      <p:ext uri="{BB962C8B-B14F-4D97-AF65-F5344CB8AC3E}">
        <p14:creationId xmlns:p14="http://schemas.microsoft.com/office/powerpoint/2010/main" val="332519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A1A4F2-B654-4943-8AFF-69A8E1CF9925}" type="slidenum">
              <a:rPr lang="en-US" smtClean="0"/>
              <a:t>10</a:t>
            </a:fld>
            <a:endParaRPr lang="en-US"/>
          </a:p>
        </p:txBody>
      </p:sp>
    </p:spTree>
    <p:extLst>
      <p:ext uri="{BB962C8B-B14F-4D97-AF65-F5344CB8AC3E}">
        <p14:creationId xmlns:p14="http://schemas.microsoft.com/office/powerpoint/2010/main" val="1489127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Unit III – Distributed File Systems &amp; Resource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Overview of Unit III</a:t>
            </a:r>
          </a:p>
        </p:txBody>
      </p:sp>
      <p:sp>
        <p:nvSpPr>
          <p:cNvPr id="3" name="Content Placeholder 2"/>
          <p:cNvSpPr>
            <a:spLocks noGrp="1"/>
          </p:cNvSpPr>
          <p:nvPr>
            <p:ph idx="1"/>
          </p:nvPr>
        </p:nvSpPr>
        <p:spPr/>
        <p:txBody>
          <a:bodyPr/>
          <a:lstStyle/>
          <a:p>
            <a:pPr marL="0" indent="0">
              <a:buNone/>
            </a:pPr>
            <a:r>
              <a:rPr dirty="0"/>
              <a:t>• Distributed File Systems (DFS)</a:t>
            </a:r>
          </a:p>
          <a:p>
            <a:pPr marL="0" indent="0">
              <a:buNone/>
            </a:pPr>
            <a:r>
              <a:rPr dirty="0"/>
              <a:t>• File Models &amp; Accessing Mechanisms</a:t>
            </a:r>
          </a:p>
          <a:p>
            <a:pPr marL="0" indent="0">
              <a:buNone/>
            </a:pPr>
            <a:r>
              <a:rPr dirty="0"/>
              <a:t>• File Replication &amp; Atomic Transactions</a:t>
            </a:r>
          </a:p>
          <a:p>
            <a:pPr marL="0" indent="0">
              <a:buNone/>
            </a:pPr>
            <a:r>
              <a:rPr dirty="0"/>
              <a:t>• Case Study: </a:t>
            </a:r>
            <a:r>
              <a:rPr dirty="0" err="1"/>
              <a:t>Hadoop</a:t>
            </a:r>
            <a:r>
              <a:rPr dirty="0"/>
              <a:t> HDFS</a:t>
            </a:r>
          </a:p>
          <a:p>
            <a:pPr marL="0" indent="0">
              <a:buNone/>
            </a:pPr>
            <a:r>
              <a:rPr dirty="0"/>
              <a:t>• Resource and Process Management</a:t>
            </a:r>
          </a:p>
          <a:p>
            <a:pPr marL="0" indent="0">
              <a:buNone/>
            </a:pPr>
            <a:r>
              <a:rPr dirty="0"/>
              <a:t>• Task Assignment, Load Balancing, Load Sharing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Distributed File Systems </a:t>
            </a:r>
          </a:p>
        </p:txBody>
      </p:sp>
      <p:sp>
        <p:nvSpPr>
          <p:cNvPr id="3" name="Content Placeholder 2"/>
          <p:cNvSpPr>
            <a:spLocks noGrp="1"/>
          </p:cNvSpPr>
          <p:nvPr>
            <p:ph idx="1"/>
          </p:nvPr>
        </p:nvSpPr>
        <p:spPr/>
        <p:txBody>
          <a:bodyPr>
            <a:normAutofit/>
          </a:bodyPr>
          <a:lstStyle/>
          <a:p>
            <a:pPr algn="just"/>
            <a:r>
              <a:rPr lang="en-US" sz="2800" dirty="0"/>
              <a:t>A Distributed File System (DFS) is a file system that enables users to store, access, and manage files across multiple machines in a distributed network as if they were stored on a single local computer. In simple terms, DFS allows files to be shared and accessed from different computers over a network while maintaining consistency, security, and reliability.</a:t>
            </a:r>
          </a:p>
        </p:txBody>
      </p:sp>
    </p:spTree>
    <p:extLst>
      <p:ext uri="{BB962C8B-B14F-4D97-AF65-F5344CB8AC3E}">
        <p14:creationId xmlns:p14="http://schemas.microsoft.com/office/powerpoint/2010/main" val="2125720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 of DFS</a:t>
            </a:r>
          </a:p>
        </p:txBody>
      </p:sp>
      <p:sp>
        <p:nvSpPr>
          <p:cNvPr id="3" name="Content Placeholder 2"/>
          <p:cNvSpPr>
            <a:spLocks noGrp="1"/>
          </p:cNvSpPr>
          <p:nvPr>
            <p:ph idx="1"/>
          </p:nvPr>
        </p:nvSpPr>
        <p:spPr/>
        <p:txBody>
          <a:bodyPr/>
          <a:lstStyle/>
          <a:p>
            <a:r>
              <a:rPr lang="en-US" dirty="0"/>
              <a:t>Provide transparent access to remote </a:t>
            </a:r>
            <a:r>
              <a:rPr lang="en-US" dirty="0" smtClean="0"/>
              <a:t>files</a:t>
            </a:r>
          </a:p>
          <a:p>
            <a:r>
              <a:rPr lang="en-US" dirty="0" smtClean="0"/>
              <a:t>Ensure </a:t>
            </a:r>
            <a:r>
              <a:rPr lang="en-US" dirty="0"/>
              <a:t>data sharing among multiple </a:t>
            </a:r>
            <a:r>
              <a:rPr lang="en-US" dirty="0" smtClean="0"/>
              <a:t>users</a:t>
            </a:r>
          </a:p>
          <a:p>
            <a:r>
              <a:rPr lang="en-US" dirty="0" smtClean="0"/>
              <a:t>Maintain </a:t>
            </a:r>
            <a:r>
              <a:rPr lang="en-US" dirty="0"/>
              <a:t>reliability and fault </a:t>
            </a:r>
            <a:r>
              <a:rPr lang="en-US" dirty="0" smtClean="0"/>
              <a:t>tolerance</a:t>
            </a:r>
          </a:p>
          <a:p>
            <a:r>
              <a:rPr lang="en-US" dirty="0" smtClean="0"/>
              <a:t>Support </a:t>
            </a:r>
            <a:r>
              <a:rPr lang="en-US" dirty="0"/>
              <a:t>scalability (easy expansion of </a:t>
            </a:r>
            <a:r>
              <a:rPr lang="en-US" dirty="0" smtClean="0"/>
              <a:t>storage)</a:t>
            </a:r>
          </a:p>
          <a:p>
            <a:r>
              <a:rPr lang="en-US" dirty="0" smtClean="0"/>
              <a:t>Offer </a:t>
            </a:r>
            <a:r>
              <a:rPr lang="en-US" dirty="0"/>
              <a:t>high performance</a:t>
            </a:r>
          </a:p>
        </p:txBody>
      </p:sp>
    </p:spTree>
    <p:extLst>
      <p:ext uri="{BB962C8B-B14F-4D97-AF65-F5344CB8AC3E}">
        <p14:creationId xmlns:p14="http://schemas.microsoft.com/office/powerpoint/2010/main" val="3084241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Distributed File System</a:t>
            </a:r>
            <a:endParaRPr lang="en-US" b="1" dirty="0"/>
          </a:p>
        </p:txBody>
      </p:sp>
      <p:pic>
        <p:nvPicPr>
          <p:cNvPr id="2050" name="Picture 2" descr="C:\Users\abc\Desktop\VIPS\DistributedSystem_CloudComputing_CIE_407T_CIE_407P\distributed-file-system-diagram.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30045"/>
            <a:ext cx="8229600" cy="4466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643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DFS</a:t>
            </a:r>
          </a:p>
        </p:txBody>
      </p:sp>
      <p:sp>
        <p:nvSpPr>
          <p:cNvPr id="3" name="Content Placeholder 2"/>
          <p:cNvSpPr>
            <a:spLocks noGrp="1"/>
          </p:cNvSpPr>
          <p:nvPr>
            <p:ph idx="1"/>
          </p:nvPr>
        </p:nvSpPr>
        <p:spPr/>
        <p:txBody>
          <a:bodyPr/>
          <a:lstStyle/>
          <a:p>
            <a:r>
              <a:rPr lang="en-US" dirty="0"/>
              <a:t>Servers – Store the actual files</a:t>
            </a:r>
          </a:p>
          <a:p>
            <a:r>
              <a:rPr lang="en-US" dirty="0"/>
              <a:t>Clients – Access files from servers</a:t>
            </a:r>
          </a:p>
          <a:p>
            <a:r>
              <a:rPr lang="en-US" dirty="0"/>
              <a:t>Naming System – Maps file names to their actual location</a:t>
            </a:r>
          </a:p>
          <a:p>
            <a:r>
              <a:rPr lang="en-US" dirty="0"/>
              <a:t>Communication Protocols – Ensure secure transfer of data</a:t>
            </a:r>
          </a:p>
          <a:p>
            <a:endParaRPr lang="en-US" dirty="0"/>
          </a:p>
        </p:txBody>
      </p:sp>
    </p:spTree>
    <p:extLst>
      <p:ext uri="{BB962C8B-B14F-4D97-AF65-F5344CB8AC3E}">
        <p14:creationId xmlns:p14="http://schemas.microsoft.com/office/powerpoint/2010/main" val="1432306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File Models</a:t>
            </a:r>
          </a:p>
        </p:txBody>
      </p:sp>
      <p:sp>
        <p:nvSpPr>
          <p:cNvPr id="3" name="Content Placeholder 2"/>
          <p:cNvSpPr>
            <a:spLocks noGrp="1"/>
          </p:cNvSpPr>
          <p:nvPr>
            <p:ph idx="1"/>
          </p:nvPr>
        </p:nvSpPr>
        <p:spPr/>
        <p:txBody>
          <a:bodyPr>
            <a:normAutofit fontScale="70000" lnSpcReduction="20000"/>
          </a:bodyPr>
          <a:lstStyle/>
          <a:p>
            <a:pPr algn="just"/>
            <a:r>
              <a:rPr lang="en-US" dirty="0"/>
              <a:t>A file model defines how a file is accessed and updated in a distributed environment. It represents the rules and structure to manage file operations </a:t>
            </a:r>
            <a:r>
              <a:rPr lang="en-US" dirty="0" smtClean="0"/>
              <a:t>across </a:t>
            </a:r>
            <a:r>
              <a:rPr lang="en-US" dirty="0"/>
              <a:t>multiple machines</a:t>
            </a:r>
            <a:r>
              <a:rPr lang="en-US" dirty="0" smtClean="0"/>
              <a:t>.</a:t>
            </a:r>
          </a:p>
          <a:p>
            <a:pPr marL="0" indent="0" algn="ctr">
              <a:buNone/>
            </a:pPr>
            <a:r>
              <a:rPr lang="en-US" b="1" dirty="0"/>
              <a:t>Common file models in </a:t>
            </a:r>
            <a:r>
              <a:rPr lang="en-US" b="1" dirty="0" smtClean="0"/>
              <a:t>DFS</a:t>
            </a:r>
            <a:endParaRPr lang="en-US" b="1" dirty="0"/>
          </a:p>
          <a:p>
            <a:pPr algn="just"/>
            <a:r>
              <a:rPr lang="en-US" b="1" dirty="0"/>
              <a:t>Ordinary File </a:t>
            </a:r>
            <a:r>
              <a:rPr lang="en-US" b="1" dirty="0" smtClean="0"/>
              <a:t>Model: </a:t>
            </a:r>
            <a:r>
              <a:rPr lang="en-US" dirty="0" smtClean="0"/>
              <a:t>Treats </a:t>
            </a:r>
            <a:r>
              <a:rPr lang="en-US" dirty="0"/>
              <a:t>a file as a sequence of bytes. Any type of data (text, image, audio) is supported and the system does not interpret its contents.</a:t>
            </a:r>
          </a:p>
          <a:p>
            <a:pPr algn="just"/>
            <a:r>
              <a:rPr lang="en-US" b="1" dirty="0"/>
              <a:t>Structured File </a:t>
            </a:r>
            <a:r>
              <a:rPr lang="en-US" b="1" dirty="0" smtClean="0"/>
              <a:t>Model</a:t>
            </a:r>
            <a:r>
              <a:rPr lang="en-US" dirty="0" smtClean="0"/>
              <a:t>: Represents </a:t>
            </a:r>
            <a:r>
              <a:rPr lang="en-US" dirty="0"/>
              <a:t>a file as a collection of records (for example, each record in a database). Supports direct access to records instead of reading the whole file.</a:t>
            </a:r>
          </a:p>
          <a:p>
            <a:pPr algn="just"/>
            <a:r>
              <a:rPr lang="en-US" b="1" dirty="0"/>
              <a:t>Shared File </a:t>
            </a:r>
            <a:r>
              <a:rPr lang="en-US" b="1" dirty="0" smtClean="0"/>
              <a:t>Model</a:t>
            </a:r>
            <a:r>
              <a:rPr lang="en-US" dirty="0" smtClean="0"/>
              <a:t>: Allows </a:t>
            </a:r>
            <a:r>
              <a:rPr lang="en-US" dirty="0"/>
              <a:t>files to be accessed and shared by multiple users or processes simultaneously.</a:t>
            </a:r>
          </a:p>
          <a:p>
            <a:pPr algn="just"/>
            <a:r>
              <a:rPr lang="en-US" b="1" dirty="0"/>
              <a:t>Transaction File </a:t>
            </a:r>
            <a:r>
              <a:rPr lang="en-US" b="1" dirty="0" smtClean="0"/>
              <a:t>Model</a:t>
            </a:r>
            <a:r>
              <a:rPr lang="en-US" dirty="0" smtClean="0"/>
              <a:t>: Uses </a:t>
            </a:r>
            <a:r>
              <a:rPr lang="en-US" dirty="0"/>
              <a:t>ACID (Atomicity, Consistency, Isolation, Durability) properties and supports rollback and commit. Useful for banking and database-like systems.</a:t>
            </a:r>
          </a:p>
          <a:p>
            <a:endParaRPr lang="en-US" dirty="0"/>
          </a:p>
        </p:txBody>
      </p:sp>
    </p:spTree>
    <p:extLst>
      <p:ext uri="{BB962C8B-B14F-4D97-AF65-F5344CB8AC3E}">
        <p14:creationId xmlns:p14="http://schemas.microsoft.com/office/powerpoint/2010/main" val="802031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Accessing Mechanisms</a:t>
            </a:r>
          </a:p>
        </p:txBody>
      </p:sp>
      <p:sp>
        <p:nvSpPr>
          <p:cNvPr id="3" name="Content Placeholder 2"/>
          <p:cNvSpPr>
            <a:spLocks noGrp="1"/>
          </p:cNvSpPr>
          <p:nvPr>
            <p:ph idx="1"/>
          </p:nvPr>
        </p:nvSpPr>
        <p:spPr/>
        <p:txBody>
          <a:bodyPr>
            <a:normAutofit/>
          </a:bodyPr>
          <a:lstStyle/>
          <a:p>
            <a:pPr algn="just"/>
            <a:r>
              <a:rPr lang="en-US" sz="2800" dirty="0"/>
              <a:t>Accessing mechanisms define how clients interact with servers to access or modify files stored remotely in a DFS</a:t>
            </a:r>
            <a:r>
              <a:rPr lang="en-US" sz="2800" dirty="0" smtClean="0"/>
              <a:t>.</a:t>
            </a:r>
          </a:p>
          <a:p>
            <a:pPr marL="0" indent="0" algn="ctr">
              <a:buNone/>
            </a:pPr>
            <a:r>
              <a:rPr lang="en-US" sz="2800" b="1" dirty="0" smtClean="0"/>
              <a:t>4-Types</a:t>
            </a:r>
          </a:p>
          <a:p>
            <a:pPr algn="just"/>
            <a:r>
              <a:rPr lang="en-US" sz="2800" dirty="0"/>
              <a:t>Remote Access </a:t>
            </a:r>
            <a:r>
              <a:rPr lang="en-US" sz="2800" dirty="0" smtClean="0"/>
              <a:t>Technique</a:t>
            </a:r>
          </a:p>
          <a:p>
            <a:pPr algn="just"/>
            <a:r>
              <a:rPr lang="en-US" sz="2800" dirty="0"/>
              <a:t>Upload/Download Technique</a:t>
            </a:r>
            <a:endParaRPr lang="en-US" sz="2800" dirty="0" smtClean="0"/>
          </a:p>
          <a:p>
            <a:pPr algn="just"/>
            <a:r>
              <a:rPr lang="en-US" sz="2800" dirty="0"/>
              <a:t>Caching </a:t>
            </a:r>
            <a:r>
              <a:rPr lang="en-US" sz="2800" dirty="0" smtClean="0"/>
              <a:t>Technique</a:t>
            </a:r>
          </a:p>
          <a:p>
            <a:pPr algn="just"/>
            <a:r>
              <a:rPr lang="en-US" sz="2800" dirty="0"/>
              <a:t>Block Access (Low-level access)</a:t>
            </a:r>
            <a:endParaRPr lang="en-US" sz="2800" dirty="0" smtClean="0"/>
          </a:p>
          <a:p>
            <a:pPr algn="just"/>
            <a:endParaRPr lang="en-US" sz="2800" dirty="0"/>
          </a:p>
        </p:txBody>
      </p:sp>
    </p:spTree>
    <p:extLst>
      <p:ext uri="{BB962C8B-B14F-4D97-AF65-F5344CB8AC3E}">
        <p14:creationId xmlns:p14="http://schemas.microsoft.com/office/powerpoint/2010/main" val="3730194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7937"/>
            <a:ext cx="8229600" cy="1143000"/>
          </a:xfrm>
        </p:spPr>
        <p:txBody>
          <a:bodyPr>
            <a:normAutofit/>
          </a:bodyPr>
          <a:lstStyle/>
          <a:p>
            <a:r>
              <a:rPr lang="en-US" sz="3200" b="1" dirty="0"/>
              <a:t>Accessing Mechanisms</a:t>
            </a:r>
            <a:endParaRPr lang="en-US" sz="3200" dirty="0"/>
          </a:p>
        </p:txBody>
      </p:sp>
      <p:sp>
        <p:nvSpPr>
          <p:cNvPr id="3" name="Content Placeholder 2"/>
          <p:cNvSpPr>
            <a:spLocks noGrp="1"/>
          </p:cNvSpPr>
          <p:nvPr>
            <p:ph idx="1"/>
          </p:nvPr>
        </p:nvSpPr>
        <p:spPr>
          <a:xfrm>
            <a:off x="457200" y="1190848"/>
            <a:ext cx="8229600" cy="5156790"/>
          </a:xfrm>
        </p:spPr>
        <p:txBody>
          <a:bodyPr>
            <a:noAutofit/>
          </a:bodyPr>
          <a:lstStyle/>
          <a:p>
            <a:r>
              <a:rPr lang="en-US" sz="1800" b="1" dirty="0"/>
              <a:t>Remote Access Technique</a:t>
            </a:r>
            <a:r>
              <a:rPr lang="en-US" sz="1800" dirty="0"/>
              <a:t/>
            </a:r>
            <a:br>
              <a:rPr lang="en-US" sz="1800" dirty="0"/>
            </a:br>
            <a:r>
              <a:rPr lang="en-US" sz="1800" dirty="0"/>
              <a:t>• All operations (open, read, write, close) are performed directly on the remote server.</a:t>
            </a:r>
            <a:br>
              <a:rPr lang="en-US" sz="1800" dirty="0"/>
            </a:br>
            <a:r>
              <a:rPr lang="en-US" sz="1800" dirty="0"/>
              <a:t>• The client sends requests over the network.</a:t>
            </a:r>
            <a:br>
              <a:rPr lang="en-US" sz="1800" dirty="0"/>
            </a:br>
            <a:r>
              <a:rPr lang="en-US" sz="1800" dirty="0"/>
              <a:t>• Suitable when files are large or rarely used.</a:t>
            </a:r>
            <a:br>
              <a:rPr lang="en-US" sz="1800" dirty="0"/>
            </a:br>
            <a:r>
              <a:rPr lang="en-US" sz="1800" dirty="0"/>
              <a:t>• Disadvantage: high network traffic.</a:t>
            </a:r>
          </a:p>
          <a:p>
            <a:r>
              <a:rPr lang="en-US" sz="1800" b="1" dirty="0"/>
              <a:t>Upload/Download Technique</a:t>
            </a:r>
            <a:r>
              <a:rPr lang="en-US" sz="1800" dirty="0"/>
              <a:t/>
            </a:r>
            <a:br>
              <a:rPr lang="en-US" sz="1800" dirty="0"/>
            </a:br>
            <a:r>
              <a:rPr lang="en-US" sz="1800" dirty="0"/>
              <a:t>• Also called the remote file copy model.</a:t>
            </a:r>
            <a:br>
              <a:rPr lang="en-US" sz="1800" dirty="0"/>
            </a:br>
            <a:r>
              <a:rPr lang="en-US" sz="1800" dirty="0"/>
              <a:t>• The file is first copied from the server to the client.</a:t>
            </a:r>
            <a:br>
              <a:rPr lang="en-US" sz="1800" dirty="0"/>
            </a:br>
            <a:r>
              <a:rPr lang="en-US" sz="1800" dirty="0"/>
              <a:t>• Client edits the file locally and uploads it back after modifications.</a:t>
            </a:r>
            <a:br>
              <a:rPr lang="en-US" sz="1800" dirty="0"/>
            </a:br>
            <a:r>
              <a:rPr lang="en-US" sz="1800" dirty="0"/>
              <a:t>• Advantage: low network usage during editing.</a:t>
            </a:r>
            <a:br>
              <a:rPr lang="en-US" sz="1800" dirty="0"/>
            </a:br>
            <a:r>
              <a:rPr lang="en-US" sz="1800" dirty="0"/>
              <a:t>• Disadvantage: conflict may occur if multiple clients edit the same file</a:t>
            </a:r>
            <a:r>
              <a:rPr lang="en-US" sz="1800" dirty="0" smtClean="0"/>
              <a:t>.</a:t>
            </a:r>
          </a:p>
          <a:p>
            <a:r>
              <a:rPr lang="en-US" sz="1800" b="1" dirty="0" smtClean="0"/>
              <a:t>Caching Technique</a:t>
            </a:r>
            <a:r>
              <a:rPr lang="en-US" sz="1800" dirty="0" smtClean="0"/>
              <a:t/>
            </a:r>
            <a:br>
              <a:rPr lang="en-US" sz="1800" dirty="0" smtClean="0"/>
            </a:br>
            <a:r>
              <a:rPr lang="en-US" sz="1800" dirty="0" smtClean="0"/>
              <a:t>• A copy of the file (or part of it) is stored temporarily on the client side.</a:t>
            </a:r>
            <a:br>
              <a:rPr lang="en-US" sz="1800" dirty="0" smtClean="0"/>
            </a:br>
            <a:r>
              <a:rPr lang="en-US" sz="1800" dirty="0" smtClean="0"/>
              <a:t>• Access becomes faster because repeated requests do not always go to the server.</a:t>
            </a:r>
            <a:br>
              <a:rPr lang="en-US" sz="1800" dirty="0" smtClean="0"/>
            </a:br>
            <a:r>
              <a:rPr lang="en-US" sz="1800" dirty="0" smtClean="0"/>
              <a:t>• Needs cache consistency protocols to ensure the latest version of the file.</a:t>
            </a:r>
          </a:p>
          <a:p>
            <a:r>
              <a:rPr lang="en-US" sz="1800" b="1" dirty="0" smtClean="0"/>
              <a:t>Block Access (Low-level access)</a:t>
            </a:r>
            <a:r>
              <a:rPr lang="en-US" sz="1800" dirty="0" smtClean="0"/>
              <a:t/>
            </a:r>
            <a:br>
              <a:rPr lang="en-US" sz="1800" dirty="0" smtClean="0"/>
            </a:br>
            <a:r>
              <a:rPr lang="en-US" sz="1800" dirty="0" smtClean="0"/>
              <a:t>• Instead of reading the whole file, small chunks or blocks are accessed directly.</a:t>
            </a:r>
            <a:br>
              <a:rPr lang="en-US" sz="1800" dirty="0" smtClean="0"/>
            </a:br>
            <a:r>
              <a:rPr lang="en-US" sz="1800" dirty="0" smtClean="0"/>
              <a:t>• Useful for distributed databases and cloud storage systems.</a:t>
            </a:r>
          </a:p>
          <a:p>
            <a:endParaRPr lang="en-US" sz="1600" dirty="0"/>
          </a:p>
        </p:txBody>
      </p:sp>
    </p:spTree>
    <p:extLst>
      <p:ext uri="{BB962C8B-B14F-4D97-AF65-F5344CB8AC3E}">
        <p14:creationId xmlns:p14="http://schemas.microsoft.com/office/powerpoint/2010/main" val="1609806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2893"/>
            <a:ext cx="8229600" cy="1143000"/>
          </a:xfrm>
        </p:spPr>
        <p:txBody>
          <a:bodyPr>
            <a:normAutofit fontScale="90000"/>
          </a:bodyPr>
          <a:lstStyle/>
          <a:p>
            <a:r>
              <a:rPr lang="en-US" b="1" dirty="0"/>
              <a:t>File Replication</a:t>
            </a:r>
            <a:r>
              <a:rPr lang="en-US" dirty="0"/>
              <a:t/>
            </a:r>
            <a:br>
              <a:rPr lang="en-US" dirty="0"/>
            </a:br>
            <a:endParaRPr lang="en-US" dirty="0"/>
          </a:p>
        </p:txBody>
      </p:sp>
      <p:sp>
        <p:nvSpPr>
          <p:cNvPr id="3" name="Content Placeholder 2"/>
          <p:cNvSpPr>
            <a:spLocks noGrp="1"/>
          </p:cNvSpPr>
          <p:nvPr>
            <p:ph idx="1"/>
          </p:nvPr>
        </p:nvSpPr>
        <p:spPr>
          <a:xfrm>
            <a:off x="457200" y="1244010"/>
            <a:ext cx="8229600" cy="4882154"/>
          </a:xfrm>
        </p:spPr>
        <p:txBody>
          <a:bodyPr>
            <a:normAutofit/>
          </a:bodyPr>
          <a:lstStyle/>
          <a:p>
            <a:pPr algn="just"/>
            <a:r>
              <a:rPr lang="en-US" sz="2800" dirty="0" smtClean="0"/>
              <a:t>File </a:t>
            </a:r>
            <a:r>
              <a:rPr lang="en-US" sz="2800" dirty="0"/>
              <a:t>replication means keeping multiple copies of the same file on different servers or nodes in a distributed system. The goal is to improve reliability, availability, and </a:t>
            </a:r>
            <a:r>
              <a:rPr lang="en-US" sz="2800" dirty="0" smtClean="0"/>
              <a:t>performance.</a:t>
            </a:r>
          </a:p>
          <a:p>
            <a:pPr marL="0" indent="0">
              <a:buNone/>
            </a:pPr>
            <a:r>
              <a:rPr lang="en-US" sz="2800" b="1" dirty="0" smtClean="0"/>
              <a:t>Reasons </a:t>
            </a:r>
            <a:r>
              <a:rPr lang="en-US" sz="2800" b="1" dirty="0"/>
              <a:t>for file replication:</a:t>
            </a:r>
            <a:r>
              <a:rPr lang="en-US" sz="2800" dirty="0"/>
              <a:t/>
            </a:r>
            <a:br>
              <a:rPr lang="en-US" sz="2800" dirty="0"/>
            </a:br>
            <a:r>
              <a:rPr lang="en-US" sz="2800" dirty="0"/>
              <a:t>• To ensure that data is still accessible even if one server fails</a:t>
            </a:r>
            <a:br>
              <a:rPr lang="en-US" sz="2800" dirty="0"/>
            </a:br>
            <a:r>
              <a:rPr lang="en-US" sz="2800" dirty="0"/>
              <a:t>• To reduce access time by placing copies closer to users</a:t>
            </a:r>
            <a:br>
              <a:rPr lang="en-US" sz="2800" dirty="0"/>
            </a:br>
            <a:r>
              <a:rPr lang="en-US" sz="2800" dirty="0"/>
              <a:t>• To balance the load when many clients try to access the same file</a:t>
            </a:r>
          </a:p>
          <a:p>
            <a:endParaRPr lang="en-US" dirty="0"/>
          </a:p>
        </p:txBody>
      </p:sp>
    </p:spTree>
    <p:extLst>
      <p:ext uri="{BB962C8B-B14F-4D97-AF65-F5344CB8AC3E}">
        <p14:creationId xmlns:p14="http://schemas.microsoft.com/office/powerpoint/2010/main" val="626368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7080"/>
            <a:ext cx="8229600" cy="5839084"/>
          </a:xfrm>
        </p:spPr>
        <p:txBody>
          <a:bodyPr>
            <a:normAutofit fontScale="92500" lnSpcReduction="20000"/>
          </a:bodyPr>
          <a:lstStyle/>
          <a:p>
            <a:pPr marL="0" indent="0">
              <a:buNone/>
            </a:pPr>
            <a:r>
              <a:rPr lang="en-US" b="1" dirty="0"/>
              <a:t>Benefits of file </a:t>
            </a:r>
            <a:r>
              <a:rPr lang="en-US" b="1" dirty="0" smtClean="0"/>
              <a:t>replication</a:t>
            </a:r>
            <a:r>
              <a:rPr lang="en-US" dirty="0"/>
              <a:t/>
            </a:r>
            <a:br>
              <a:rPr lang="en-US" dirty="0"/>
            </a:br>
            <a:r>
              <a:rPr lang="en-US" dirty="0"/>
              <a:t>• High availability: users can access the file even if one replica is unavailable</a:t>
            </a:r>
            <a:br>
              <a:rPr lang="en-US" dirty="0"/>
            </a:br>
            <a:r>
              <a:rPr lang="en-US" dirty="0"/>
              <a:t>• Fault tolerance: system continues working during server or network failures</a:t>
            </a:r>
            <a:br>
              <a:rPr lang="en-US" dirty="0"/>
            </a:br>
            <a:r>
              <a:rPr lang="en-US" dirty="0"/>
              <a:t>• Improved read performance: multiple servers can serve requests simultaneously</a:t>
            </a:r>
          </a:p>
          <a:p>
            <a:pPr marL="0" indent="0">
              <a:buNone/>
            </a:pPr>
            <a:r>
              <a:rPr lang="en-US" b="1" dirty="0"/>
              <a:t>Challenges of file </a:t>
            </a:r>
            <a:r>
              <a:rPr lang="en-US" b="1" dirty="0" smtClean="0"/>
              <a:t>replication</a:t>
            </a:r>
            <a:r>
              <a:rPr lang="en-US" dirty="0"/>
              <a:t/>
            </a:r>
            <a:br>
              <a:rPr lang="en-US" dirty="0"/>
            </a:br>
            <a:r>
              <a:rPr lang="en-US" dirty="0"/>
              <a:t>• Keeping all replicas consistent when updates occur</a:t>
            </a:r>
            <a:br>
              <a:rPr lang="en-US" dirty="0"/>
            </a:br>
            <a:r>
              <a:rPr lang="en-US" dirty="0"/>
              <a:t>• Managing synchronization when many users edit files</a:t>
            </a:r>
            <a:br>
              <a:rPr lang="en-US" dirty="0"/>
            </a:br>
            <a:r>
              <a:rPr lang="en-US" dirty="0"/>
              <a:t>• Extra storage space required for maintaining multiple copies</a:t>
            </a:r>
          </a:p>
          <a:p>
            <a:endParaRPr lang="en-US" dirty="0"/>
          </a:p>
        </p:txBody>
      </p:sp>
    </p:spTree>
    <p:extLst>
      <p:ext uri="{BB962C8B-B14F-4D97-AF65-F5344CB8AC3E}">
        <p14:creationId xmlns:p14="http://schemas.microsoft.com/office/powerpoint/2010/main" val="110769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Atomic Transactions in DFS</a:t>
            </a:r>
          </a:p>
        </p:txBody>
      </p:sp>
      <p:sp>
        <p:nvSpPr>
          <p:cNvPr id="3" name="Content Placeholder 2"/>
          <p:cNvSpPr>
            <a:spLocks noGrp="1"/>
          </p:cNvSpPr>
          <p:nvPr>
            <p:ph idx="1"/>
          </p:nvPr>
        </p:nvSpPr>
        <p:spPr/>
        <p:txBody>
          <a:bodyPr>
            <a:normAutofit fontScale="85000" lnSpcReduction="10000"/>
          </a:bodyPr>
          <a:lstStyle/>
          <a:p>
            <a:pPr algn="just"/>
            <a:r>
              <a:rPr lang="en-US" sz="2800" dirty="0" smtClean="0"/>
              <a:t>An </a:t>
            </a:r>
            <a:r>
              <a:rPr lang="en-US" sz="2800" dirty="0"/>
              <a:t>atomic transaction refers to a set of file operations that are treated as a single unit: either all operations are completed successfully or none of them are applied. This ensures that the file system never remains in an inconsistent state</a:t>
            </a:r>
            <a:r>
              <a:rPr lang="en-US" sz="2800" dirty="0" smtClean="0"/>
              <a:t>.</a:t>
            </a:r>
          </a:p>
          <a:p>
            <a:pPr marL="0" indent="0">
              <a:buNone/>
            </a:pPr>
            <a:r>
              <a:rPr lang="en-US" sz="2800" b="1" dirty="0"/>
              <a:t>Atomic transactions are based on ACID properties:</a:t>
            </a:r>
            <a:r>
              <a:rPr lang="en-US" sz="2800" dirty="0"/>
              <a:t/>
            </a:r>
            <a:br>
              <a:rPr lang="en-US" sz="2800" dirty="0"/>
            </a:br>
            <a:r>
              <a:rPr lang="en-US" sz="2800" dirty="0"/>
              <a:t>• Atomicity – the transaction is indivisible; it fully completes or fully aborts</a:t>
            </a:r>
            <a:br>
              <a:rPr lang="en-US" sz="2800" dirty="0"/>
            </a:br>
            <a:r>
              <a:rPr lang="en-US" sz="2800" dirty="0"/>
              <a:t>• Consistency – the file system remains in a correct state after the transaction</a:t>
            </a:r>
            <a:br>
              <a:rPr lang="en-US" sz="2800" dirty="0"/>
            </a:br>
            <a:r>
              <a:rPr lang="en-US" sz="2800" dirty="0"/>
              <a:t>• Isolation – multiple transactions do not interfere with each other</a:t>
            </a:r>
            <a:br>
              <a:rPr lang="en-US" sz="2800" dirty="0"/>
            </a:br>
            <a:r>
              <a:rPr lang="en-US" sz="2800" dirty="0"/>
              <a:t>• Durability – once committed, results are permanent even after failures</a:t>
            </a:r>
          </a:p>
          <a:p>
            <a:endParaRP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abc\Desktop\VIPS\DistributedSystem_CloudComputing_CIE_407T_CIE_407P\Screenshot 2025-12-09 193524.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7321" y="510362"/>
            <a:ext cx="8112642" cy="5741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174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55182"/>
            <a:ext cx="8229600" cy="5870982"/>
          </a:xfrm>
        </p:spPr>
        <p:txBody>
          <a:bodyPr>
            <a:normAutofit fontScale="85000" lnSpcReduction="20000"/>
          </a:bodyPr>
          <a:lstStyle/>
          <a:p>
            <a:pPr marL="0" indent="0" algn="ctr">
              <a:buNone/>
            </a:pPr>
            <a:r>
              <a:rPr lang="en-US" b="1" dirty="0"/>
              <a:t>Two-Phase Commit Protocol (2PC) for atomic </a:t>
            </a:r>
            <a:r>
              <a:rPr lang="en-US" b="1" dirty="0" smtClean="0"/>
              <a:t>transactions</a:t>
            </a:r>
            <a:endParaRPr lang="en-US" b="1" dirty="0"/>
          </a:p>
          <a:p>
            <a:r>
              <a:rPr lang="en-US" b="1" dirty="0"/>
              <a:t>Voting phase </a:t>
            </a:r>
            <a:r>
              <a:rPr lang="en-US" dirty="0"/>
              <a:t>– the coordinator asks all servers whether they are ready to commit</a:t>
            </a:r>
          </a:p>
          <a:p>
            <a:r>
              <a:rPr lang="en-US" b="1" dirty="0"/>
              <a:t>Commit phase </a:t>
            </a:r>
            <a:r>
              <a:rPr lang="en-US" dirty="0"/>
              <a:t>– if all servers agree, the coordinator commits the transaction; otherwise, it aborts</a:t>
            </a:r>
          </a:p>
          <a:p>
            <a:pPr marL="0" indent="0">
              <a:buNone/>
            </a:pPr>
            <a:r>
              <a:rPr lang="en-US" b="1" dirty="0"/>
              <a:t>Advantages of atomic </a:t>
            </a:r>
            <a:r>
              <a:rPr lang="en-US" b="1" dirty="0" smtClean="0"/>
              <a:t>transactions</a:t>
            </a:r>
            <a:r>
              <a:rPr lang="en-US" b="1" dirty="0"/>
              <a:t/>
            </a:r>
            <a:br>
              <a:rPr lang="en-US" b="1" dirty="0"/>
            </a:br>
            <a:r>
              <a:rPr lang="en-US" dirty="0"/>
              <a:t>• Guarantees safe file updates in distributed environments</a:t>
            </a:r>
            <a:br>
              <a:rPr lang="en-US" dirty="0"/>
            </a:br>
            <a:r>
              <a:rPr lang="en-US" dirty="0"/>
              <a:t>• Prevents partial updates or corrupted data</a:t>
            </a:r>
            <a:br>
              <a:rPr lang="en-US" dirty="0"/>
            </a:br>
            <a:r>
              <a:rPr lang="en-US" dirty="0"/>
              <a:t>• Ensures reliability even during system crashes</a:t>
            </a:r>
          </a:p>
          <a:p>
            <a:pPr marL="0" indent="0">
              <a:buNone/>
            </a:pPr>
            <a:r>
              <a:rPr lang="en-US" b="1" dirty="0"/>
              <a:t>Use </a:t>
            </a:r>
            <a:r>
              <a:rPr lang="en-US" b="1" dirty="0" smtClean="0"/>
              <a:t>cases</a:t>
            </a:r>
            <a:r>
              <a:rPr lang="en-US" dirty="0"/>
              <a:t/>
            </a:r>
            <a:br>
              <a:rPr lang="en-US" dirty="0"/>
            </a:br>
            <a:r>
              <a:rPr lang="en-US" dirty="0"/>
              <a:t>• Banking and financial applications</a:t>
            </a:r>
            <a:br>
              <a:rPr lang="en-US" dirty="0"/>
            </a:br>
            <a:r>
              <a:rPr lang="en-US" dirty="0"/>
              <a:t>• Reservation systems</a:t>
            </a:r>
            <a:br>
              <a:rPr lang="en-US" dirty="0"/>
            </a:br>
            <a:r>
              <a:rPr lang="en-US" dirty="0"/>
              <a:t>• E-commerce transactions</a:t>
            </a:r>
            <a:br>
              <a:rPr lang="en-US" dirty="0"/>
            </a:br>
            <a:r>
              <a:rPr lang="en-US" dirty="0"/>
              <a:t>• Distributed databases and cloud systems</a:t>
            </a:r>
          </a:p>
          <a:p>
            <a:endParaRPr lang="en-US" dirty="0"/>
          </a:p>
        </p:txBody>
      </p:sp>
    </p:spTree>
    <p:extLst>
      <p:ext uri="{BB962C8B-B14F-4D97-AF65-F5344CB8AC3E}">
        <p14:creationId xmlns:p14="http://schemas.microsoft.com/office/powerpoint/2010/main" val="570617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Case Study – </a:t>
            </a:r>
            <a:r>
              <a:rPr b="1" dirty="0" err="1"/>
              <a:t>Hadoop</a:t>
            </a:r>
            <a:r>
              <a:rPr b="1" dirty="0"/>
              <a:t> HDFS</a:t>
            </a:r>
          </a:p>
        </p:txBody>
      </p:sp>
      <p:sp>
        <p:nvSpPr>
          <p:cNvPr id="3" name="Content Placeholder 2"/>
          <p:cNvSpPr>
            <a:spLocks noGrp="1"/>
          </p:cNvSpPr>
          <p:nvPr>
            <p:ph idx="1"/>
          </p:nvPr>
        </p:nvSpPr>
        <p:spPr/>
        <p:txBody>
          <a:bodyPr/>
          <a:lstStyle/>
          <a:p>
            <a:pPr algn="just"/>
            <a:r>
              <a:rPr dirty="0" smtClean="0"/>
              <a:t> </a:t>
            </a:r>
            <a:r>
              <a:rPr lang="en-US" sz="2800" dirty="0"/>
              <a:t>HDFS (</a:t>
            </a:r>
            <a:r>
              <a:rPr lang="en-US" sz="2800" dirty="0" err="1"/>
              <a:t>Hadoop</a:t>
            </a:r>
            <a:r>
              <a:rPr lang="en-US" sz="2800" dirty="0"/>
              <a:t> Distributed File System) is a distributed file system designed to store and process very large datasets across clusters of commodity hardware. It is one of the core components of the Apache </a:t>
            </a:r>
            <a:r>
              <a:rPr lang="en-US" sz="2800" dirty="0" err="1"/>
              <a:t>Hadoop</a:t>
            </a:r>
            <a:r>
              <a:rPr lang="en-US" sz="2800" dirty="0"/>
              <a:t> framework</a:t>
            </a:r>
            <a:r>
              <a:rPr lang="en-US" sz="2800" dirty="0" smtClean="0"/>
              <a:t>.</a:t>
            </a:r>
          </a:p>
          <a:p>
            <a:pPr algn="just"/>
            <a:r>
              <a:rPr lang="en-US" sz="2800" dirty="0"/>
              <a:t>HDFS follows a write-once and read-many access model, making it suitable for big data analytics rather than frequent file updates.</a:t>
            </a:r>
            <a:endParaRPr sz="2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Architecture of HDFS</a:t>
            </a:r>
          </a:p>
        </p:txBody>
      </p:sp>
      <p:sp>
        <p:nvSpPr>
          <p:cNvPr id="3" name="Content Placeholder 2"/>
          <p:cNvSpPr>
            <a:spLocks noGrp="1"/>
          </p:cNvSpPr>
          <p:nvPr>
            <p:ph idx="1"/>
          </p:nvPr>
        </p:nvSpPr>
        <p:spPr>
          <a:xfrm>
            <a:off x="457200" y="1307806"/>
            <a:ext cx="8229600" cy="4818358"/>
          </a:xfrm>
        </p:spPr>
        <p:txBody>
          <a:bodyPr>
            <a:normAutofit fontScale="92500" lnSpcReduction="20000"/>
          </a:bodyPr>
          <a:lstStyle/>
          <a:p>
            <a:pPr marL="0" indent="0">
              <a:buNone/>
            </a:pPr>
            <a:r>
              <a:rPr lang="en-US" dirty="0" smtClean="0"/>
              <a:t>HDFS </a:t>
            </a:r>
            <a:r>
              <a:rPr lang="en-US" dirty="0"/>
              <a:t>uses a master–slave architecture with two main components:</a:t>
            </a:r>
          </a:p>
          <a:p>
            <a:pPr marL="0" indent="0">
              <a:buNone/>
            </a:pPr>
            <a:r>
              <a:rPr lang="en-US" b="1" dirty="0" err="1"/>
              <a:t>NameNode</a:t>
            </a:r>
            <a:r>
              <a:rPr lang="en-US" dirty="0"/>
              <a:t/>
            </a:r>
            <a:br>
              <a:rPr lang="en-US" dirty="0"/>
            </a:br>
            <a:r>
              <a:rPr lang="en-US" dirty="0"/>
              <a:t>• Acts as the master server</a:t>
            </a:r>
            <a:br>
              <a:rPr lang="en-US" dirty="0"/>
            </a:br>
            <a:r>
              <a:rPr lang="en-US" dirty="0"/>
              <a:t>• Manages metadata such as filenames, permissions, and block locations</a:t>
            </a:r>
            <a:br>
              <a:rPr lang="en-US" dirty="0"/>
            </a:br>
            <a:r>
              <a:rPr lang="en-US" dirty="0"/>
              <a:t>• Does not store actual data</a:t>
            </a:r>
          </a:p>
          <a:p>
            <a:pPr marL="0" indent="0">
              <a:buNone/>
            </a:pPr>
            <a:r>
              <a:rPr lang="en-US" b="1" dirty="0" err="1" smtClean="0"/>
              <a:t>DataNode</a:t>
            </a:r>
            <a:r>
              <a:rPr lang="en-US" dirty="0"/>
              <a:t/>
            </a:r>
            <a:br>
              <a:rPr lang="en-US" dirty="0"/>
            </a:br>
            <a:r>
              <a:rPr lang="en-US" dirty="0"/>
              <a:t>• Store the actual file data in the form of blocks</a:t>
            </a:r>
            <a:br>
              <a:rPr lang="en-US" dirty="0"/>
            </a:br>
            <a:r>
              <a:rPr lang="en-US" dirty="0"/>
              <a:t>• Respond to read/write requests from clients</a:t>
            </a:r>
            <a:br>
              <a:rPr lang="en-US" dirty="0"/>
            </a:br>
            <a:r>
              <a:rPr lang="en-US" dirty="0"/>
              <a:t>• Periodically send heartbeats and block reports to the </a:t>
            </a:r>
            <a:r>
              <a:rPr lang="en-US" dirty="0" err="1"/>
              <a:t>NameNode</a:t>
            </a:r>
            <a:endParaRPr lang="en-US" dirty="0"/>
          </a:p>
          <a:p>
            <a:endParaRPr lang="en-US" dirty="0"/>
          </a:p>
        </p:txBody>
      </p:sp>
    </p:spTree>
    <p:extLst>
      <p:ext uri="{BB962C8B-B14F-4D97-AF65-F5344CB8AC3E}">
        <p14:creationId xmlns:p14="http://schemas.microsoft.com/office/powerpoint/2010/main" val="1754242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Architecture of HDFS</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a:t>Block Concept in HDFS</a:t>
            </a:r>
            <a:r>
              <a:rPr lang="en-US" dirty="0"/>
              <a:t/>
            </a:r>
            <a:br>
              <a:rPr lang="en-US" dirty="0"/>
            </a:br>
            <a:r>
              <a:rPr lang="en-US" dirty="0"/>
              <a:t>• Files are split into large blocks (default size 128 MB) before storing</a:t>
            </a:r>
            <a:br>
              <a:rPr lang="en-US" dirty="0"/>
            </a:br>
            <a:r>
              <a:rPr lang="en-US" dirty="0"/>
              <a:t>• Each block is stored on multiple </a:t>
            </a:r>
            <a:r>
              <a:rPr lang="en-US" dirty="0" err="1"/>
              <a:t>DataNodes</a:t>
            </a:r>
            <a:r>
              <a:rPr lang="en-US" dirty="0"/>
              <a:t/>
            </a:r>
            <a:br>
              <a:rPr lang="en-US" dirty="0"/>
            </a:br>
            <a:r>
              <a:rPr lang="en-US" dirty="0"/>
              <a:t>• This helps achieve parallel processing and fault tolerance</a:t>
            </a:r>
          </a:p>
          <a:p>
            <a:pPr marL="0" indent="0">
              <a:buNone/>
            </a:pPr>
            <a:r>
              <a:rPr lang="en-US" b="1" dirty="0"/>
              <a:t>Replication in HDFS</a:t>
            </a:r>
            <a:r>
              <a:rPr lang="en-US" dirty="0"/>
              <a:t/>
            </a:r>
            <a:br>
              <a:rPr lang="en-US" dirty="0"/>
            </a:br>
            <a:r>
              <a:rPr lang="en-US" dirty="0"/>
              <a:t>• HDFS stores copies of each block across different </a:t>
            </a:r>
            <a:r>
              <a:rPr lang="en-US" dirty="0" err="1"/>
              <a:t>DataNodes</a:t>
            </a:r>
            <a:r>
              <a:rPr lang="en-US" dirty="0"/>
              <a:t/>
            </a:r>
            <a:br>
              <a:rPr lang="en-US" dirty="0"/>
            </a:br>
            <a:r>
              <a:rPr lang="en-US" dirty="0"/>
              <a:t>• Default replication factor is 3</a:t>
            </a:r>
            <a:br>
              <a:rPr lang="en-US" dirty="0"/>
            </a:br>
            <a:r>
              <a:rPr lang="en-US" dirty="0"/>
              <a:t>• If one </a:t>
            </a:r>
            <a:r>
              <a:rPr lang="en-US" dirty="0" err="1"/>
              <a:t>DataNode</a:t>
            </a:r>
            <a:r>
              <a:rPr lang="en-US" dirty="0"/>
              <a:t> fails, the data is still available from another replica</a:t>
            </a:r>
          </a:p>
          <a:p>
            <a:endParaRPr lang="en-US" dirty="0"/>
          </a:p>
        </p:txBody>
      </p:sp>
    </p:spTree>
    <p:extLst>
      <p:ext uri="{BB962C8B-B14F-4D97-AF65-F5344CB8AC3E}">
        <p14:creationId xmlns:p14="http://schemas.microsoft.com/office/powerpoint/2010/main" val="2018484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06017"/>
          </a:xfrm>
        </p:spPr>
        <p:txBody>
          <a:bodyPr/>
          <a:lstStyle/>
          <a:p>
            <a:r>
              <a:rPr lang="en-US" b="1" dirty="0"/>
              <a:t>Case Study – </a:t>
            </a:r>
            <a:r>
              <a:rPr lang="en-US" b="1" dirty="0" err="1"/>
              <a:t>Hadoop</a:t>
            </a:r>
            <a:r>
              <a:rPr lang="en-US" b="1" dirty="0"/>
              <a:t> HDFS</a:t>
            </a:r>
          </a:p>
        </p:txBody>
      </p:sp>
      <p:sp>
        <p:nvSpPr>
          <p:cNvPr id="3" name="Content Placeholder 2"/>
          <p:cNvSpPr>
            <a:spLocks noGrp="1"/>
          </p:cNvSpPr>
          <p:nvPr>
            <p:ph idx="1"/>
          </p:nvPr>
        </p:nvSpPr>
        <p:spPr>
          <a:xfrm>
            <a:off x="457200" y="1080656"/>
            <a:ext cx="8229600" cy="5045508"/>
          </a:xfrm>
        </p:spPr>
        <p:txBody>
          <a:bodyPr>
            <a:normAutofit/>
          </a:bodyPr>
          <a:lstStyle/>
          <a:p>
            <a:r>
              <a:rPr lang="en-US" sz="2800" dirty="0" smtClean="0"/>
              <a:t>HDFS </a:t>
            </a:r>
            <a:r>
              <a:rPr lang="en-US" sz="2800" dirty="0"/>
              <a:t>(</a:t>
            </a:r>
            <a:r>
              <a:rPr lang="en-US" sz="2800" dirty="0" err="1"/>
              <a:t>Hadoop</a:t>
            </a:r>
            <a:r>
              <a:rPr lang="en-US" sz="2800" dirty="0"/>
              <a:t> Distributed File System) is the primary storage system used by Apache </a:t>
            </a:r>
            <a:r>
              <a:rPr lang="en-US" sz="2800" dirty="0" err="1"/>
              <a:t>Hadoop</a:t>
            </a:r>
            <a:r>
              <a:rPr lang="en-US" sz="2800" dirty="0"/>
              <a:t>. It is designed to store and manage large volumes of data across multiple machines in a distributed and fault-tolerant manner. HDFS allows applications to work with very large datasets by breaking files into blocks and distributing them across a cluster of commodity hardware.</a:t>
            </a:r>
          </a:p>
        </p:txBody>
      </p:sp>
    </p:spTree>
    <p:extLst>
      <p:ext uri="{BB962C8B-B14F-4D97-AF65-F5344CB8AC3E}">
        <p14:creationId xmlns:p14="http://schemas.microsoft.com/office/powerpoint/2010/main" val="13610551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907618"/>
          </a:xfrm>
        </p:spPr>
        <p:txBody>
          <a:bodyPr>
            <a:normAutofit/>
          </a:bodyPr>
          <a:lstStyle/>
          <a:p>
            <a:r>
              <a:rPr lang="en-US" dirty="0" err="1"/>
              <a:t>Hadoop</a:t>
            </a:r>
            <a:r>
              <a:rPr lang="en-US" dirty="0"/>
              <a:t> HDFS</a:t>
            </a:r>
          </a:p>
        </p:txBody>
      </p:sp>
      <p:sp>
        <p:nvSpPr>
          <p:cNvPr id="3" name="Content Placeholder 2"/>
          <p:cNvSpPr>
            <a:spLocks noGrp="1"/>
          </p:cNvSpPr>
          <p:nvPr>
            <p:ph idx="1"/>
          </p:nvPr>
        </p:nvSpPr>
        <p:spPr/>
        <p:txBody>
          <a:bodyPr>
            <a:normAutofit fontScale="70000" lnSpcReduction="20000"/>
          </a:bodyPr>
          <a:lstStyle/>
          <a:p>
            <a:r>
              <a:rPr lang="en-US" b="1" dirty="0" smtClean="0"/>
              <a:t>Fault </a:t>
            </a:r>
            <a:r>
              <a:rPr lang="en-US" b="1" dirty="0"/>
              <a:t>Tolerance:</a:t>
            </a:r>
            <a:r>
              <a:rPr lang="en-US" dirty="0"/>
              <a:t/>
            </a:r>
            <a:br>
              <a:rPr lang="en-US" dirty="0"/>
            </a:br>
            <a:r>
              <a:rPr lang="en-US" dirty="0"/>
              <a:t>Data is replicated across multiple nodes. If one node fails, the system automatically retrieves the data from another copy.</a:t>
            </a:r>
          </a:p>
          <a:p>
            <a:r>
              <a:rPr lang="en-US" b="1" dirty="0"/>
              <a:t>High Throughput:</a:t>
            </a:r>
            <a:r>
              <a:rPr lang="en-US" dirty="0"/>
              <a:t/>
            </a:r>
            <a:br>
              <a:rPr lang="en-US" dirty="0"/>
            </a:br>
            <a:r>
              <a:rPr lang="en-US" dirty="0"/>
              <a:t>Optimized for high data access throughput rather than low latency. Ideal for batch processing tasks.</a:t>
            </a:r>
          </a:p>
          <a:p>
            <a:r>
              <a:rPr lang="en-US" b="1" dirty="0"/>
              <a:t>Scalability:</a:t>
            </a:r>
            <a:r>
              <a:rPr lang="en-US" dirty="0"/>
              <a:t/>
            </a:r>
            <a:br>
              <a:rPr lang="en-US" dirty="0"/>
            </a:br>
            <a:r>
              <a:rPr lang="en-US" dirty="0"/>
              <a:t>Easily scales horizontally by adding more nodes to the cluster without major configuration changes.</a:t>
            </a:r>
          </a:p>
          <a:p>
            <a:r>
              <a:rPr lang="en-US" b="1" dirty="0"/>
              <a:t>Data Locality:</a:t>
            </a:r>
            <a:r>
              <a:rPr lang="en-US" dirty="0"/>
              <a:t/>
            </a:r>
            <a:br>
              <a:rPr lang="en-US" dirty="0"/>
            </a:br>
            <a:r>
              <a:rPr lang="en-US" dirty="0"/>
              <a:t>Moves computation (</a:t>
            </a:r>
            <a:r>
              <a:rPr lang="en-US" dirty="0" err="1"/>
              <a:t>MapReduce</a:t>
            </a:r>
            <a:r>
              <a:rPr lang="en-US" dirty="0"/>
              <a:t> tasks) closer to where data resides, reducing network congestion and improving performance.</a:t>
            </a:r>
          </a:p>
          <a:p>
            <a:r>
              <a:rPr lang="en-US" b="1" dirty="0"/>
              <a:t>Streaming Data Access:</a:t>
            </a:r>
            <a:r>
              <a:rPr lang="en-US" dirty="0"/>
              <a:t/>
            </a:r>
            <a:br>
              <a:rPr lang="en-US" dirty="0"/>
            </a:br>
            <a:r>
              <a:rPr lang="en-US" dirty="0"/>
              <a:t>Designed for large, sequential read/write operations instead of random access.</a:t>
            </a:r>
          </a:p>
          <a:p>
            <a:endParaRPr lang="en-US" dirty="0"/>
          </a:p>
        </p:txBody>
      </p:sp>
    </p:spTree>
    <p:extLst>
      <p:ext uri="{BB962C8B-B14F-4D97-AF65-F5344CB8AC3E}">
        <p14:creationId xmlns:p14="http://schemas.microsoft.com/office/powerpoint/2010/main" val="41902861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Hadoop</a:t>
            </a:r>
            <a:r>
              <a:rPr lang="en-US" dirty="0"/>
              <a:t> HDFS</a:t>
            </a:r>
          </a:p>
        </p:txBody>
      </p:sp>
      <p:sp>
        <p:nvSpPr>
          <p:cNvPr id="3" name="Content Placeholder 2"/>
          <p:cNvSpPr>
            <a:spLocks noGrp="1"/>
          </p:cNvSpPr>
          <p:nvPr>
            <p:ph idx="1"/>
          </p:nvPr>
        </p:nvSpPr>
        <p:spPr/>
        <p:txBody>
          <a:bodyPr>
            <a:normAutofit fontScale="55000" lnSpcReduction="20000"/>
          </a:bodyPr>
          <a:lstStyle/>
          <a:p>
            <a:pPr marL="0" indent="0" algn="ctr">
              <a:buNone/>
            </a:pPr>
            <a:r>
              <a:rPr lang="en-US" b="1" dirty="0"/>
              <a:t>HDFS Architecture </a:t>
            </a:r>
            <a:r>
              <a:rPr lang="en-US" b="1" dirty="0" smtClean="0"/>
              <a:t>Components</a:t>
            </a:r>
            <a:endParaRPr lang="en-US" b="1" dirty="0"/>
          </a:p>
          <a:p>
            <a:r>
              <a:rPr lang="en-US" b="1" dirty="0" err="1"/>
              <a:t>NameNode</a:t>
            </a:r>
            <a:r>
              <a:rPr lang="en-US" b="1" dirty="0"/>
              <a:t> (Master Node):</a:t>
            </a:r>
            <a:endParaRPr lang="en-US" dirty="0"/>
          </a:p>
          <a:p>
            <a:pPr lvl="1"/>
            <a:r>
              <a:rPr lang="en-US" dirty="0"/>
              <a:t>Manages the file system namespace and metadata (information about files, directories, and blocks).</a:t>
            </a:r>
          </a:p>
          <a:p>
            <a:pPr lvl="1"/>
            <a:r>
              <a:rPr lang="en-US" dirty="0"/>
              <a:t>Does </a:t>
            </a:r>
            <a:r>
              <a:rPr lang="en-US" b="1" dirty="0"/>
              <a:t>not store actual data</a:t>
            </a:r>
            <a:r>
              <a:rPr lang="en-US" dirty="0"/>
              <a:t>, only metadata (like block locations).</a:t>
            </a:r>
          </a:p>
          <a:p>
            <a:pPr lvl="1"/>
            <a:r>
              <a:rPr lang="en-US" dirty="0"/>
              <a:t>Is critical — if it fails, the cluster can become inoperable (though Secondary </a:t>
            </a:r>
            <a:r>
              <a:rPr lang="en-US" dirty="0" err="1"/>
              <a:t>NameNode</a:t>
            </a:r>
            <a:r>
              <a:rPr lang="en-US" dirty="0"/>
              <a:t> or standby </a:t>
            </a:r>
            <a:r>
              <a:rPr lang="en-US" dirty="0" err="1"/>
              <a:t>NameNode</a:t>
            </a:r>
            <a:r>
              <a:rPr lang="en-US" dirty="0"/>
              <a:t> provides backup).</a:t>
            </a:r>
          </a:p>
          <a:p>
            <a:r>
              <a:rPr lang="en-US" b="1" dirty="0" err="1"/>
              <a:t>DataNode</a:t>
            </a:r>
            <a:r>
              <a:rPr lang="en-US" b="1" dirty="0"/>
              <a:t> (Worker Node):</a:t>
            </a:r>
            <a:endParaRPr lang="en-US" dirty="0"/>
          </a:p>
          <a:p>
            <a:pPr lvl="1"/>
            <a:r>
              <a:rPr lang="en-US" dirty="0"/>
              <a:t>Stores actual data blocks on the local disks.</a:t>
            </a:r>
          </a:p>
          <a:p>
            <a:pPr lvl="1"/>
            <a:r>
              <a:rPr lang="en-US" dirty="0"/>
              <a:t>Periodically sends heartbeats and block reports to the </a:t>
            </a:r>
            <a:r>
              <a:rPr lang="en-US" dirty="0" err="1"/>
              <a:t>NameNode</a:t>
            </a:r>
            <a:r>
              <a:rPr lang="en-US" dirty="0"/>
              <a:t>.</a:t>
            </a:r>
          </a:p>
          <a:p>
            <a:pPr lvl="1"/>
            <a:r>
              <a:rPr lang="en-US" dirty="0"/>
              <a:t>Executes read/write requests from clients as instructed by the </a:t>
            </a:r>
            <a:r>
              <a:rPr lang="en-US" dirty="0" err="1"/>
              <a:t>NameNode</a:t>
            </a:r>
            <a:r>
              <a:rPr lang="en-US" dirty="0"/>
              <a:t>.</a:t>
            </a:r>
          </a:p>
          <a:p>
            <a:r>
              <a:rPr lang="en-US" b="1" dirty="0"/>
              <a:t>Secondary </a:t>
            </a:r>
            <a:r>
              <a:rPr lang="en-US" b="1" dirty="0" err="1"/>
              <a:t>NameNode</a:t>
            </a:r>
            <a:r>
              <a:rPr lang="en-US" b="1" dirty="0"/>
              <a:t>:</a:t>
            </a:r>
            <a:endParaRPr lang="en-US" dirty="0"/>
          </a:p>
          <a:p>
            <a:pPr lvl="1"/>
            <a:r>
              <a:rPr lang="en-US" dirty="0"/>
              <a:t>Not a backup </a:t>
            </a:r>
            <a:r>
              <a:rPr lang="en-US" dirty="0" err="1"/>
              <a:t>NameNode</a:t>
            </a:r>
            <a:r>
              <a:rPr lang="en-US" dirty="0"/>
              <a:t>.</a:t>
            </a:r>
          </a:p>
          <a:p>
            <a:pPr lvl="1"/>
            <a:r>
              <a:rPr lang="en-US" dirty="0"/>
              <a:t>Periodically merges the edit logs with the file system image (</a:t>
            </a:r>
            <a:r>
              <a:rPr lang="en-US" dirty="0" err="1"/>
              <a:t>FsImage</a:t>
            </a:r>
            <a:r>
              <a:rPr lang="en-US" dirty="0"/>
              <a:t>) to prevent the </a:t>
            </a:r>
            <a:r>
              <a:rPr lang="en-US" dirty="0" err="1"/>
              <a:t>NameNode</a:t>
            </a:r>
            <a:r>
              <a:rPr lang="en-US" dirty="0"/>
              <a:t> from overloading.</a:t>
            </a:r>
          </a:p>
          <a:p>
            <a:r>
              <a:rPr lang="en-US" b="1" dirty="0"/>
              <a:t>Client:</a:t>
            </a:r>
            <a:endParaRPr lang="en-US" dirty="0"/>
          </a:p>
          <a:p>
            <a:pPr lvl="1"/>
            <a:r>
              <a:rPr lang="en-US" dirty="0"/>
              <a:t>Interacts with the </a:t>
            </a:r>
            <a:r>
              <a:rPr lang="en-US" dirty="0" err="1"/>
              <a:t>NameNode</a:t>
            </a:r>
            <a:r>
              <a:rPr lang="en-US" dirty="0"/>
              <a:t> for metadata and with </a:t>
            </a:r>
            <a:r>
              <a:rPr lang="en-US" dirty="0" err="1"/>
              <a:t>DataNodes</a:t>
            </a:r>
            <a:r>
              <a:rPr lang="en-US" dirty="0"/>
              <a:t> for data operations.</a:t>
            </a:r>
          </a:p>
          <a:p>
            <a:pPr lvl="1"/>
            <a:r>
              <a:rPr lang="en-US" dirty="0"/>
              <a:t>Splits large files into blocks and requests block placement from the </a:t>
            </a:r>
            <a:r>
              <a:rPr lang="en-US" dirty="0" err="1"/>
              <a:t>NameNode</a:t>
            </a:r>
            <a:r>
              <a:rPr lang="en-US" dirty="0"/>
              <a:t>.</a:t>
            </a:r>
          </a:p>
          <a:p>
            <a:endParaRPr lang="en-US" dirty="0"/>
          </a:p>
        </p:txBody>
      </p:sp>
    </p:spTree>
    <p:extLst>
      <p:ext uri="{BB962C8B-B14F-4D97-AF65-F5344CB8AC3E}">
        <p14:creationId xmlns:p14="http://schemas.microsoft.com/office/powerpoint/2010/main" val="41090075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pic>
        <p:nvPicPr>
          <p:cNvPr id="2050" name="Picture 2" descr="C:\Users\abc\Desktop\hdf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517236"/>
            <a:ext cx="8482006" cy="5564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9550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Hadoop</a:t>
            </a:r>
            <a:r>
              <a:rPr lang="en-US" b="1" dirty="0"/>
              <a:t> </a:t>
            </a:r>
            <a:r>
              <a:rPr lang="en-US" b="1" dirty="0" err="1"/>
              <a:t>MapReduce</a:t>
            </a:r>
            <a:endParaRPr lang="en-US" b="1" dirty="0"/>
          </a:p>
        </p:txBody>
      </p:sp>
      <p:sp>
        <p:nvSpPr>
          <p:cNvPr id="3" name="Content Placeholder 2"/>
          <p:cNvSpPr>
            <a:spLocks noGrp="1"/>
          </p:cNvSpPr>
          <p:nvPr>
            <p:ph idx="1"/>
          </p:nvPr>
        </p:nvSpPr>
        <p:spPr/>
        <p:txBody>
          <a:bodyPr>
            <a:normAutofit fontScale="92500"/>
          </a:bodyPr>
          <a:lstStyle/>
          <a:p>
            <a:pPr algn="just"/>
            <a:r>
              <a:rPr lang="en-US" dirty="0" err="1"/>
              <a:t>MapReduce</a:t>
            </a:r>
            <a:r>
              <a:rPr lang="en-US" dirty="0"/>
              <a:t> is a programming and processing framework in </a:t>
            </a:r>
            <a:r>
              <a:rPr lang="en-US" dirty="0" err="1"/>
              <a:t>Hadoop</a:t>
            </a:r>
            <a:r>
              <a:rPr lang="en-US" dirty="0"/>
              <a:t> used for large-scale data processing. It allows parallel processing of massive datasets across distributed clusters in a reliable and fault-tolerant way.</a:t>
            </a:r>
          </a:p>
          <a:p>
            <a:pPr algn="just"/>
            <a:r>
              <a:rPr lang="en-US" dirty="0" err="1"/>
              <a:t>MapReduce</a:t>
            </a:r>
            <a:r>
              <a:rPr lang="en-US" dirty="0"/>
              <a:t> works on the principle of divide and conquer. A large dataset is divided into smaller chunks and processed simultaneously across multiple nodes to speed up computation.</a:t>
            </a:r>
          </a:p>
          <a:p>
            <a:endParaRPr lang="en-US" dirty="0"/>
          </a:p>
        </p:txBody>
      </p:sp>
    </p:spTree>
    <p:extLst>
      <p:ext uri="{BB962C8B-B14F-4D97-AF65-F5344CB8AC3E}">
        <p14:creationId xmlns:p14="http://schemas.microsoft.com/office/powerpoint/2010/main" val="4121110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Two main phases of </a:t>
            </a:r>
            <a:r>
              <a:rPr lang="en-US" b="1" dirty="0" err="1"/>
              <a:t>MapReduce</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smtClean="0"/>
              <a:t>Mapper</a:t>
            </a:r>
            <a:r>
              <a:rPr lang="en-US" dirty="0"/>
              <a:t/>
            </a:r>
            <a:br>
              <a:rPr lang="en-US" dirty="0"/>
            </a:br>
            <a:r>
              <a:rPr lang="en-US" dirty="0"/>
              <a:t>• Input data is divided into key–value pairs</a:t>
            </a:r>
            <a:br>
              <a:rPr lang="en-US" dirty="0"/>
            </a:br>
            <a:r>
              <a:rPr lang="en-US" dirty="0"/>
              <a:t>• The map function processes each pair and produces a set of intermediate key–value pairs</a:t>
            </a:r>
            <a:br>
              <a:rPr lang="en-US" dirty="0"/>
            </a:br>
            <a:r>
              <a:rPr lang="en-US" dirty="0"/>
              <a:t>• Multiple mappers run in parallel on different chunks of data</a:t>
            </a:r>
          </a:p>
          <a:p>
            <a:pPr marL="0" indent="0">
              <a:buNone/>
            </a:pPr>
            <a:r>
              <a:rPr lang="en-US" b="1" dirty="0" smtClean="0"/>
              <a:t>Reducer</a:t>
            </a:r>
            <a:r>
              <a:rPr lang="en-US" dirty="0"/>
              <a:t/>
            </a:r>
            <a:br>
              <a:rPr lang="en-US" dirty="0"/>
            </a:br>
            <a:r>
              <a:rPr lang="en-US" dirty="0"/>
              <a:t>• Collects intermediate key–value pairs generated by the Map phase</a:t>
            </a:r>
            <a:br>
              <a:rPr lang="en-US" dirty="0"/>
            </a:br>
            <a:r>
              <a:rPr lang="en-US" dirty="0"/>
              <a:t>• Groups values having the same key</a:t>
            </a:r>
            <a:br>
              <a:rPr lang="en-US" dirty="0"/>
            </a:br>
            <a:r>
              <a:rPr lang="en-US" dirty="0"/>
              <a:t>• Performs aggregation operations such as sum, count, average, sorting, etc.</a:t>
            </a:r>
            <a:br>
              <a:rPr lang="en-US" dirty="0"/>
            </a:br>
            <a:r>
              <a:rPr lang="en-US" dirty="0"/>
              <a:t>• Produces the final output</a:t>
            </a:r>
          </a:p>
          <a:p>
            <a:endParaRPr lang="en-US" dirty="0"/>
          </a:p>
        </p:txBody>
      </p:sp>
    </p:spTree>
    <p:extLst>
      <p:ext uri="{BB962C8B-B14F-4D97-AF65-F5344CB8AC3E}">
        <p14:creationId xmlns:p14="http://schemas.microsoft.com/office/powerpoint/2010/main" val="1668161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Map Reduce Architecture </a:t>
            </a:r>
            <a:endParaRPr lang="en-US" b="1" dirty="0"/>
          </a:p>
        </p:txBody>
      </p:sp>
      <p:pic>
        <p:nvPicPr>
          <p:cNvPr id="1026" name="Picture 2" descr="C:\Users\abc\Downloads\How-MapReduce-Work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9585" y="1283855"/>
            <a:ext cx="7225288" cy="4925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459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err="1"/>
              <a:t>Hadoop</a:t>
            </a:r>
            <a:r>
              <a:rPr lang="en-US" sz="3600" b="1" dirty="0"/>
              <a:t> Resource and Process Management</a:t>
            </a:r>
          </a:p>
        </p:txBody>
      </p:sp>
      <p:sp>
        <p:nvSpPr>
          <p:cNvPr id="3" name="Content Placeholder 2"/>
          <p:cNvSpPr>
            <a:spLocks noGrp="1"/>
          </p:cNvSpPr>
          <p:nvPr>
            <p:ph idx="1"/>
          </p:nvPr>
        </p:nvSpPr>
        <p:spPr/>
        <p:txBody>
          <a:bodyPr>
            <a:normAutofit fontScale="85000" lnSpcReduction="20000"/>
          </a:bodyPr>
          <a:lstStyle/>
          <a:p>
            <a:pPr algn="just"/>
            <a:r>
              <a:rPr lang="en-US" dirty="0"/>
              <a:t>In </a:t>
            </a:r>
            <a:r>
              <a:rPr lang="en-US" dirty="0" err="1"/>
              <a:t>Hadoop</a:t>
            </a:r>
            <a:r>
              <a:rPr lang="en-US" dirty="0"/>
              <a:t>, resource and process management refers to how computing resources such as CPU, memory, and processing tasks are allocated and controlled across nodes in a cluster. Efficient resource management is necessary to ensure high performance, fairness, scalability, and fault tolerance in big data processing.</a:t>
            </a:r>
          </a:p>
          <a:p>
            <a:pPr algn="just"/>
            <a:r>
              <a:rPr lang="en-US" dirty="0" err="1"/>
              <a:t>Hadoop</a:t>
            </a:r>
            <a:r>
              <a:rPr lang="en-US" dirty="0"/>
              <a:t> originally used the </a:t>
            </a:r>
            <a:r>
              <a:rPr lang="en-US" dirty="0" err="1"/>
              <a:t>MapReduce</a:t>
            </a:r>
            <a:r>
              <a:rPr lang="en-US" dirty="0"/>
              <a:t> framework for process execution and </a:t>
            </a:r>
            <a:r>
              <a:rPr lang="en-US" dirty="0" err="1"/>
              <a:t>JobTracker</a:t>
            </a:r>
            <a:r>
              <a:rPr lang="en-US" dirty="0"/>
              <a:t>/</a:t>
            </a:r>
            <a:r>
              <a:rPr lang="en-US" dirty="0" err="1"/>
              <a:t>TaskTracker</a:t>
            </a:r>
            <a:r>
              <a:rPr lang="en-US" dirty="0"/>
              <a:t> for resource management, but this had limitations. Therefore, </a:t>
            </a:r>
            <a:r>
              <a:rPr lang="en-US" dirty="0" err="1"/>
              <a:t>Hadoop</a:t>
            </a:r>
            <a:r>
              <a:rPr lang="en-US" dirty="0"/>
              <a:t> introduced YARN (Yet Another Resource Negotiator) to manage cluster resources more efficiently.</a:t>
            </a:r>
          </a:p>
          <a:p>
            <a:pPr algn="just"/>
            <a:endParaRPr lang="en-US" dirty="0"/>
          </a:p>
        </p:txBody>
      </p:sp>
    </p:spTree>
    <p:extLst>
      <p:ext uri="{BB962C8B-B14F-4D97-AF65-F5344CB8AC3E}">
        <p14:creationId xmlns:p14="http://schemas.microsoft.com/office/powerpoint/2010/main" val="2351617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US" b="1" dirty="0"/>
              <a:t>YARN Architecture (Core </a:t>
            </a:r>
            <a:r>
              <a:rPr lang="en-US" b="1" dirty="0" smtClean="0"/>
              <a:t>Component)</a:t>
            </a:r>
            <a:r>
              <a:rPr lang="en-US" dirty="0"/>
              <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smtClean="0"/>
              <a:t>Resource </a:t>
            </a:r>
            <a:r>
              <a:rPr lang="en-US" b="1" dirty="0"/>
              <a:t>Manager (RM)</a:t>
            </a:r>
            <a:r>
              <a:rPr lang="en-US" dirty="0"/>
              <a:t/>
            </a:r>
            <a:br>
              <a:rPr lang="en-US" dirty="0"/>
            </a:br>
            <a:r>
              <a:rPr lang="en-US" dirty="0"/>
              <a:t>• Central authority that manages and allocates cluster resources</a:t>
            </a:r>
            <a:br>
              <a:rPr lang="en-US" dirty="0"/>
            </a:br>
            <a:r>
              <a:rPr lang="en-US" dirty="0"/>
              <a:t>• Decides which application gets how much resource</a:t>
            </a:r>
            <a:br>
              <a:rPr lang="en-US" dirty="0"/>
            </a:br>
            <a:r>
              <a:rPr lang="en-US" dirty="0"/>
              <a:t>• Maintains information about all available nodes and resources</a:t>
            </a:r>
          </a:p>
          <a:p>
            <a:pPr marL="0" indent="0">
              <a:buNone/>
            </a:pPr>
            <a:r>
              <a:rPr lang="en-US" b="1" dirty="0"/>
              <a:t>Node Manager (NM)</a:t>
            </a:r>
            <a:r>
              <a:rPr lang="en-US" dirty="0"/>
              <a:t/>
            </a:r>
            <a:br>
              <a:rPr lang="en-US" dirty="0"/>
            </a:br>
            <a:r>
              <a:rPr lang="en-US" dirty="0"/>
              <a:t>• Runs on every worker node</a:t>
            </a:r>
            <a:br>
              <a:rPr lang="en-US" dirty="0"/>
            </a:br>
            <a:r>
              <a:rPr lang="en-US" dirty="0"/>
              <a:t>• Reports the node's resources and health to the Resource Manager</a:t>
            </a:r>
            <a:br>
              <a:rPr lang="en-US" dirty="0"/>
            </a:br>
            <a:r>
              <a:rPr lang="en-US" dirty="0"/>
              <a:t>• Starts and monitors application </a:t>
            </a:r>
            <a:r>
              <a:rPr lang="en-US" dirty="0" smtClean="0"/>
              <a:t>containers</a:t>
            </a:r>
          </a:p>
          <a:p>
            <a:pPr marL="0" indent="0">
              <a:buNone/>
            </a:pPr>
            <a:r>
              <a:rPr lang="en-US" b="1" dirty="0" smtClean="0"/>
              <a:t>Application Master (AM)</a:t>
            </a:r>
            <a:r>
              <a:rPr lang="en-US" dirty="0" smtClean="0"/>
              <a:t/>
            </a:r>
            <a:br>
              <a:rPr lang="en-US" dirty="0" smtClean="0"/>
            </a:br>
            <a:r>
              <a:rPr lang="en-US" dirty="0" smtClean="0"/>
              <a:t>• Responsible for the execution of a single application or job</a:t>
            </a:r>
            <a:br>
              <a:rPr lang="en-US" dirty="0" smtClean="0"/>
            </a:br>
            <a:r>
              <a:rPr lang="en-US" dirty="0" smtClean="0"/>
              <a:t>• Requests resources from the Resource Manager</a:t>
            </a:r>
            <a:br>
              <a:rPr lang="en-US" dirty="0" smtClean="0"/>
            </a:br>
            <a:r>
              <a:rPr lang="en-US" dirty="0" smtClean="0"/>
              <a:t>• Monitors and controls tasks running in containers</a:t>
            </a:r>
          </a:p>
          <a:p>
            <a:pPr marL="0" indent="0">
              <a:buNone/>
            </a:pPr>
            <a:r>
              <a:rPr lang="en-US" b="1" dirty="0" smtClean="0"/>
              <a:t>Containers</a:t>
            </a:r>
            <a:r>
              <a:rPr lang="en-US" dirty="0"/>
              <a:t/>
            </a:r>
            <a:br>
              <a:rPr lang="en-US" dirty="0"/>
            </a:br>
            <a:r>
              <a:rPr lang="en-US" dirty="0"/>
              <a:t>• Units of resource allocation (CPU, memory) assigned to tasks</a:t>
            </a:r>
            <a:br>
              <a:rPr lang="en-US" dirty="0"/>
            </a:br>
            <a:r>
              <a:rPr lang="en-US" dirty="0"/>
              <a:t>• Launched by Node Managers as requested by the Application Master</a:t>
            </a:r>
          </a:p>
          <a:p>
            <a:endParaRPr lang="en-US" dirty="0"/>
          </a:p>
        </p:txBody>
      </p:sp>
    </p:spTree>
    <p:extLst>
      <p:ext uri="{BB962C8B-B14F-4D97-AF65-F5344CB8AC3E}">
        <p14:creationId xmlns:p14="http://schemas.microsoft.com/office/powerpoint/2010/main" val="105341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bc\Desktop\VIPS\DistributedSystem_CloudComputing_CIE_407T_CIE_407P\Apache-YARN-architecture-min.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8922" y="584791"/>
            <a:ext cx="8046156" cy="5785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30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9098"/>
            <a:ext cx="8229600" cy="978195"/>
          </a:xfrm>
        </p:spPr>
        <p:txBody>
          <a:bodyPr>
            <a:normAutofit fontScale="90000"/>
          </a:bodyPr>
          <a:lstStyle/>
          <a:p>
            <a:r>
              <a:rPr lang="en-US" b="1" dirty="0"/>
              <a:t>Benefits of </a:t>
            </a:r>
            <a:r>
              <a:rPr lang="en-US" b="1" dirty="0" smtClean="0"/>
              <a:t>YARN</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 </a:t>
            </a:r>
            <a:r>
              <a:rPr lang="en-US" dirty="0"/>
              <a:t>Supports multiple types of processing engines (</a:t>
            </a:r>
            <a:r>
              <a:rPr lang="en-US" dirty="0" err="1"/>
              <a:t>MapReduce</a:t>
            </a:r>
            <a:r>
              <a:rPr lang="en-US" dirty="0"/>
              <a:t>, Spark, Hive, </a:t>
            </a:r>
            <a:r>
              <a:rPr lang="en-US" dirty="0" err="1"/>
              <a:t>Flink</a:t>
            </a:r>
            <a:r>
              <a:rPr lang="en-US" dirty="0"/>
              <a:t>)</a:t>
            </a:r>
            <a:br>
              <a:rPr lang="en-US" dirty="0"/>
            </a:br>
            <a:r>
              <a:rPr lang="en-US" dirty="0"/>
              <a:t>• Better scalability than traditional </a:t>
            </a:r>
            <a:r>
              <a:rPr lang="en-US" dirty="0" err="1"/>
              <a:t>JobTracker</a:t>
            </a:r>
            <a:r>
              <a:rPr lang="en-US" dirty="0"/>
              <a:t> system</a:t>
            </a:r>
            <a:br>
              <a:rPr lang="en-US" dirty="0"/>
            </a:br>
            <a:r>
              <a:rPr lang="en-US" dirty="0"/>
              <a:t>• Improves cluster utilization and overall performance</a:t>
            </a:r>
            <a:br>
              <a:rPr lang="en-US" dirty="0"/>
            </a:br>
            <a:r>
              <a:rPr lang="en-US" dirty="0"/>
              <a:t>• Efficient failure handling and resource sharing</a:t>
            </a:r>
            <a:br>
              <a:rPr lang="en-US" dirty="0"/>
            </a:br>
            <a:r>
              <a:rPr lang="en-US" dirty="0"/>
              <a:t>• Supports multi-user and multi-application environments</a:t>
            </a:r>
          </a:p>
          <a:p>
            <a:endParaRPr lang="en-US" dirty="0"/>
          </a:p>
        </p:txBody>
      </p:sp>
    </p:spTree>
    <p:extLst>
      <p:ext uri="{BB962C8B-B14F-4D97-AF65-F5344CB8AC3E}">
        <p14:creationId xmlns:p14="http://schemas.microsoft.com/office/powerpoint/2010/main" val="3912901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Load Balancing Approach</a:t>
            </a:r>
          </a:p>
        </p:txBody>
      </p:sp>
      <p:sp>
        <p:nvSpPr>
          <p:cNvPr id="3" name="Content Placeholder 2"/>
          <p:cNvSpPr>
            <a:spLocks noGrp="1"/>
          </p:cNvSpPr>
          <p:nvPr>
            <p:ph idx="1"/>
          </p:nvPr>
        </p:nvSpPr>
        <p:spPr/>
        <p:txBody>
          <a:bodyPr/>
          <a:lstStyle/>
          <a:p>
            <a:pPr algn="just"/>
            <a:r>
              <a:rPr lang="en-US" sz="2800" dirty="0"/>
              <a:t>Load balancing is a more advanced technique in which the objective is to evenly distribute workload across all nodes in the system so that all nodes operate at similar levels of </a:t>
            </a:r>
            <a:r>
              <a:rPr lang="en-US" sz="2800" dirty="0" smtClean="0"/>
              <a:t>utilization.</a:t>
            </a:r>
          </a:p>
          <a:p>
            <a:pPr marL="0" indent="0">
              <a:buNone/>
            </a:pPr>
            <a:r>
              <a:rPr lang="en-US" sz="2800" b="1" dirty="0" smtClean="0"/>
              <a:t>Characteristics</a:t>
            </a:r>
            <a:r>
              <a:rPr lang="en-US" sz="2800" dirty="0"/>
              <a:t/>
            </a:r>
            <a:br>
              <a:rPr lang="en-US" sz="2800" dirty="0"/>
            </a:br>
            <a:r>
              <a:rPr lang="en-US" sz="2800" dirty="0"/>
              <a:t>• Tasks are continuously distributed across nodes</a:t>
            </a:r>
            <a:br>
              <a:rPr lang="en-US" sz="2800" dirty="0"/>
            </a:br>
            <a:r>
              <a:rPr lang="en-US" sz="2800" dirty="0"/>
              <a:t>• Attempts to achieve fairness and maximize performance</a:t>
            </a:r>
            <a:br>
              <a:rPr lang="en-US" sz="2800" dirty="0"/>
            </a:br>
            <a:r>
              <a:rPr lang="en-US" sz="2800" dirty="0"/>
              <a:t>• Load on all nodes is monitored and adjusted dynamically</a:t>
            </a:r>
          </a:p>
          <a:p>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Load Sharing Approach</a:t>
            </a:r>
          </a:p>
        </p:txBody>
      </p:sp>
      <p:sp>
        <p:nvSpPr>
          <p:cNvPr id="3" name="Content Placeholder 2"/>
          <p:cNvSpPr>
            <a:spLocks noGrp="1"/>
          </p:cNvSpPr>
          <p:nvPr>
            <p:ph idx="1"/>
          </p:nvPr>
        </p:nvSpPr>
        <p:spPr/>
        <p:txBody>
          <a:bodyPr>
            <a:normAutofit/>
          </a:bodyPr>
          <a:lstStyle/>
          <a:p>
            <a:pPr algn="just"/>
            <a:r>
              <a:rPr sz="2400" dirty="0" smtClean="0"/>
              <a:t> </a:t>
            </a:r>
            <a:r>
              <a:rPr lang="en-US" sz="2400" dirty="0"/>
              <a:t>Load sharing is a technique used in distributed systems to improve performance by distributing processes among available nodes so that no node becomes heavily overloaded while others remain idle. The main aim is to avoid overload but not necessarily to </a:t>
            </a:r>
            <a:r>
              <a:rPr lang="en-US" sz="2400" dirty="0" smtClean="0"/>
              <a:t>achieve </a:t>
            </a:r>
            <a:r>
              <a:rPr lang="en-US" sz="2400" dirty="0"/>
              <a:t>perfect balance</a:t>
            </a:r>
            <a:r>
              <a:rPr lang="en-US" sz="2400" dirty="0" smtClean="0"/>
              <a:t>.</a:t>
            </a:r>
          </a:p>
          <a:p>
            <a:pPr marL="0" indent="0" algn="just">
              <a:buNone/>
            </a:pPr>
            <a:r>
              <a:rPr lang="en-US" sz="2400" b="1" dirty="0" smtClean="0"/>
              <a:t>Characteristics</a:t>
            </a:r>
            <a:r>
              <a:rPr lang="en-US" sz="2400" dirty="0"/>
              <a:t/>
            </a:r>
            <a:br>
              <a:rPr lang="en-US" sz="2400" dirty="0"/>
            </a:br>
            <a:r>
              <a:rPr lang="en-US" sz="2400" dirty="0"/>
              <a:t>• Tasks are transferred only when a node is overloaded</a:t>
            </a:r>
            <a:br>
              <a:rPr lang="en-US" sz="2400" dirty="0"/>
            </a:br>
            <a:r>
              <a:rPr lang="en-US" sz="2400" dirty="0" smtClean="0"/>
              <a:t>• Does </a:t>
            </a:r>
            <a:r>
              <a:rPr lang="en-US" sz="2400" dirty="0"/>
              <a:t>not try to equalize load among all nodes</a:t>
            </a:r>
            <a:br>
              <a:rPr lang="en-US" sz="2400" dirty="0"/>
            </a:br>
            <a:r>
              <a:rPr lang="en-US" sz="2400" dirty="0"/>
              <a:t>• Helps reduce bottlenecks and improve response time</a:t>
            </a:r>
            <a:endParaRPr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t>
            </a:r>
            <a:r>
              <a:rPr lang="en-US" b="1" dirty="0" smtClean="0"/>
              <a:t>omparison</a:t>
            </a:r>
            <a:endParaRPr lang="en-US" b="1" dirty="0"/>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1454138596"/>
              </p:ext>
            </p:extLst>
          </p:nvPr>
        </p:nvGraphicFramePr>
        <p:xfrm>
          <a:off x="457200" y="1722471"/>
          <a:ext cx="8229600" cy="4550736"/>
        </p:xfrm>
        <a:graphic>
          <a:graphicData uri="http://schemas.openxmlformats.org/drawingml/2006/table">
            <a:tbl>
              <a:tblPr>
                <a:tableStyleId>{3C2FFA5D-87B4-456A-9821-1D502468CF0F}</a:tableStyleId>
              </a:tblPr>
              <a:tblGrid>
                <a:gridCol w="2743200"/>
                <a:gridCol w="2743200"/>
                <a:gridCol w="2743200"/>
              </a:tblGrid>
              <a:tr h="758456">
                <a:tc>
                  <a:txBody>
                    <a:bodyPr/>
                    <a:lstStyle/>
                    <a:p>
                      <a:r>
                        <a:rPr lang="en-US" b="1" dirty="0"/>
                        <a:t>Parameter</a:t>
                      </a:r>
                    </a:p>
                  </a:txBody>
                  <a:tcPr anchor="ctr"/>
                </a:tc>
                <a:tc>
                  <a:txBody>
                    <a:bodyPr/>
                    <a:lstStyle/>
                    <a:p>
                      <a:r>
                        <a:rPr lang="en-US" b="1" dirty="0"/>
                        <a:t>Load Sharing</a:t>
                      </a:r>
                    </a:p>
                  </a:txBody>
                  <a:tcPr anchor="ctr"/>
                </a:tc>
                <a:tc>
                  <a:txBody>
                    <a:bodyPr/>
                    <a:lstStyle/>
                    <a:p>
                      <a:r>
                        <a:rPr lang="en-US" b="1" dirty="0"/>
                        <a:t>Load Balancing</a:t>
                      </a:r>
                    </a:p>
                  </a:txBody>
                  <a:tcPr anchor="ctr"/>
                </a:tc>
              </a:tr>
              <a:tr h="758456">
                <a:tc>
                  <a:txBody>
                    <a:bodyPr/>
                    <a:lstStyle/>
                    <a:p>
                      <a:r>
                        <a:rPr lang="en-US" dirty="0"/>
                        <a:t>Goal</a:t>
                      </a:r>
                    </a:p>
                  </a:txBody>
                  <a:tcPr anchor="ctr"/>
                </a:tc>
                <a:tc>
                  <a:txBody>
                    <a:bodyPr/>
                    <a:lstStyle/>
                    <a:p>
                      <a:r>
                        <a:rPr lang="en-US"/>
                        <a:t>Prevent overload</a:t>
                      </a:r>
                    </a:p>
                  </a:txBody>
                  <a:tcPr anchor="ctr"/>
                </a:tc>
                <a:tc>
                  <a:txBody>
                    <a:bodyPr/>
                    <a:lstStyle/>
                    <a:p>
                      <a:r>
                        <a:rPr lang="en-US"/>
                        <a:t>Equalize load across nodes</a:t>
                      </a:r>
                    </a:p>
                  </a:txBody>
                  <a:tcPr anchor="ctr"/>
                </a:tc>
              </a:tr>
              <a:tr h="758456">
                <a:tc>
                  <a:txBody>
                    <a:bodyPr/>
                    <a:lstStyle/>
                    <a:p>
                      <a:r>
                        <a:rPr lang="en-US" dirty="0"/>
                        <a:t>Load monitoring</a:t>
                      </a:r>
                    </a:p>
                  </a:txBody>
                  <a:tcPr anchor="ctr"/>
                </a:tc>
                <a:tc>
                  <a:txBody>
                    <a:bodyPr/>
                    <a:lstStyle/>
                    <a:p>
                      <a:r>
                        <a:rPr lang="en-US"/>
                        <a:t>Only when overloaded</a:t>
                      </a:r>
                    </a:p>
                  </a:txBody>
                  <a:tcPr anchor="ctr"/>
                </a:tc>
                <a:tc>
                  <a:txBody>
                    <a:bodyPr/>
                    <a:lstStyle/>
                    <a:p>
                      <a:r>
                        <a:rPr lang="en-US"/>
                        <a:t>Continuous monitoring</a:t>
                      </a:r>
                    </a:p>
                  </a:txBody>
                  <a:tcPr anchor="ctr"/>
                </a:tc>
              </a:tr>
              <a:tr h="758456">
                <a:tc>
                  <a:txBody>
                    <a:bodyPr/>
                    <a:lstStyle/>
                    <a:p>
                      <a:r>
                        <a:rPr lang="en-US" dirty="0"/>
                        <a:t>Complexity</a:t>
                      </a:r>
                    </a:p>
                  </a:txBody>
                  <a:tcPr anchor="ctr"/>
                </a:tc>
                <a:tc>
                  <a:txBody>
                    <a:bodyPr/>
                    <a:lstStyle/>
                    <a:p>
                      <a:r>
                        <a:rPr lang="en-US" dirty="0"/>
                        <a:t>Low</a:t>
                      </a:r>
                    </a:p>
                  </a:txBody>
                  <a:tcPr anchor="ctr"/>
                </a:tc>
                <a:tc>
                  <a:txBody>
                    <a:bodyPr/>
                    <a:lstStyle/>
                    <a:p>
                      <a:r>
                        <a:rPr lang="en-US"/>
                        <a:t>High</a:t>
                      </a:r>
                    </a:p>
                  </a:txBody>
                  <a:tcPr anchor="ctr"/>
                </a:tc>
              </a:tr>
              <a:tr h="758456">
                <a:tc>
                  <a:txBody>
                    <a:bodyPr/>
                    <a:lstStyle/>
                    <a:p>
                      <a:r>
                        <a:rPr lang="en-US"/>
                        <a:t>Performance</a:t>
                      </a:r>
                    </a:p>
                  </a:txBody>
                  <a:tcPr anchor="ctr"/>
                </a:tc>
                <a:tc>
                  <a:txBody>
                    <a:bodyPr/>
                    <a:lstStyle/>
                    <a:p>
                      <a:r>
                        <a:rPr lang="en-US"/>
                        <a:t>Moderate</a:t>
                      </a:r>
                    </a:p>
                  </a:txBody>
                  <a:tcPr anchor="ctr"/>
                </a:tc>
                <a:tc>
                  <a:txBody>
                    <a:bodyPr/>
                    <a:lstStyle/>
                    <a:p>
                      <a:r>
                        <a:rPr lang="en-US"/>
                        <a:t>High</a:t>
                      </a:r>
                    </a:p>
                  </a:txBody>
                  <a:tcPr anchor="ctr"/>
                </a:tc>
              </a:tr>
              <a:tr h="758456">
                <a:tc>
                  <a:txBody>
                    <a:bodyPr/>
                    <a:lstStyle/>
                    <a:p>
                      <a:r>
                        <a:rPr lang="en-US" dirty="0"/>
                        <a:t>Resource utilization</a:t>
                      </a:r>
                    </a:p>
                  </a:txBody>
                  <a:tcPr anchor="ctr"/>
                </a:tc>
                <a:tc>
                  <a:txBody>
                    <a:bodyPr/>
                    <a:lstStyle/>
                    <a:p>
                      <a:r>
                        <a:rPr lang="en-US" dirty="0"/>
                        <a:t>Partial</a:t>
                      </a:r>
                    </a:p>
                  </a:txBody>
                  <a:tcPr anchor="ctr"/>
                </a:tc>
                <a:tc>
                  <a:txBody>
                    <a:bodyPr/>
                    <a:lstStyle/>
                    <a:p>
                      <a:r>
                        <a:rPr lang="en-US" dirty="0"/>
                        <a:t>Maximum</a:t>
                      </a:r>
                    </a:p>
                  </a:txBody>
                  <a:tcPr anchor="ctr"/>
                </a:tc>
              </a:tr>
            </a:tbl>
          </a:graphicData>
        </a:graphic>
      </p:graphicFrame>
    </p:spTree>
    <p:extLst>
      <p:ext uri="{BB962C8B-B14F-4D97-AF65-F5344CB8AC3E}">
        <p14:creationId xmlns:p14="http://schemas.microsoft.com/office/powerpoint/2010/main" val="2859165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Books To </a:t>
            </a:r>
            <a:r>
              <a:rPr dirty="0" err="1" smtClean="0"/>
              <a:t>Refere</a:t>
            </a:r>
            <a:endParaRPr dirty="0"/>
          </a:p>
        </p:txBody>
      </p:sp>
      <p:sp>
        <p:nvSpPr>
          <p:cNvPr id="3" name="Content Placeholder 2"/>
          <p:cNvSpPr>
            <a:spLocks noGrp="1"/>
          </p:cNvSpPr>
          <p:nvPr>
            <p:ph idx="1"/>
          </p:nvPr>
        </p:nvSpPr>
        <p:spPr/>
        <p:txBody>
          <a:bodyPr/>
          <a:lstStyle/>
          <a:p>
            <a:r>
              <a:rPr dirty="0" smtClean="0"/>
              <a:t> </a:t>
            </a:r>
            <a:r>
              <a:rPr lang="en-US" dirty="0" smtClean="0"/>
              <a:t>Tom White </a:t>
            </a:r>
            <a:r>
              <a:rPr dirty="0" smtClean="0"/>
              <a:t>et </a:t>
            </a:r>
            <a:r>
              <a:rPr dirty="0"/>
              <a:t>al., </a:t>
            </a:r>
            <a:r>
              <a:rPr lang="en-US" dirty="0" err="1"/>
              <a:t>H</a:t>
            </a:r>
            <a:r>
              <a:rPr lang="en-US" dirty="0" err="1" smtClean="0"/>
              <a:t>adoop</a:t>
            </a:r>
            <a:r>
              <a:rPr lang="en-US" dirty="0" smtClean="0"/>
              <a:t> The </a:t>
            </a:r>
            <a:r>
              <a:rPr lang="en-US" dirty="0"/>
              <a:t>D</a:t>
            </a:r>
            <a:r>
              <a:rPr lang="en-US" dirty="0" smtClean="0"/>
              <a:t>efinitive </a:t>
            </a:r>
            <a:r>
              <a:rPr lang="en-US" dirty="0"/>
              <a:t>G</a:t>
            </a:r>
            <a:r>
              <a:rPr lang="en-US" dirty="0" smtClean="0"/>
              <a:t>uide</a:t>
            </a:r>
            <a:endParaRPr dirty="0"/>
          </a:p>
          <a:p>
            <a:r>
              <a:rPr dirty="0" smtClean="0"/>
              <a:t> </a:t>
            </a:r>
            <a:r>
              <a:rPr dirty="0" err="1"/>
              <a:t>Tanenbaum</a:t>
            </a:r>
            <a:r>
              <a:rPr dirty="0"/>
              <a:t> &amp; Van Steen, Distributed Systems: Principles and Paradigms</a:t>
            </a:r>
          </a:p>
          <a:p>
            <a:r>
              <a:rPr lang="en-US" dirty="0" smtClean="0"/>
              <a:t> </a:t>
            </a:r>
            <a:r>
              <a:rPr dirty="0" smtClean="0"/>
              <a:t>HDFS </a:t>
            </a:r>
            <a:r>
              <a:rPr dirty="0"/>
              <a:t>documentation (Apache </a:t>
            </a:r>
            <a:r>
              <a:rPr dirty="0" err="1"/>
              <a:t>Hadoop</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733</TotalTime>
  <Words>1187</Words>
  <Application>Microsoft Office PowerPoint</Application>
  <PresentationFormat>On-screen Show (4:3)</PresentationFormat>
  <Paragraphs>135</Paragraphs>
  <Slides>32</Slides>
  <Notes>1</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Unit III – Distributed File Systems &amp; Resource Management</vt:lpstr>
      <vt:lpstr>Overview of Unit III</vt:lpstr>
      <vt:lpstr>Distributed File Systems </vt:lpstr>
      <vt:lpstr>Objectives of DFS</vt:lpstr>
      <vt:lpstr>Distributed File System</vt:lpstr>
      <vt:lpstr>Components of DFS</vt:lpstr>
      <vt:lpstr>File Models</vt:lpstr>
      <vt:lpstr>Accessing Mechanisms</vt:lpstr>
      <vt:lpstr>Accessing Mechanisms</vt:lpstr>
      <vt:lpstr>File Replication </vt:lpstr>
      <vt:lpstr>PowerPoint Presentation</vt:lpstr>
      <vt:lpstr>Atomic Transactions in DFS</vt:lpstr>
      <vt:lpstr>PowerPoint Presentation</vt:lpstr>
      <vt:lpstr>PowerPoint Presentation</vt:lpstr>
      <vt:lpstr>Case Study – Hadoop HDFS</vt:lpstr>
      <vt:lpstr>Architecture of HDFS</vt:lpstr>
      <vt:lpstr>Architecture of HDFS</vt:lpstr>
      <vt:lpstr>Case Study – Hadoop HDFS</vt:lpstr>
      <vt:lpstr>Hadoop HDFS</vt:lpstr>
      <vt:lpstr>Hadoop HDFS</vt:lpstr>
      <vt:lpstr>PowerPoint Presentation</vt:lpstr>
      <vt:lpstr>Hadoop MapReduce</vt:lpstr>
      <vt:lpstr>Two main phases of MapReduce </vt:lpstr>
      <vt:lpstr>Map Reduce Architecture </vt:lpstr>
      <vt:lpstr>Hadoop Resource and Process Management</vt:lpstr>
      <vt:lpstr>YARN Architecture (Core Component) </vt:lpstr>
      <vt:lpstr>PowerPoint Presentation</vt:lpstr>
      <vt:lpstr>Benefits of YARN </vt:lpstr>
      <vt:lpstr>Load Balancing Approach</vt:lpstr>
      <vt:lpstr>Load Sharing Approach</vt:lpstr>
      <vt:lpstr>Comparison</vt:lpstr>
      <vt:lpstr>Books To Refere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III – Distributed File Systems &amp; Resource Management</dc:title>
  <dc:subject/>
  <dc:creator/>
  <cp:keywords/>
  <dc:description>generated using python-pptx</dc:description>
  <cp:lastModifiedBy>abc</cp:lastModifiedBy>
  <cp:revision>63</cp:revision>
  <dcterms:created xsi:type="dcterms:W3CDTF">2013-01-27T09:14:16Z</dcterms:created>
  <dcterms:modified xsi:type="dcterms:W3CDTF">2025-12-09T14:13:27Z</dcterms:modified>
  <cp:category/>
</cp:coreProperties>
</file>