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CBEBF-4394-E020-26B3-C80A059835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A83632-E4E0-AFDC-1CC4-C96356AE0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2AC81-42C5-2F45-A3ED-AC919E5FF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7EF9-287C-4F60-9500-5257AEEEB8BF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9406E-74BF-32C2-9701-D31D206F6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00DDA-9EC0-6BB9-6518-AC72135F0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92653-C64A-430F-8A65-99ED0D732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430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6F03D-E349-9D21-55EC-EF87337A8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49BC7-0AB2-4436-6778-7B643F73F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3D3B5-387E-5675-E760-317B6A07A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7EF9-287C-4F60-9500-5257AEEEB8BF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D934C-636A-8618-3093-961BFB3F8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CA40C-8357-0545-163C-4FD931A41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92653-C64A-430F-8A65-99ED0D732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718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43432-2CB1-EA35-0554-B12DD3166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13AB9-29D6-A902-A7B9-235103022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8E245-A659-E4FC-0995-9078AD15D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7EF9-287C-4F60-9500-5257AEEEB8BF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B427C-2FD8-3180-EB1D-3B98C9187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4898D-6B99-E9D9-DA67-207C6574B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92653-C64A-430F-8A65-99ED0D732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801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B848F-17AB-6312-8510-E1580E504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93399-EBCD-7E83-20D4-973CCAEAA3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00D646-B900-B7C2-A242-27F7DC946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88D4F-CB6D-93A3-D0CA-D08D72E98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7EF9-287C-4F60-9500-5257AEEEB8BF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797CE5-4B63-2550-3A1D-76D3B1750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926461-2C6A-027F-D7EC-18E3269E9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92653-C64A-430F-8A65-99ED0D732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509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38A1A-B945-EFFF-B8E3-D07160749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EF41F-E931-102E-1642-CA933E377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E53877-2A1C-99C0-678E-A2697D9095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77D7F5-84B4-1E41-C895-232F174F5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F66C73-7B98-8FC5-F3DF-43FF943FB0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4D2BE2-7A3B-6790-B80B-4FA9BD213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7EF9-287C-4F60-9500-5257AEEEB8BF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D0FB35-761A-F041-C46A-65678E7C7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47F704-C61E-01F1-8B2D-1DC4F9D93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92653-C64A-430F-8A65-99ED0D732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320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A8BB3-1310-A04B-C38F-C8791B9D6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4EC6F7-3F54-3B88-3F31-2BDEFAD69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7EF9-287C-4F60-9500-5257AEEEB8BF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96E66A-C095-E0AE-204D-1B237D66C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72213D-D41C-F522-9B5E-B0B0F5497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92653-C64A-430F-8A65-99ED0D732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226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D5BC93-D618-5FE3-2D1D-5E857C8B1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7EF9-287C-4F60-9500-5257AEEEB8BF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30AE05-80E7-6D15-6E2E-709E5D974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58955E-5DC1-DD91-A4D2-647A07CC5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92653-C64A-430F-8A65-99ED0D732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810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953F3-8578-4654-EDCA-B10B0ACDB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50D3B-7037-D319-EBDC-76168A01D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07335-6D20-526D-1A5E-39D332FA25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F482F6-1DFA-A063-8506-382527DAC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7EF9-287C-4F60-9500-5257AEEEB8BF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A2947F-D760-2EB8-C522-FE24A64DD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1647E-0DBF-3E6C-9913-EB43DB1DD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92653-C64A-430F-8A65-99ED0D732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098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14D61-B16F-84FD-DF0F-EB351D451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CAECEA-5C74-E0F6-7023-0A23DC951D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9C77A-7A85-CDE8-9EEC-C904AAC9C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10BCA1-2436-2615-8267-35ABB3BA8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7EF9-287C-4F60-9500-5257AEEEB8BF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221498-535C-F751-F4A4-6B555CDDE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DFE7E-202C-7D10-7DE3-0AC5F9F36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92653-C64A-430F-8A65-99ED0D732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669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87975-5F5F-5730-7A98-7AA46EE9F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96AC93-E9A8-764A-0C7F-526A656E39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70DCC-92DE-D8C7-06CE-CE491D270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7EF9-287C-4F60-9500-5257AEEEB8BF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6A128-CE8D-1437-E366-D5902D0A9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D1E2C-996B-0311-E507-42527095E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92653-C64A-430F-8A65-99ED0D732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300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D83969-F39A-5410-1D3E-608FBC596E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081BE6-CD5C-B84F-9A95-2B2142262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1EC07-D758-3058-F98E-9AB981116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7EF9-287C-4F60-9500-5257AEEEB8BF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C0FD4-E5E1-CAB5-516A-D5022A932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B118E-E9E3-C159-E3D0-29C98F915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92653-C64A-430F-8A65-99ED0D732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38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38BDCC-3196-F0A7-54E4-BCD33F310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DE274A-EB4E-B67F-0D68-31BB69107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780D9-47FD-F508-3B49-B5F1FA56A0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F67EF9-287C-4F60-9500-5257AEEEB8BF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72D3-3DF1-B850-DE1B-3115232BF3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D47A8-9195-7DFA-745A-3FE521D831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D92653-C64A-430F-8A65-99ED0D732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786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3D32F-E71E-1C9C-8018-A46EEC7026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Unit 4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EF28DD-6B91-833D-9FB6-64299C648A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336" y="3602038"/>
            <a:ext cx="10707328" cy="165576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(Data Pre‐processing,  Data Transformation, Data Reduction, Feature Extraction)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772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5D9CA86-5FAA-EAB4-15D6-3FBD41E61B40}"/>
              </a:ext>
            </a:extLst>
          </p:cNvPr>
          <p:cNvSpPr txBox="1"/>
          <p:nvPr/>
        </p:nvSpPr>
        <p:spPr>
          <a:xfrm>
            <a:off x="344129" y="406624"/>
            <a:ext cx="1142508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Data Pre-processing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Data pre-processing is the </a:t>
            </a:r>
            <a:r>
              <a:rPr lang="en-US" b="1" dirty="0"/>
              <a:t>first and most critical step</a:t>
            </a:r>
            <a:r>
              <a:rPr lang="en-US" dirty="0"/>
              <a:t> in the data science and machine learning pipeline. Real-world data collected from sources such as sensors, databases, surveys, or web applications is often </a:t>
            </a:r>
            <a:r>
              <a:rPr lang="en-US" b="1" dirty="0"/>
              <a:t>incomplete, noisy, inconsistent, and unstructured</a:t>
            </a:r>
            <a:r>
              <a:rPr lang="en-US" dirty="0"/>
              <a:t>. Using such raw data directly for analysis leads to inaccurate results.</a:t>
            </a:r>
          </a:p>
          <a:p>
            <a:pPr>
              <a:buNone/>
            </a:pPr>
            <a:r>
              <a:rPr lang="en-US" dirty="0"/>
              <a:t>Data pre-processing involves </a:t>
            </a:r>
            <a:r>
              <a:rPr lang="en-US" b="1" dirty="0"/>
              <a:t>cleaning, organizing, and preparing raw data</a:t>
            </a:r>
            <a:r>
              <a:rPr lang="en-US" dirty="0"/>
              <a:t> so that it becomes suitable for analysis, modeling, and decision-making.</a:t>
            </a:r>
          </a:p>
          <a:p>
            <a:pPr>
              <a:buNone/>
            </a:pP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Objectives of Data Pre-processing</a:t>
            </a:r>
          </a:p>
          <a:p>
            <a:r>
              <a:rPr lang="en-US" dirty="0"/>
              <a:t>Improve data quality and reliability</a:t>
            </a:r>
          </a:p>
          <a:p>
            <a:r>
              <a:rPr lang="en-US" dirty="0"/>
              <a:t>Remove noise and inconsistencies</a:t>
            </a:r>
          </a:p>
          <a:p>
            <a:r>
              <a:rPr lang="en-US" dirty="0"/>
              <a:t>Handle missing and incorrect values</a:t>
            </a:r>
          </a:p>
          <a:p>
            <a:r>
              <a:rPr lang="en-US" dirty="0"/>
              <a:t>Convert data into a usable format</a:t>
            </a:r>
          </a:p>
          <a:p>
            <a:r>
              <a:rPr lang="en-US" dirty="0"/>
              <a:t>Increase the accuracy and performance of machine learning models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369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62ADC9-83F6-68BE-6D0A-8F3CF40EAE2B}"/>
              </a:ext>
            </a:extLst>
          </p:cNvPr>
          <p:cNvSpPr txBox="1"/>
          <p:nvPr/>
        </p:nvSpPr>
        <p:spPr>
          <a:xfrm>
            <a:off x="403123" y="306947"/>
            <a:ext cx="1127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Steps in Data Pre-processing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5DEB8D-F0E2-C41B-8196-2D47B3EC2892}"/>
              </a:ext>
            </a:extLst>
          </p:cNvPr>
          <p:cNvSpPr txBox="1"/>
          <p:nvPr/>
        </p:nvSpPr>
        <p:spPr>
          <a:xfrm>
            <a:off x="403123" y="852125"/>
            <a:ext cx="112776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1 Data Cleaning</a:t>
            </a:r>
          </a:p>
          <a:p>
            <a:pPr>
              <a:buNone/>
            </a:pPr>
            <a:r>
              <a:rPr lang="en-US" dirty="0"/>
              <a:t>Data cleaning is the process of identifying and correcting errors in data.</a:t>
            </a:r>
          </a:p>
          <a:p>
            <a:pPr>
              <a:buNone/>
            </a:pPr>
            <a:r>
              <a:rPr lang="en-US" b="1" dirty="0"/>
              <a:t>Common Data Issues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Missing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Duplicate records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Incorrect or inconsistent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Outliers</a:t>
            </a:r>
          </a:p>
          <a:p>
            <a:pPr>
              <a:buNone/>
            </a:pPr>
            <a:r>
              <a:rPr lang="en-US" b="1" dirty="0"/>
              <a:t>Techniques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Missing Value Handling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Replace with mean/median/mode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Remove rows or columns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Predict missing values using ML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Outlier Detection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Z-score method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Interquartile Range (IQR)</a:t>
            </a:r>
          </a:p>
          <a:p>
            <a:pPr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In a student dataset, if the age value is missing, it can be replaced with the average age of all students.</a:t>
            </a:r>
          </a:p>
        </p:txBody>
      </p:sp>
    </p:spTree>
    <p:extLst>
      <p:ext uri="{BB962C8B-B14F-4D97-AF65-F5344CB8AC3E}">
        <p14:creationId xmlns:p14="http://schemas.microsoft.com/office/powerpoint/2010/main" val="1978668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DFCCD8-2795-46AC-1EC1-DB2A87D827D9}"/>
              </a:ext>
            </a:extLst>
          </p:cNvPr>
          <p:cNvSpPr txBox="1"/>
          <p:nvPr/>
        </p:nvSpPr>
        <p:spPr>
          <a:xfrm>
            <a:off x="334296" y="368142"/>
            <a:ext cx="11415251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2 Data Integration</a:t>
            </a:r>
          </a:p>
          <a:p>
            <a:pPr>
              <a:buNone/>
            </a:pPr>
            <a:r>
              <a:rPr lang="en-US" dirty="0"/>
              <a:t>Data integration combines data from </a:t>
            </a:r>
            <a:r>
              <a:rPr lang="en-US" b="1" dirty="0"/>
              <a:t>multiple sources</a:t>
            </a:r>
            <a:r>
              <a:rPr lang="en-US" dirty="0"/>
              <a:t> into a unified dataset.</a:t>
            </a:r>
          </a:p>
          <a:p>
            <a:pPr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Combining student academic records from the examination department and attendance data from the ERP system.</a:t>
            </a:r>
          </a:p>
          <a:p>
            <a:pPr>
              <a:buNone/>
            </a:pPr>
            <a:r>
              <a:rPr lang="en-US" b="1" dirty="0"/>
              <a:t>Challenges: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Different data formats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Duplicate attributes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Naming conflicts</a:t>
            </a:r>
          </a:p>
          <a:p>
            <a:endParaRPr lang="en-US" dirty="0"/>
          </a:p>
          <a:p>
            <a:r>
              <a:rPr lang="en-IN" b="1" dirty="0">
                <a:solidFill>
                  <a:srgbClr val="FF0000"/>
                </a:solidFill>
              </a:rPr>
              <a:t>3 Data Transformation</a:t>
            </a:r>
          </a:p>
          <a:p>
            <a:r>
              <a:rPr lang="en-IN" dirty="0"/>
              <a:t>Data transformation converts raw data into an appropriate format for analysis.</a:t>
            </a:r>
          </a:p>
          <a:p>
            <a:r>
              <a:rPr lang="en-IN" dirty="0"/>
              <a:t>Common transformations include:</a:t>
            </a:r>
          </a:p>
          <a:p>
            <a:r>
              <a:rPr lang="en-IN" dirty="0"/>
              <a:t>Normalization</a:t>
            </a:r>
          </a:p>
          <a:p>
            <a:r>
              <a:rPr lang="en-IN" dirty="0"/>
              <a:t>Standardization</a:t>
            </a:r>
          </a:p>
          <a:p>
            <a:r>
              <a:rPr lang="en-IN" dirty="0"/>
              <a:t>Encoding categorical data</a:t>
            </a:r>
          </a:p>
          <a:p>
            <a:r>
              <a:rPr lang="en-IN" dirty="0"/>
              <a:t>Aggregation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4 Data Reduction</a:t>
            </a:r>
          </a:p>
          <a:p>
            <a:r>
              <a:rPr lang="en-US" dirty="0"/>
              <a:t>Data reduction aims to reduce dataset size without losing essential information.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Reducing a dataset of 1 million customer records to 100,000 representative samples.</a:t>
            </a:r>
          </a:p>
        </p:txBody>
      </p:sp>
    </p:spTree>
    <p:extLst>
      <p:ext uri="{BB962C8B-B14F-4D97-AF65-F5344CB8AC3E}">
        <p14:creationId xmlns:p14="http://schemas.microsoft.com/office/powerpoint/2010/main" val="456105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15D91A6-8D8D-0BAD-8D0E-FF54F0A06D6E}"/>
                  </a:ext>
                </a:extLst>
              </p:cNvPr>
              <p:cNvSpPr txBox="1"/>
              <p:nvPr/>
            </p:nvSpPr>
            <p:spPr>
              <a:xfrm>
                <a:off x="304800" y="323220"/>
                <a:ext cx="11503742" cy="6162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Data Transformation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dirty="0"/>
                  <a:t>Data transformation is the process of converting data into a format suitable for machine learning algorithms by changing scale, structure, or representation.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IN" b="1" dirty="0">
                    <a:solidFill>
                      <a:srgbClr val="FF0000"/>
                    </a:solidFill>
                  </a:rPr>
                  <a:t>Types of Data Transformation</a:t>
                </a:r>
              </a:p>
              <a:p>
                <a:pPr>
                  <a:buNone/>
                </a:pPr>
                <a:endParaRPr lang="en-IN" b="1" dirty="0">
                  <a:solidFill>
                    <a:srgbClr val="FF0000"/>
                  </a:solidFill>
                </a:endParaRPr>
              </a:p>
              <a:p>
                <a:r>
                  <a:rPr lang="en-IN" b="1" dirty="0"/>
                  <a:t>1. Normalization</a:t>
                </a:r>
              </a:p>
              <a:p>
                <a:r>
                  <a:rPr lang="en-IN" dirty="0"/>
                  <a:t>Normalization rescales data values between 0 and 1.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/>
                          </m:ctrlPr>
                        </m:sSupPr>
                        <m:e>
                          <m:r>
                            <a:rPr lang="ar-AE" i="1"/>
                            <m:t>𝑋</m:t>
                          </m:r>
                        </m:e>
                        <m:sup>
                          <m:r>
                            <a:rPr lang="ar-AE"/>
                            <m:t>′</m:t>
                          </m:r>
                        </m:sup>
                      </m:sSup>
                      <m:r>
                        <a:rPr lang="ar-AE"/>
                        <m:t>=</m:t>
                      </m:r>
                      <m:f>
                        <m:fPr>
                          <m:ctrlPr>
                            <a:rPr lang="ar-AE" i="1"/>
                          </m:ctrlPr>
                        </m:fPr>
                        <m:num>
                          <m:r>
                            <a:rPr lang="ar-AE" i="1"/>
                            <m:t>𝑋</m:t>
                          </m:r>
                          <m:r>
                            <a:rPr lang="ar-AE"/>
                            <m:t>−</m:t>
                          </m:r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𝑋</m:t>
                              </m:r>
                            </m:e>
                            <m:sub>
                              <m:r>
                                <a:rPr lang="ar-AE" i="1"/>
                                <m:t>𝑚𝑖𝑛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𝑋</m:t>
                              </m:r>
                            </m:e>
                            <m:sub>
                              <m:r>
                                <a:rPr lang="ar-AE" i="1"/>
                                <m:t>𝑚𝑎𝑥</m:t>
                              </m:r>
                            </m:sub>
                          </m:sSub>
                          <m:r>
                            <a:rPr lang="ar-AE"/>
                            <m:t>−</m:t>
                          </m:r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𝑋</m:t>
                              </m:r>
                            </m:e>
                            <m:sub>
                              <m:r>
                                <a:rPr lang="ar-AE" i="1"/>
                                <m:t>𝑚𝑖𝑛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dirty="0"/>
              </a:p>
              <a:p>
                <a:r>
                  <a:rPr lang="en-IN" b="1" dirty="0"/>
                  <a:t>Example:</a:t>
                </a:r>
                <a:br>
                  <a:rPr lang="en-IN" dirty="0"/>
                </a:br>
                <a:r>
                  <a:rPr lang="en-IN" dirty="0"/>
                  <a:t>If age ranges from 10 to 60, a value of 30 becomes: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ar-AE"/>
                          </m:ctrlPr>
                        </m:dPr>
                        <m:e>
                          <m:r>
                            <a:rPr lang="ar-AE"/>
                            <m:t>30</m:t>
                          </m:r>
                          <m:r>
                            <a:rPr lang="ar-AE"/>
                            <m:t>−</m:t>
                          </m:r>
                          <m:r>
                            <a:rPr lang="ar-AE"/>
                            <m:t>10</m:t>
                          </m:r>
                        </m:e>
                      </m:d>
                      <m:r>
                        <a:rPr lang="ar-AE"/>
                        <m:t>/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/>
                            <m:t>60</m:t>
                          </m:r>
                          <m:r>
                            <a:rPr lang="ar-AE"/>
                            <m:t>−</m:t>
                          </m:r>
                          <m:r>
                            <a:rPr lang="ar-AE"/>
                            <m:t>10</m:t>
                          </m:r>
                        </m:e>
                      </m:d>
                      <m:r>
                        <a:rPr lang="ar-AE"/>
                        <m:t>=</m:t>
                      </m:r>
                      <m:r>
                        <a:rPr lang="ar-AE"/>
                        <m:t>0</m:t>
                      </m:r>
                      <m:r>
                        <a:rPr lang="ar-AE"/>
                        <m:t>.</m:t>
                      </m:r>
                      <m:r>
                        <a:rPr lang="ar-AE"/>
                        <m:t>4</m:t>
                      </m:r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Used in distance-based algorithms like </a:t>
                </a:r>
                <a:r>
                  <a:rPr lang="en-IN" b="1" dirty="0"/>
                  <a:t>KNN and K-means</a:t>
                </a:r>
                <a:r>
                  <a:rPr lang="en-IN" dirty="0"/>
                  <a:t>.</a:t>
                </a:r>
              </a:p>
              <a:p>
                <a:pPr>
                  <a:buNone/>
                </a:pPr>
                <a:endParaRPr lang="en-US" b="1" dirty="0">
                  <a:solidFill>
                    <a:srgbClr val="FF0000"/>
                  </a:solidFill>
                </a:endParaRPr>
              </a:p>
              <a:p>
                <a:r>
                  <a:rPr lang="en-IN" b="1" dirty="0"/>
                  <a:t>2. Standardization</a:t>
                </a:r>
              </a:p>
              <a:p>
                <a:r>
                  <a:rPr lang="en-IN" dirty="0"/>
                  <a:t>Transforms data to have a mean of 0 and standard deviation of 1.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𝑍</m:t>
                      </m:r>
                      <m:r>
                        <a:rPr lang="en-IN"/>
                        <m:t>=</m:t>
                      </m:r>
                      <m:f>
                        <m:fPr>
                          <m:ctrlPr>
                            <a:rPr lang="ar-AE" i="1"/>
                          </m:ctrlPr>
                        </m:fPr>
                        <m:num>
                          <m:r>
                            <a:rPr lang="ar-AE" i="1"/>
                            <m:t>𝑋</m:t>
                          </m:r>
                          <m:r>
                            <a:rPr lang="ar-AE"/>
                            <m:t>−</m:t>
                          </m:r>
                          <m:r>
                            <a:rPr lang="ar-AE" i="1"/>
                            <m:t>𝜇</m:t>
                          </m:r>
                        </m:num>
                        <m:den>
                          <m:r>
                            <a:rPr lang="ar-AE" i="1"/>
                            <m:t>𝜎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Useful when features have different units (e.g., height in cm, income in ₹).</a:t>
                </a:r>
              </a:p>
              <a:p>
                <a:pPr>
                  <a:buNone/>
                </a:pP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15D91A6-8D8D-0BAD-8D0E-FF54F0A06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23220"/>
                <a:ext cx="11503742" cy="6162328"/>
              </a:xfrm>
              <a:prstGeom prst="rect">
                <a:avLst/>
              </a:prstGeom>
              <a:blipFill>
                <a:blip r:embed="rId2"/>
                <a:stretch>
                  <a:fillRect l="-424" t="-3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7468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1C8872-DA30-C14A-8F19-86B3F592331D}"/>
              </a:ext>
            </a:extLst>
          </p:cNvPr>
          <p:cNvSpPr txBox="1"/>
          <p:nvPr/>
        </p:nvSpPr>
        <p:spPr>
          <a:xfrm>
            <a:off x="304799" y="241171"/>
            <a:ext cx="1147424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3. Encoding Categorical Variables</a:t>
            </a:r>
          </a:p>
          <a:p>
            <a:pPr>
              <a:buNone/>
            </a:pPr>
            <a:r>
              <a:rPr lang="en-IN" dirty="0"/>
              <a:t>Converts categorical data into numerical form.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Label Encoding:</a:t>
            </a:r>
            <a:r>
              <a:rPr lang="en-IN" dirty="0"/>
              <a:t> Assigns numeric labels (Male=0, Female=1)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One-Hot Encoding:</a:t>
            </a:r>
            <a:r>
              <a:rPr lang="en-IN" dirty="0"/>
              <a:t> Creates binary columns for each category</a:t>
            </a:r>
          </a:p>
          <a:p>
            <a:pPr>
              <a:buNone/>
            </a:pPr>
            <a:r>
              <a:rPr lang="en-IN" b="1" dirty="0"/>
              <a:t>Example:</a:t>
            </a:r>
            <a:br>
              <a:rPr lang="en-IN" dirty="0"/>
            </a:br>
            <a:r>
              <a:rPr lang="en-IN" dirty="0" err="1"/>
              <a:t>Color</a:t>
            </a:r>
            <a:r>
              <a:rPr lang="en-IN" dirty="0"/>
              <a:t> → Red, Blue, Green</a:t>
            </a:r>
            <a:br>
              <a:rPr lang="en-IN" dirty="0"/>
            </a:br>
            <a:r>
              <a:rPr lang="en-IN" dirty="0"/>
              <a:t>→ [1,0,0], [0,1,0], [0,0,1]</a:t>
            </a:r>
          </a:p>
          <a:p>
            <a:pPr>
              <a:buNone/>
            </a:pPr>
            <a:endParaRPr lang="en-IN" dirty="0"/>
          </a:p>
          <a:p>
            <a:r>
              <a:rPr lang="en-US" b="1" dirty="0"/>
              <a:t>4. Aggregation</a:t>
            </a:r>
          </a:p>
          <a:p>
            <a:r>
              <a:rPr lang="en-US" dirty="0"/>
              <a:t>Combines multiple records into a single value.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Daily sales → Monthly sales total.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667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028F03-3CC0-9901-ABF9-9FB66F0E3E6D}"/>
              </a:ext>
            </a:extLst>
          </p:cNvPr>
          <p:cNvSpPr txBox="1"/>
          <p:nvPr/>
        </p:nvSpPr>
        <p:spPr>
          <a:xfrm>
            <a:off x="285135" y="225745"/>
            <a:ext cx="1150374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Data Reduction</a:t>
            </a:r>
          </a:p>
          <a:p>
            <a:r>
              <a:rPr lang="en-US" dirty="0"/>
              <a:t>Data reduction refers to techniques that reduce the volume of data while preserving important patterns and relationships.</a:t>
            </a:r>
          </a:p>
          <a:p>
            <a:endParaRPr lang="en-US" dirty="0"/>
          </a:p>
          <a:p>
            <a:r>
              <a:rPr lang="en-US" b="1" dirty="0"/>
              <a:t>Need for Data Reduction</a:t>
            </a:r>
          </a:p>
          <a:p>
            <a:r>
              <a:rPr lang="en-US" dirty="0"/>
              <a:t>Improves computational efficiency</a:t>
            </a:r>
          </a:p>
          <a:p>
            <a:r>
              <a:rPr lang="en-US" dirty="0"/>
              <a:t>Reduces storage cost</a:t>
            </a:r>
          </a:p>
          <a:p>
            <a:r>
              <a:rPr lang="en-US" dirty="0"/>
              <a:t>Avoids overfitting</a:t>
            </a:r>
          </a:p>
          <a:p>
            <a:r>
              <a:rPr lang="en-US" dirty="0"/>
              <a:t>Improves model performance</a:t>
            </a:r>
          </a:p>
          <a:p>
            <a:endParaRPr lang="en-US" dirty="0"/>
          </a:p>
          <a:p>
            <a:r>
              <a:rPr lang="en-IN" b="1" dirty="0"/>
              <a:t>Data Reduction Techniques</a:t>
            </a:r>
          </a:p>
          <a:p>
            <a:endParaRPr lang="en-IN" b="1" dirty="0"/>
          </a:p>
          <a:p>
            <a:r>
              <a:rPr lang="en-US" b="1" dirty="0"/>
              <a:t>1. Dimensionality Reduction</a:t>
            </a:r>
          </a:p>
          <a:p>
            <a:r>
              <a:rPr lang="en-US" dirty="0"/>
              <a:t>Reduces the number of features (variables).</a:t>
            </a:r>
          </a:p>
          <a:p>
            <a:r>
              <a:rPr lang="en-US" b="1" dirty="0"/>
              <a:t>Principal Component Analysis (PCA)</a:t>
            </a:r>
          </a:p>
          <a:p>
            <a:r>
              <a:rPr lang="en-US" dirty="0"/>
              <a:t>Converts correlated features into uncorrelated components</a:t>
            </a:r>
          </a:p>
          <a:p>
            <a:r>
              <a:rPr lang="en-US" dirty="0"/>
              <a:t>Retains maximum variance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Reducing 50 features to 10 principal components.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36810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D7664C-F269-9068-B27E-55B6E9CCB8D3}"/>
              </a:ext>
            </a:extLst>
          </p:cNvPr>
          <p:cNvSpPr txBox="1"/>
          <p:nvPr/>
        </p:nvSpPr>
        <p:spPr>
          <a:xfrm>
            <a:off x="363793" y="253546"/>
            <a:ext cx="1142508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Feature Selection</a:t>
            </a:r>
          </a:p>
          <a:p>
            <a:pPr>
              <a:buNone/>
            </a:pPr>
            <a:r>
              <a:rPr lang="en-US" dirty="0"/>
              <a:t>Selects only the most relevant features.</a:t>
            </a:r>
          </a:p>
          <a:p>
            <a:pPr>
              <a:buNone/>
            </a:pPr>
            <a:r>
              <a:rPr lang="en-US" dirty="0"/>
              <a:t>Types: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Filter methods (correlation, chi-square)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Wrapper methods (recursive feature elimination)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Embedded methods (LASSO)</a:t>
            </a:r>
          </a:p>
          <a:p>
            <a:endParaRPr lang="en-US" dirty="0"/>
          </a:p>
          <a:p>
            <a:r>
              <a:rPr lang="en-US" b="1" dirty="0"/>
              <a:t>3. Sampling</a:t>
            </a:r>
          </a:p>
          <a:p>
            <a:r>
              <a:rPr lang="en-US" dirty="0"/>
              <a:t>Selecting a subset of data from a large dataset.</a:t>
            </a:r>
          </a:p>
          <a:p>
            <a:r>
              <a:rPr lang="en-US" dirty="0"/>
              <a:t>Types:</a:t>
            </a:r>
          </a:p>
          <a:p>
            <a:r>
              <a:rPr lang="en-US" dirty="0"/>
              <a:t>Random sampling</a:t>
            </a:r>
          </a:p>
          <a:p>
            <a:r>
              <a:rPr lang="en-US" dirty="0"/>
              <a:t>Stratified sampling</a:t>
            </a:r>
          </a:p>
          <a:p>
            <a:r>
              <a:rPr lang="en-US" dirty="0"/>
              <a:t>Systematic sampling</a:t>
            </a:r>
          </a:p>
          <a:p>
            <a:endParaRPr lang="en-US" dirty="0"/>
          </a:p>
          <a:p>
            <a:r>
              <a:rPr lang="en-IN" b="1" dirty="0"/>
              <a:t>4. Data Compression</a:t>
            </a:r>
          </a:p>
          <a:p>
            <a:r>
              <a:rPr lang="en-IN" dirty="0"/>
              <a:t>Reduces storage size using encoding techniques (e.g., PCA, autoencoders).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306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09D8AA-6656-8CA3-376A-CB7584A43DDE}"/>
              </a:ext>
            </a:extLst>
          </p:cNvPr>
          <p:cNvSpPr txBox="1"/>
          <p:nvPr/>
        </p:nvSpPr>
        <p:spPr>
          <a:xfrm>
            <a:off x="422787" y="213371"/>
            <a:ext cx="11287432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Feature Extraction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Feature extraction is the process of creating </a:t>
            </a:r>
            <a:r>
              <a:rPr lang="en-US" b="1" dirty="0"/>
              <a:t>new features</a:t>
            </a:r>
            <a:r>
              <a:rPr lang="en-US" dirty="0"/>
              <a:t> from existing data to better represent the underlying problem.</a:t>
            </a:r>
          </a:p>
          <a:p>
            <a:pPr>
              <a:buNone/>
            </a:pPr>
            <a:r>
              <a:rPr lang="en-US" dirty="0"/>
              <a:t>Unlike feature selection, it transforms original variables into new informative features.</a:t>
            </a:r>
          </a:p>
          <a:p>
            <a:pPr>
              <a:buNone/>
            </a:pPr>
            <a:endParaRPr lang="en-US" dirty="0"/>
          </a:p>
          <a:p>
            <a:r>
              <a:rPr lang="en-US" b="1" dirty="0"/>
              <a:t>Importance of Feature Extraction</a:t>
            </a:r>
          </a:p>
          <a:p>
            <a:r>
              <a:rPr lang="en-US" dirty="0"/>
              <a:t>Reduces dimensionality</a:t>
            </a:r>
          </a:p>
          <a:p>
            <a:r>
              <a:rPr lang="en-US" dirty="0"/>
              <a:t>Enhances model performance</a:t>
            </a:r>
          </a:p>
          <a:p>
            <a:r>
              <a:rPr lang="en-US" dirty="0"/>
              <a:t>Removes redundancy</a:t>
            </a:r>
          </a:p>
          <a:p>
            <a:r>
              <a:rPr lang="en-US" dirty="0"/>
              <a:t>Improves learning efficiency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IN" b="1" dirty="0"/>
              <a:t>Feature Extraction Techniques</a:t>
            </a:r>
          </a:p>
          <a:p>
            <a:r>
              <a:rPr lang="en-US" b="1" dirty="0"/>
              <a:t>1. Principal Component Analysis (PCA)</a:t>
            </a:r>
          </a:p>
          <a:p>
            <a:r>
              <a:rPr lang="en-US" dirty="0"/>
              <a:t>Transforms correlated variables into uncorrelated principal components ranked by variance.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Used in face recognition and image compression.</a:t>
            </a:r>
          </a:p>
          <a:p>
            <a:pPr>
              <a:buNone/>
            </a:pPr>
            <a:endParaRPr lang="en-US" b="1" dirty="0"/>
          </a:p>
          <a:p>
            <a:r>
              <a:rPr lang="en-US" b="1" dirty="0"/>
              <a:t>2. Linear Discriminant Analysis (LDA)</a:t>
            </a:r>
          </a:p>
          <a:p>
            <a:r>
              <a:rPr lang="en-US" dirty="0"/>
              <a:t>Maximizes separation between classes.</a:t>
            </a:r>
          </a:p>
          <a:p>
            <a:r>
              <a:rPr lang="en-US" dirty="0"/>
              <a:t>Used in classification problems.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27143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9A79EF-C5A7-BFAE-D8B2-EC39FAEEF035}"/>
              </a:ext>
            </a:extLst>
          </p:cNvPr>
          <p:cNvSpPr txBox="1"/>
          <p:nvPr/>
        </p:nvSpPr>
        <p:spPr>
          <a:xfrm>
            <a:off x="363793" y="333900"/>
            <a:ext cx="1139558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Feature Extraction in Text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Bag of Words (</a:t>
            </a:r>
            <a:r>
              <a:rPr lang="en-US" dirty="0" err="1"/>
              <a:t>BoW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TF-IDF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Word embeddings (Word2Vec, </a:t>
            </a:r>
            <a:r>
              <a:rPr lang="en-US" dirty="0" err="1"/>
              <a:t>GloVe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4. Feature Extraction in Image Data</a:t>
            </a:r>
          </a:p>
          <a:p>
            <a:r>
              <a:rPr lang="en-US" dirty="0"/>
              <a:t>Edge detection</a:t>
            </a:r>
          </a:p>
          <a:p>
            <a:r>
              <a:rPr lang="en-US" dirty="0"/>
              <a:t>Texture analysis</a:t>
            </a:r>
          </a:p>
          <a:p>
            <a:r>
              <a:rPr lang="en-US" dirty="0"/>
              <a:t>Histogram of Oriented Gradients (HOG)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618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34C678-99BF-DD55-B713-A8CD118B6E7E}"/>
              </a:ext>
            </a:extLst>
          </p:cNvPr>
          <p:cNvSpPr txBox="1"/>
          <p:nvPr/>
        </p:nvSpPr>
        <p:spPr>
          <a:xfrm>
            <a:off x="265471" y="266770"/>
            <a:ext cx="1158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Difference Between Data Pre-processing, Transformation, Reduction &amp; Feature Extraction</a:t>
            </a:r>
            <a:endParaRPr lang="en-IN" b="1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DF395C0-4149-3037-727A-990E37DF3E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20129"/>
              </p:ext>
            </p:extLst>
          </p:nvPr>
        </p:nvGraphicFramePr>
        <p:xfrm>
          <a:off x="265471" y="835761"/>
          <a:ext cx="10515600" cy="29260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55450689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098056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2782155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1524691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902258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Aspect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Pre-processing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 Extraction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566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Clean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Change format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Reduce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Create new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285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Clean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Transformed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Compact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Informative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079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Methods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Cleaning, integration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Scaling, encoding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PCA, sampling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PCA, LDA, embeddings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562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Remove nulls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Normalize values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Reduce dimensions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Extract text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33340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94AACDA-1D66-D8FC-1D1D-764B76FD421F}"/>
              </a:ext>
            </a:extLst>
          </p:cNvPr>
          <p:cNvSpPr txBox="1"/>
          <p:nvPr/>
        </p:nvSpPr>
        <p:spPr>
          <a:xfrm>
            <a:off x="265470" y="4195434"/>
            <a:ext cx="11474245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Data pre-processing, transformation, reduction, and feature extraction form the </a:t>
            </a:r>
            <a:r>
              <a:rPr lang="en-US" b="1" dirty="0"/>
              <a:t>foundation of effective data analytics and machine learning</a:t>
            </a:r>
            <a:r>
              <a:rPr lang="en-US" dirty="0"/>
              <a:t>. These steps ensure high-quality data, reduce complexity, improve model accuracy, and enable better decision-making. Without these processes, even the most advanced algorithms cannot deliver reliable results.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4827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915</Words>
  <Application>Microsoft Office PowerPoint</Application>
  <PresentationFormat>Widescreen</PresentationFormat>
  <Paragraphs>163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Unit 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Sapna Yadav Ph.D. (Commputer Science)</dc:creator>
  <cp:lastModifiedBy>Sapna Yadav Ph.D. (Commputer Science)</cp:lastModifiedBy>
  <cp:revision>1</cp:revision>
  <dcterms:created xsi:type="dcterms:W3CDTF">2025-12-25T19:24:10Z</dcterms:created>
  <dcterms:modified xsi:type="dcterms:W3CDTF">2025-12-25T19:36:42Z</dcterms:modified>
</cp:coreProperties>
</file>