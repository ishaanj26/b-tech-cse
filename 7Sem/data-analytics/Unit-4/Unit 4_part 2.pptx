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5B1F-5297-34EF-2810-C4FA794E5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EBF311-6D01-BFB2-6EB9-3F9C6D0CA8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61E4E1-6D7B-AE05-97D4-9BE63C87966C}"/>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5" name="Footer Placeholder 4">
            <a:extLst>
              <a:ext uri="{FF2B5EF4-FFF2-40B4-BE49-F238E27FC236}">
                <a16:creationId xmlns:a16="http://schemas.microsoft.com/office/drawing/2014/main" id="{1F952DB2-1F3E-6D46-169A-B143FFA68D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017478-490D-057C-C073-6992AEA78E8D}"/>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2649491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BF3D-6396-9ED0-6541-E80E62ED49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7D7DB6-9838-9F5B-E948-A70DEB6880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E1545F-478E-B377-54C4-E545A862BA50}"/>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5" name="Footer Placeholder 4">
            <a:extLst>
              <a:ext uri="{FF2B5EF4-FFF2-40B4-BE49-F238E27FC236}">
                <a16:creationId xmlns:a16="http://schemas.microsoft.com/office/drawing/2014/main" id="{0B460D36-75E5-F07F-17CC-1665CAA393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B4E4B5-F12B-3F0B-30D3-EE62293CDEB3}"/>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3326751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01198-3FA2-0A1F-55ED-6F976F4BF2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C69CAE-D241-6933-DD8F-6359D8ACBC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FAB1B1-6C55-E041-B9D1-1D57A560D28A}"/>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5" name="Footer Placeholder 4">
            <a:extLst>
              <a:ext uri="{FF2B5EF4-FFF2-40B4-BE49-F238E27FC236}">
                <a16:creationId xmlns:a16="http://schemas.microsoft.com/office/drawing/2014/main" id="{1CEE5E14-2E3D-4782-0960-0F3983BD4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6EF781-528D-F8E0-C43F-626B78F0F2C8}"/>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2807022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ACDD-A31A-0E9A-A96A-834BDCAF4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19F6FB-4E29-2832-C23E-8923D29D64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05AFD9-ACAC-7E1D-605F-2381FD485B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8D95B7-8CD4-0A9F-8CC5-D4836FCB2273}"/>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6" name="Footer Placeholder 5">
            <a:extLst>
              <a:ext uri="{FF2B5EF4-FFF2-40B4-BE49-F238E27FC236}">
                <a16:creationId xmlns:a16="http://schemas.microsoft.com/office/drawing/2014/main" id="{0E8D7C19-AB69-BD24-F3DA-BBAF8AE1E4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20EA50-4ADD-5A01-C1E0-6CAD40CCA645}"/>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459561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E33C5-97EB-D8AE-D751-0C9BC4FBF9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C2702F-C1EA-F3EF-930F-02A53C40D8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887517-AD84-89FA-58D4-28E2ED1776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5EAE07-131A-CE42-EA09-08405B9329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16909B-3429-2F3C-731B-8EDBBDCCB2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133EC3-B758-AF51-9BAD-009350FD3428}"/>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8" name="Footer Placeholder 7">
            <a:extLst>
              <a:ext uri="{FF2B5EF4-FFF2-40B4-BE49-F238E27FC236}">
                <a16:creationId xmlns:a16="http://schemas.microsoft.com/office/drawing/2014/main" id="{DEA187EC-6997-C9A8-9972-E5E2B3CF92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4C3C23-F5CC-D3BB-AACB-4A71ED3C9DFE}"/>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1156930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7157-5E87-2687-EEB6-53B90D6A8B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9D9771-5F3F-88E0-FB49-BC336F48783B}"/>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4" name="Footer Placeholder 3">
            <a:extLst>
              <a:ext uri="{FF2B5EF4-FFF2-40B4-BE49-F238E27FC236}">
                <a16:creationId xmlns:a16="http://schemas.microsoft.com/office/drawing/2014/main" id="{5058A5EC-D931-C9B1-153E-29A61AC380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A7AFDA-AAB7-37E3-33AC-002962F1DF21}"/>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54318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8BA407-8AF0-585A-9AFD-3B57D93DB9F2}"/>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3" name="Footer Placeholder 2">
            <a:extLst>
              <a:ext uri="{FF2B5EF4-FFF2-40B4-BE49-F238E27FC236}">
                <a16:creationId xmlns:a16="http://schemas.microsoft.com/office/drawing/2014/main" id="{C170B378-FF6E-053B-BF07-34F4A518A1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03EAC3-09C7-0833-A4BB-F4679A5A5FDD}"/>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3621580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676F-9A62-4EE6-BABB-FD22F8CC8F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3D77C4-9B08-4412-3AE5-E2F719DB3E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A25D42-2884-C02D-6A2C-184FC1119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AA59FC-B620-CD76-8F27-FA62CE929DA0}"/>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6" name="Footer Placeholder 5">
            <a:extLst>
              <a:ext uri="{FF2B5EF4-FFF2-40B4-BE49-F238E27FC236}">
                <a16:creationId xmlns:a16="http://schemas.microsoft.com/office/drawing/2014/main" id="{ADE5BEEB-E2B8-B9AA-8A81-1A048248A9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C15F6A-8A82-FD94-72F1-76A7A664E7F8}"/>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1136273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3D2E-C6BF-3087-E9EE-1C6F3D79A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267C187-7BFB-0D9E-A008-EAA5186F07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1B7E742-BFB8-5B6A-4E8E-B9962A436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B16A9A-874A-2818-85F5-495C5719ADC6}"/>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6" name="Footer Placeholder 5">
            <a:extLst>
              <a:ext uri="{FF2B5EF4-FFF2-40B4-BE49-F238E27FC236}">
                <a16:creationId xmlns:a16="http://schemas.microsoft.com/office/drawing/2014/main" id="{7D26D207-C353-8CF2-A634-FF1C52B8D8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345593-565B-A646-9885-45FCA786EBDA}"/>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559015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CF5C-0E74-7DC3-D4D7-3FE28E074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44B201-9E49-6AD7-E97E-FF5EDC05B4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4C56DB-E380-CE56-8ED1-53CE9B674BF3}"/>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5" name="Footer Placeholder 4">
            <a:extLst>
              <a:ext uri="{FF2B5EF4-FFF2-40B4-BE49-F238E27FC236}">
                <a16:creationId xmlns:a16="http://schemas.microsoft.com/office/drawing/2014/main" id="{81A79D50-11D6-9CAD-3DD5-7DD7E2695C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ADB36E-A972-015C-0B2C-0BBA9AE830AD}"/>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1908644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5FFAC9-4E00-8556-8F34-48D53A3055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841329-C2A6-4EBE-06F3-072845BCA3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B68AAD-6B71-0CE7-5D1A-52DC389CA309}"/>
              </a:ext>
            </a:extLst>
          </p:cNvPr>
          <p:cNvSpPr>
            <a:spLocks noGrp="1"/>
          </p:cNvSpPr>
          <p:nvPr>
            <p:ph type="dt" sz="half" idx="10"/>
          </p:nvPr>
        </p:nvSpPr>
        <p:spPr/>
        <p:txBody>
          <a:bodyPr/>
          <a:lstStyle/>
          <a:p>
            <a:fld id="{A89A40F0-179A-4AD6-B8B6-0B4ECC2DFC66}" type="datetimeFigureOut">
              <a:rPr lang="en-IN" smtClean="0"/>
              <a:t>25-12-2025</a:t>
            </a:fld>
            <a:endParaRPr lang="en-IN"/>
          </a:p>
        </p:txBody>
      </p:sp>
      <p:sp>
        <p:nvSpPr>
          <p:cNvPr id="5" name="Footer Placeholder 4">
            <a:extLst>
              <a:ext uri="{FF2B5EF4-FFF2-40B4-BE49-F238E27FC236}">
                <a16:creationId xmlns:a16="http://schemas.microsoft.com/office/drawing/2014/main" id="{F6C85A82-FA15-4B38-68CB-84BDA45D58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88F63D-2126-5D11-92C6-2F2E0DD985B5}"/>
              </a:ext>
            </a:extLst>
          </p:cNvPr>
          <p:cNvSpPr>
            <a:spLocks noGrp="1"/>
          </p:cNvSpPr>
          <p:nvPr>
            <p:ph type="sldNum" sz="quarter" idx="12"/>
          </p:nvPr>
        </p:nvSpPr>
        <p:spPr/>
        <p:txBody>
          <a:bodyPr/>
          <a:lstStyle/>
          <a:p>
            <a:fld id="{B6D43EA4-B7A8-4A36-B736-F30C30436FE1}" type="slidenum">
              <a:rPr lang="en-IN" smtClean="0"/>
              <a:t>‹#›</a:t>
            </a:fld>
            <a:endParaRPr lang="en-IN"/>
          </a:p>
        </p:txBody>
      </p:sp>
    </p:spTree>
    <p:extLst>
      <p:ext uri="{BB962C8B-B14F-4D97-AF65-F5344CB8AC3E}">
        <p14:creationId xmlns:p14="http://schemas.microsoft.com/office/powerpoint/2010/main" val="810716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0F8360-69FA-35E8-5F66-48A5EF4419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43C3B3-29AD-B570-5280-1942AE7B70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94DAC9-0468-ADFC-CFA1-88DE50FC5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9A40F0-179A-4AD6-B8B6-0B4ECC2DFC66}" type="datetimeFigureOut">
              <a:rPr lang="en-IN" smtClean="0"/>
              <a:t>25-12-2025</a:t>
            </a:fld>
            <a:endParaRPr lang="en-IN"/>
          </a:p>
        </p:txBody>
      </p:sp>
      <p:sp>
        <p:nvSpPr>
          <p:cNvPr id="5" name="Footer Placeholder 4">
            <a:extLst>
              <a:ext uri="{FF2B5EF4-FFF2-40B4-BE49-F238E27FC236}">
                <a16:creationId xmlns:a16="http://schemas.microsoft.com/office/drawing/2014/main" id="{904257F4-8C83-BE55-4C4B-F2057CF16C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F16888A-D99A-0074-BAA3-31BBABE598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D43EA4-B7A8-4A36-B736-F30C30436FE1}" type="slidenum">
              <a:rPr lang="en-IN" smtClean="0"/>
              <a:t>‹#›</a:t>
            </a:fld>
            <a:endParaRPr lang="en-IN"/>
          </a:p>
        </p:txBody>
      </p:sp>
    </p:spTree>
    <p:extLst>
      <p:ext uri="{BB962C8B-B14F-4D97-AF65-F5344CB8AC3E}">
        <p14:creationId xmlns:p14="http://schemas.microsoft.com/office/powerpoint/2010/main" val="2538337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AA1A1-E5EC-1DB0-E677-25D552BF5CCD}"/>
              </a:ext>
            </a:extLst>
          </p:cNvPr>
          <p:cNvSpPr>
            <a:spLocks noGrp="1"/>
          </p:cNvSpPr>
          <p:nvPr>
            <p:ph type="ctrTitle"/>
          </p:nvPr>
        </p:nvSpPr>
        <p:spPr/>
        <p:txBody>
          <a:bodyPr/>
          <a:lstStyle/>
          <a:p>
            <a:r>
              <a:rPr lang="en-US" dirty="0">
                <a:solidFill>
                  <a:srgbClr val="FF0000"/>
                </a:solidFill>
              </a:rPr>
              <a:t>Unit 4</a:t>
            </a:r>
            <a:endParaRPr lang="en-IN" dirty="0">
              <a:solidFill>
                <a:srgbClr val="FF0000"/>
              </a:solidFill>
            </a:endParaRPr>
          </a:p>
        </p:txBody>
      </p:sp>
      <p:sp>
        <p:nvSpPr>
          <p:cNvPr id="3" name="Subtitle 2">
            <a:extLst>
              <a:ext uri="{FF2B5EF4-FFF2-40B4-BE49-F238E27FC236}">
                <a16:creationId xmlns:a16="http://schemas.microsoft.com/office/drawing/2014/main" id="{69099A96-0104-7032-22E0-C2BA7F3FA8AD}"/>
              </a:ext>
            </a:extLst>
          </p:cNvPr>
          <p:cNvSpPr>
            <a:spLocks noGrp="1"/>
          </p:cNvSpPr>
          <p:nvPr>
            <p:ph type="subTitle" idx="1"/>
          </p:nvPr>
        </p:nvSpPr>
        <p:spPr/>
        <p:txBody>
          <a:bodyPr/>
          <a:lstStyle/>
          <a:p>
            <a:r>
              <a:rPr lang="en-US" dirty="0">
                <a:solidFill>
                  <a:srgbClr val="FF0000"/>
                </a:solidFill>
              </a:rPr>
              <a:t>(</a:t>
            </a:r>
            <a:r>
              <a:rPr lang="en-IN" dirty="0">
                <a:solidFill>
                  <a:srgbClr val="FF0000"/>
                </a:solidFill>
              </a:rPr>
              <a:t>Calculus for data  science)</a:t>
            </a:r>
          </a:p>
        </p:txBody>
      </p:sp>
    </p:spTree>
    <p:extLst>
      <p:ext uri="{BB962C8B-B14F-4D97-AF65-F5344CB8AC3E}">
        <p14:creationId xmlns:p14="http://schemas.microsoft.com/office/powerpoint/2010/main" val="1932595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2CB012-269D-1746-836C-D975B19B3C69}"/>
              </a:ext>
            </a:extLst>
          </p:cNvPr>
          <p:cNvSpPr txBox="1"/>
          <p:nvPr/>
        </p:nvSpPr>
        <p:spPr>
          <a:xfrm>
            <a:off x="462116" y="395998"/>
            <a:ext cx="11061290" cy="4524315"/>
          </a:xfrm>
          <a:prstGeom prst="rect">
            <a:avLst/>
          </a:prstGeom>
          <a:noFill/>
        </p:spPr>
        <p:txBody>
          <a:bodyPr wrap="square">
            <a:spAutoFit/>
          </a:bodyPr>
          <a:lstStyle/>
          <a:p>
            <a:pPr algn="just">
              <a:buNone/>
            </a:pPr>
            <a:r>
              <a:rPr lang="en-US" b="1" dirty="0">
                <a:solidFill>
                  <a:srgbClr val="FF0000"/>
                </a:solidFill>
              </a:rPr>
              <a:t>CALCULUS FOR DATA SCIENCE </a:t>
            </a:r>
          </a:p>
          <a:p>
            <a:pPr algn="just">
              <a:buNone/>
            </a:pPr>
            <a:endParaRPr lang="en-US" b="1" dirty="0"/>
          </a:p>
          <a:p>
            <a:pPr algn="just">
              <a:buNone/>
            </a:pPr>
            <a:r>
              <a:rPr lang="en-US" dirty="0"/>
              <a:t>Calculus is one of the most important mathematical foundations of data science. It deals with </a:t>
            </a:r>
            <a:r>
              <a:rPr lang="en-US" b="1" dirty="0"/>
              <a:t>change and motion</a:t>
            </a:r>
            <a:r>
              <a:rPr lang="en-US" dirty="0"/>
              <a:t>, helping us understand how quantities vary with respect to one another. In data science, calculus is used to </a:t>
            </a:r>
            <a:r>
              <a:rPr lang="en-US" b="1" dirty="0"/>
              <a:t>optimize models</a:t>
            </a:r>
            <a:r>
              <a:rPr lang="en-US" dirty="0"/>
              <a:t>, </a:t>
            </a:r>
            <a:r>
              <a:rPr lang="en-US" b="1" dirty="0"/>
              <a:t>measure rates of change</a:t>
            </a:r>
            <a:r>
              <a:rPr lang="en-US" dirty="0"/>
              <a:t>, and </a:t>
            </a:r>
            <a:r>
              <a:rPr lang="en-US" b="1" dirty="0"/>
              <a:t>train machine learning algorithms</a:t>
            </a:r>
            <a:r>
              <a:rPr lang="en-US" dirty="0"/>
              <a:t>.</a:t>
            </a:r>
          </a:p>
          <a:p>
            <a:pPr algn="just">
              <a:buNone/>
            </a:pPr>
            <a:r>
              <a:rPr lang="en-US" dirty="0"/>
              <a:t>Most data science algorithms, especially in </a:t>
            </a:r>
            <a:r>
              <a:rPr lang="en-US" b="1" dirty="0"/>
              <a:t>machine learning and deep learning</a:t>
            </a:r>
            <a:r>
              <a:rPr lang="en-US" dirty="0"/>
              <a:t>, rely heavily on calculus concepts such as </a:t>
            </a:r>
            <a:r>
              <a:rPr lang="en-US" b="1" dirty="0"/>
              <a:t>derivatives</a:t>
            </a:r>
            <a:r>
              <a:rPr lang="en-US" dirty="0"/>
              <a:t>, </a:t>
            </a:r>
            <a:r>
              <a:rPr lang="en-US" b="1" dirty="0"/>
              <a:t>partial derivatives</a:t>
            </a:r>
            <a:r>
              <a:rPr lang="en-US" dirty="0"/>
              <a:t>, </a:t>
            </a:r>
            <a:r>
              <a:rPr lang="en-US" b="1" dirty="0"/>
              <a:t>gradients</a:t>
            </a:r>
            <a:r>
              <a:rPr lang="en-US" dirty="0"/>
              <a:t>, and </a:t>
            </a:r>
            <a:r>
              <a:rPr lang="en-US" b="1" dirty="0"/>
              <a:t>optimization techniques</a:t>
            </a:r>
            <a:r>
              <a:rPr lang="en-US" dirty="0"/>
              <a:t>.</a:t>
            </a:r>
          </a:p>
          <a:p>
            <a:pPr algn="just">
              <a:buNone/>
            </a:pPr>
            <a:endParaRPr lang="en-US" dirty="0"/>
          </a:p>
          <a:p>
            <a:r>
              <a:rPr lang="en-US" b="1" dirty="0">
                <a:solidFill>
                  <a:srgbClr val="FF0000"/>
                </a:solidFill>
              </a:rPr>
              <a:t>Types of Calculus Used in Data Science</a:t>
            </a:r>
          </a:p>
          <a:p>
            <a:r>
              <a:rPr lang="en-US" b="1" dirty="0"/>
              <a:t>1. Differential Calculus</a:t>
            </a:r>
          </a:p>
          <a:p>
            <a:r>
              <a:rPr lang="en-US" dirty="0"/>
              <a:t>Deals with </a:t>
            </a:r>
            <a:r>
              <a:rPr lang="en-US" b="1" dirty="0"/>
              <a:t>rates of change</a:t>
            </a:r>
            <a:r>
              <a:rPr lang="en-US" dirty="0"/>
              <a:t> and </a:t>
            </a:r>
            <a:r>
              <a:rPr lang="en-US" b="1" dirty="0"/>
              <a:t>slopes of functions</a:t>
            </a:r>
            <a:r>
              <a:rPr lang="en-US" dirty="0"/>
              <a:t>.</a:t>
            </a:r>
            <a:br>
              <a:rPr lang="en-US" dirty="0"/>
            </a:br>
            <a:r>
              <a:rPr lang="en-US" dirty="0"/>
              <a:t>Used to understand how a small change in input affects the output.</a:t>
            </a:r>
          </a:p>
          <a:p>
            <a:r>
              <a:rPr lang="en-US" b="1" dirty="0"/>
              <a:t>2. Integral Calculus</a:t>
            </a:r>
          </a:p>
          <a:p>
            <a:r>
              <a:rPr lang="en-US" dirty="0"/>
              <a:t>Deals with </a:t>
            </a:r>
            <a:r>
              <a:rPr lang="en-US" b="1" dirty="0"/>
              <a:t>accumulation and area under curves</a:t>
            </a:r>
            <a:r>
              <a:rPr lang="en-US" dirty="0"/>
              <a:t>.</a:t>
            </a:r>
            <a:br>
              <a:rPr lang="en-US" dirty="0"/>
            </a:br>
            <a:r>
              <a:rPr lang="en-US" dirty="0"/>
              <a:t>Used to compute total values, probabilities, and expectations.</a:t>
            </a:r>
          </a:p>
          <a:p>
            <a:pPr algn="just">
              <a:buNone/>
            </a:pPr>
            <a:endParaRPr lang="en-US" dirty="0"/>
          </a:p>
        </p:txBody>
      </p:sp>
    </p:spTree>
    <p:extLst>
      <p:ext uri="{BB962C8B-B14F-4D97-AF65-F5344CB8AC3E}">
        <p14:creationId xmlns:p14="http://schemas.microsoft.com/office/powerpoint/2010/main" val="342836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EAFAE69-F002-CF13-ADEB-2842FA931756}"/>
                  </a:ext>
                </a:extLst>
              </p:cNvPr>
              <p:cNvSpPr txBox="1"/>
              <p:nvPr/>
            </p:nvSpPr>
            <p:spPr>
              <a:xfrm>
                <a:off x="412954" y="206066"/>
                <a:ext cx="11257935" cy="5964838"/>
              </a:xfrm>
              <a:prstGeom prst="rect">
                <a:avLst/>
              </a:prstGeom>
              <a:noFill/>
            </p:spPr>
            <p:txBody>
              <a:bodyPr wrap="square">
                <a:spAutoFit/>
              </a:bodyPr>
              <a:lstStyle/>
              <a:p>
                <a:pPr>
                  <a:buNone/>
                </a:pPr>
                <a:r>
                  <a:rPr lang="en-IN" b="1" dirty="0">
                    <a:solidFill>
                      <a:srgbClr val="FF0000"/>
                    </a:solidFill>
                  </a:rPr>
                  <a:t>Functions and Limits</a:t>
                </a:r>
              </a:p>
              <a:p>
                <a:pPr>
                  <a:buNone/>
                </a:pPr>
                <a:r>
                  <a:rPr lang="en-IN" b="1" dirty="0"/>
                  <a:t>Function</a:t>
                </a:r>
              </a:p>
              <a:p>
                <a:pPr>
                  <a:buNone/>
                </a:pPr>
                <a:r>
                  <a:rPr lang="en-IN" dirty="0"/>
                  <a:t>A function is a relationship between input (x) and output (y).</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𝑦</m:t>
                      </m:r>
                      <m:r>
                        <a:rPr lang="en-IN" i="0">
                          <a:latin typeface="Cambria Math" panose="02040503050406030204" pitchFamily="18" charset="0"/>
                        </a:rPr>
                        <m:t>=</m:t>
                      </m:r>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oMath>
                  </m:oMathPara>
                </a14:m>
                <a:endParaRPr lang="ar-AE" dirty="0"/>
              </a:p>
              <a:p>
                <a:pPr>
                  <a:buNone/>
                </a:pPr>
                <a:r>
                  <a:rPr lang="en-IN" dirty="0"/>
                  <a:t>Example:</a:t>
                </a:r>
                <a:br>
                  <a:rPr lang="en-IN" dirty="0"/>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r>
                        <a:rPr lang="ar-AE" i="0">
                          <a:latin typeface="Cambria Math" panose="02040503050406030204" pitchFamily="18" charset="0"/>
                        </a:rPr>
                        <m:t>2</m:t>
                      </m:r>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3</m:t>
                      </m:r>
                    </m:oMath>
                  </m:oMathPara>
                </a14:m>
                <a:endParaRPr lang="ar-AE" dirty="0"/>
              </a:p>
              <a:p>
                <a:pPr>
                  <a:buNone/>
                </a:pPr>
                <a:r>
                  <a:rPr lang="en-IN" b="1" dirty="0"/>
                  <a:t>Limit</a:t>
                </a:r>
              </a:p>
              <a:p>
                <a:pPr>
                  <a:buNone/>
                </a:pPr>
                <a:r>
                  <a:rPr lang="en-IN" dirty="0"/>
                  <a:t>A limit describes the value that a function approaches as the input approaches a certain value.</a:t>
                </a:r>
              </a:p>
              <a:p>
                <a:pPr>
                  <a:buNone/>
                </a:pPr>
                <a14:m>
                  <m:oMathPara xmlns:m="http://schemas.openxmlformats.org/officeDocument/2006/math">
                    <m:oMathParaPr>
                      <m:jc m:val="centerGroup"/>
                    </m:oMathParaPr>
                    <m:oMath xmlns:m="http://schemas.openxmlformats.org/officeDocument/2006/math">
                      <m:limLow>
                        <m:limLowPr>
                          <m:ctrlPr>
                            <a:rPr lang="ar-AE" i="1">
                              <a:latin typeface="Cambria Math" panose="02040503050406030204" pitchFamily="18" charset="0"/>
                            </a:rPr>
                          </m:ctrlPr>
                        </m:limLowPr>
                        <m:e>
                          <m:func>
                            <m:funcPr>
                              <m:ctrlPr>
                                <a:rPr lang="ar-AE" i="1" smtClean="0">
                                  <a:latin typeface="Cambria Math" panose="02040503050406030204" pitchFamily="18" charset="0"/>
                                </a:rPr>
                              </m:ctrlPr>
                            </m:funcPr>
                            <m:fName>
                              <m:r>
                                <m:rPr>
                                  <m:sty m:val="p"/>
                                </m:rPr>
                                <a:rPr lang="en-IN">
                                  <a:latin typeface="Cambria Math" panose="02040503050406030204" pitchFamily="18" charset="0"/>
                                </a:rPr>
                                <m:t>lim</m:t>
                              </m:r>
                            </m:fName>
                            <m:e/>
                          </m:func>
                        </m:e>
                        <m:lim>
                          <m:r>
                            <a:rPr lang="ar-AE" i="1">
                              <a:latin typeface="Cambria Math" panose="02040503050406030204" pitchFamily="18" charset="0"/>
                            </a:rPr>
                            <m:t>𝑥</m:t>
                          </m:r>
                          <m:r>
                            <a:rPr lang="ar-AE" i="0">
                              <a:latin typeface="Cambria Math" panose="02040503050406030204" pitchFamily="18" charset="0"/>
                            </a:rPr>
                            <m:t>→</m:t>
                          </m:r>
                          <m:r>
                            <a:rPr lang="ar-AE" i="1">
                              <a:latin typeface="Cambria Math" panose="02040503050406030204" pitchFamily="18" charset="0"/>
                            </a:rPr>
                            <m:t>𝑎</m:t>
                          </m:r>
                        </m:lim>
                      </m:limLow>
                      <m:r>
                        <a:rPr lang="ar-AE"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oMath>
                  </m:oMathPara>
                </a14:m>
                <a:endParaRPr lang="ar-AE" dirty="0"/>
              </a:p>
              <a:p>
                <a:pPr>
                  <a:buNone/>
                </a:pPr>
                <a:r>
                  <a:rPr lang="en-IN" dirty="0"/>
                  <a:t>Limits form the foundation of differentiation and integration.</a:t>
                </a:r>
              </a:p>
              <a:p>
                <a:pPr>
                  <a:buNone/>
                </a:pPr>
                <a:endParaRPr lang="en-IN" dirty="0"/>
              </a:p>
              <a:p>
                <a:r>
                  <a:rPr lang="en-IN" b="1" dirty="0">
                    <a:solidFill>
                      <a:srgbClr val="FF0000"/>
                    </a:solidFill>
                  </a:rPr>
                  <a:t>Differentiation</a:t>
                </a:r>
              </a:p>
              <a:p>
                <a:r>
                  <a:rPr lang="en-IN" dirty="0"/>
                  <a:t>Differentiation is the process of finding the </a:t>
                </a:r>
                <a:r>
                  <a:rPr lang="en-IN" b="1" dirty="0"/>
                  <a:t>rate of change</a:t>
                </a:r>
                <a:r>
                  <a:rPr lang="en-IN" dirty="0"/>
                  <a:t> of a function with respect to a variable.</a:t>
                </a:r>
              </a:p>
              <a:p>
                <a:r>
                  <a:rPr lang="en-IN" b="1" dirty="0"/>
                  <a:t>Derivative</a:t>
                </a:r>
              </a:p>
              <a:p>
                <a:r>
                  <a:rPr lang="en-IN" dirty="0"/>
                  <a:t>The derivative of a function represents:</a:t>
                </a:r>
              </a:p>
              <a:p>
                <a:r>
                  <a:rPr lang="en-IN" dirty="0"/>
                  <a:t>Slope of a curve</a:t>
                </a:r>
              </a:p>
              <a:p>
                <a:r>
                  <a:rPr lang="en-IN" dirty="0"/>
                  <a:t>Rate of change</a:t>
                </a:r>
              </a:p>
              <a:p>
                <a:r>
                  <a:rPr lang="en-IN" dirty="0"/>
                  <a:t>Sensitivity of output to input</a:t>
                </a:r>
              </a:p>
              <a:p>
                <a14:m>
                  <m:oMathPara xmlns:m="http://schemas.openxmlformats.org/officeDocument/2006/math">
                    <m:oMathParaPr>
                      <m:jc m:val="centerGroup"/>
                    </m:oMathParaPr>
                    <m:oMath xmlns:m="http://schemas.openxmlformats.org/officeDocument/2006/math">
                      <m:f>
                        <m:fPr>
                          <m:ctrlPr>
                            <a:rPr lang="ar-AE"/>
                          </m:ctrlPr>
                        </m:fPr>
                        <m:num>
                          <m:r>
                            <a:rPr lang="ar-AE" i="1"/>
                            <m:t>𝑑𝑦</m:t>
                          </m:r>
                        </m:num>
                        <m:den>
                          <m:r>
                            <a:rPr lang="ar-AE" i="1"/>
                            <m:t>𝑑𝑥</m:t>
                          </m:r>
                        </m:den>
                      </m:f>
                    </m:oMath>
                  </m:oMathPara>
                </a14:m>
                <a:endParaRPr lang="ar-AE" dirty="0"/>
              </a:p>
              <a:p>
                <a:pPr>
                  <a:buNone/>
                </a:pPr>
                <a:endParaRPr lang="en-IN" dirty="0"/>
              </a:p>
            </p:txBody>
          </p:sp>
        </mc:Choice>
        <mc:Fallback>
          <p:sp>
            <p:nvSpPr>
              <p:cNvPr id="3" name="TextBox 2">
                <a:extLst>
                  <a:ext uri="{FF2B5EF4-FFF2-40B4-BE49-F238E27FC236}">
                    <a16:creationId xmlns:a16="http://schemas.microsoft.com/office/drawing/2014/main" id="{AEAFAE69-F002-CF13-ADEB-2842FA931756}"/>
                  </a:ext>
                </a:extLst>
              </p:cNvPr>
              <p:cNvSpPr txBox="1">
                <a:spLocks noRot="1" noChangeAspect="1" noMove="1" noResize="1" noEditPoints="1" noAdjustHandles="1" noChangeArrowheads="1" noChangeShapeType="1" noTextEdit="1"/>
              </p:cNvSpPr>
              <p:nvPr/>
            </p:nvSpPr>
            <p:spPr>
              <a:xfrm>
                <a:off x="412954" y="206066"/>
                <a:ext cx="11257935" cy="5964838"/>
              </a:xfrm>
              <a:prstGeom prst="rect">
                <a:avLst/>
              </a:prstGeom>
              <a:blipFill>
                <a:blip r:embed="rId2"/>
                <a:stretch>
                  <a:fillRect l="-487" t="-511"/>
                </a:stretch>
              </a:blipFill>
            </p:spPr>
            <p:txBody>
              <a:bodyPr/>
              <a:lstStyle/>
              <a:p>
                <a:r>
                  <a:rPr lang="en-IN">
                    <a:noFill/>
                  </a:rPr>
                  <a:t> </a:t>
                </a:r>
              </a:p>
            </p:txBody>
          </p:sp>
        </mc:Fallback>
      </mc:AlternateContent>
    </p:spTree>
    <p:extLst>
      <p:ext uri="{BB962C8B-B14F-4D97-AF65-F5344CB8AC3E}">
        <p14:creationId xmlns:p14="http://schemas.microsoft.com/office/powerpoint/2010/main" val="158497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2DF70E8-E8A4-DB5C-32FA-2407CA012ED3}"/>
                  </a:ext>
                </a:extLst>
              </p:cNvPr>
              <p:cNvSpPr txBox="1"/>
              <p:nvPr/>
            </p:nvSpPr>
            <p:spPr>
              <a:xfrm>
                <a:off x="432619" y="272618"/>
                <a:ext cx="11248104" cy="4717061"/>
              </a:xfrm>
              <a:prstGeom prst="rect">
                <a:avLst/>
              </a:prstGeom>
              <a:noFill/>
            </p:spPr>
            <p:txBody>
              <a:bodyPr wrap="square">
                <a:spAutoFit/>
              </a:bodyPr>
              <a:lstStyle/>
              <a:p>
                <a:pPr>
                  <a:buNone/>
                </a:pPr>
                <a:r>
                  <a:rPr lang="en-IN" b="1" dirty="0"/>
                  <a:t>Basic Differentiation Rules</a:t>
                </a:r>
              </a:p>
              <a:p>
                <a:pPr>
                  <a:buFont typeface="+mj-lt"/>
                  <a:buAutoNum type="arabicPeriod"/>
                </a:pPr>
                <a:r>
                  <a:rPr lang="en-IN" b="1" dirty="0"/>
                  <a:t>Power Rule</a:t>
                </a:r>
                <a:endParaRPr lang="en-IN" dirty="0"/>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𝑑</m:t>
                          </m:r>
                        </m:num>
                        <m:den>
                          <m:r>
                            <a:rPr lang="ar-AE" i="1">
                              <a:latin typeface="Cambria Math" panose="02040503050406030204" pitchFamily="18" charset="0"/>
                            </a:rPr>
                            <m:t>𝑑𝑥</m:t>
                          </m:r>
                        </m:den>
                      </m:f>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𝑛</m:t>
                              </m:r>
                            </m:sup>
                          </m:sSup>
                        </m:e>
                      </m:d>
                      <m:r>
                        <a:rPr lang="ar-AE" i="0">
                          <a:latin typeface="Cambria Math" panose="02040503050406030204" pitchFamily="18" charset="0"/>
                        </a:rPr>
                        <m:t>=</m:t>
                      </m:r>
                      <m:r>
                        <a:rPr lang="ar-AE" i="1">
                          <a:latin typeface="Cambria Math" panose="02040503050406030204" pitchFamily="18" charset="0"/>
                        </a:rPr>
                        <m:t>𝑛</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𝑛</m:t>
                          </m:r>
                          <m:r>
                            <a:rPr lang="ar-AE" i="0">
                              <a:latin typeface="Cambria Math" panose="02040503050406030204" pitchFamily="18" charset="0"/>
                            </a:rPr>
                            <m:t>−</m:t>
                          </m:r>
                          <m:r>
                            <a:rPr lang="ar-AE" i="0">
                              <a:latin typeface="Cambria Math" panose="02040503050406030204" pitchFamily="18" charset="0"/>
                            </a:rPr>
                            <m:t>1</m:t>
                          </m:r>
                        </m:sup>
                      </m:sSup>
                    </m:oMath>
                  </m:oMathPara>
                </a14:m>
                <a:endParaRPr lang="ar-AE" dirty="0"/>
              </a:p>
              <a:p>
                <a:pPr>
                  <a:buFont typeface="+mj-lt"/>
                  <a:buAutoNum type="arabicPeriod" startAt="2"/>
                </a:pPr>
                <a:r>
                  <a:rPr lang="en-IN" b="1" dirty="0"/>
                  <a:t>Constant Rule</a:t>
                </a:r>
                <a:endParaRPr lang="en-IN" dirty="0"/>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𝑑</m:t>
                          </m:r>
                        </m:num>
                        <m:den>
                          <m:r>
                            <a:rPr lang="ar-AE" i="1">
                              <a:latin typeface="Cambria Math" panose="02040503050406030204" pitchFamily="18" charset="0"/>
                            </a:rPr>
                            <m:t>𝑑𝑥</m:t>
                          </m:r>
                        </m:den>
                      </m:f>
                      <m:d>
                        <m:dPr>
                          <m:ctrlPr>
                            <a:rPr lang="ar-AE" i="1">
                              <a:latin typeface="Cambria Math" panose="02040503050406030204" pitchFamily="18" charset="0"/>
                            </a:rPr>
                          </m:ctrlPr>
                        </m:dPr>
                        <m:e>
                          <m:r>
                            <a:rPr lang="ar-AE" i="1">
                              <a:latin typeface="Cambria Math" panose="02040503050406030204" pitchFamily="18" charset="0"/>
                            </a:rPr>
                            <m:t>𝑐</m:t>
                          </m:r>
                        </m:e>
                      </m:d>
                      <m:r>
                        <a:rPr lang="ar-AE" i="0">
                          <a:latin typeface="Cambria Math" panose="02040503050406030204" pitchFamily="18" charset="0"/>
                        </a:rPr>
                        <m:t>=</m:t>
                      </m:r>
                      <m:r>
                        <a:rPr lang="ar-AE" i="0">
                          <a:latin typeface="Cambria Math" panose="02040503050406030204" pitchFamily="18" charset="0"/>
                        </a:rPr>
                        <m:t>0</m:t>
                      </m:r>
                    </m:oMath>
                  </m:oMathPara>
                </a14:m>
                <a:endParaRPr lang="ar-AE" dirty="0"/>
              </a:p>
              <a:p>
                <a:pPr>
                  <a:buFont typeface="+mj-lt"/>
                  <a:buAutoNum type="arabicPeriod" startAt="3"/>
                </a:pPr>
                <a:r>
                  <a:rPr lang="en-IN" b="1" dirty="0"/>
                  <a:t>Sum Rule</a:t>
                </a:r>
                <a:endParaRPr lang="en-IN" dirty="0"/>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𝑑</m:t>
                          </m:r>
                        </m:num>
                        <m:den>
                          <m:r>
                            <a:rPr lang="ar-AE" i="1">
                              <a:latin typeface="Cambria Math" panose="02040503050406030204" pitchFamily="18" charset="0"/>
                            </a:rPr>
                            <m:t>𝑑𝑥</m:t>
                          </m:r>
                        </m:den>
                      </m:f>
                      <m:d>
                        <m:dPr>
                          <m:ctrlPr>
                            <a:rPr lang="ar-AE" i="1">
                              <a:latin typeface="Cambria Math" panose="02040503050406030204" pitchFamily="18" charset="0"/>
                            </a:rPr>
                          </m:ctrlPr>
                        </m:dPr>
                        <m:e>
                          <m:r>
                            <a:rPr lang="ar-AE"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𝑥</m:t>
                              </m:r>
                            </m:e>
                          </m:d>
                        </m:e>
                      </m:d>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𝑓</m:t>
                          </m:r>
                        </m:e>
                        <m:sup>
                          <m:r>
                            <a:rPr lang="ar-AE" i="0">
                              <a:latin typeface="Cambria Math" panose="02040503050406030204" pitchFamily="18" charset="0"/>
                            </a:rPr>
                            <m:t>′</m:t>
                          </m:r>
                        </m:sup>
                      </m:sSup>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𝑔</m:t>
                          </m:r>
                        </m:e>
                        <m:sup>
                          <m:r>
                            <a:rPr lang="ar-AE" i="0">
                              <a:latin typeface="Cambria Math" panose="02040503050406030204" pitchFamily="18" charset="0"/>
                            </a:rPr>
                            <m:t>′</m:t>
                          </m:r>
                        </m:sup>
                      </m:sSup>
                      <m:d>
                        <m:dPr>
                          <m:ctrlPr>
                            <a:rPr lang="ar-AE" i="1">
                              <a:latin typeface="Cambria Math" panose="02040503050406030204" pitchFamily="18" charset="0"/>
                            </a:rPr>
                          </m:ctrlPr>
                        </m:dPr>
                        <m:e>
                          <m:r>
                            <a:rPr lang="ar-AE" i="1">
                              <a:latin typeface="Cambria Math" panose="02040503050406030204" pitchFamily="18" charset="0"/>
                            </a:rPr>
                            <m:t>𝑥</m:t>
                          </m:r>
                        </m:e>
                      </m:d>
                    </m:oMath>
                  </m:oMathPara>
                </a14:m>
                <a:endParaRPr lang="en-US" dirty="0"/>
              </a:p>
              <a:p>
                <a:pPr>
                  <a:buNone/>
                </a:pPr>
                <a:endParaRPr lang="en-US" dirty="0"/>
              </a:p>
              <a:p>
                <a:r>
                  <a:rPr lang="en-IN" b="1" dirty="0"/>
                  <a:t>Example</a:t>
                </a:r>
              </a:p>
              <a:p>
                <a:r>
                  <a:rPr lang="en-IN" dirty="0"/>
                  <a:t>If</a:t>
                </a:r>
              </a:p>
              <a:p>
                <a14:m>
                  <m:oMathPara xmlns:m="http://schemas.openxmlformats.org/officeDocument/2006/math">
                    <m:oMathParaPr>
                      <m:jc m:val="centerGroup"/>
                    </m:oMathParaPr>
                    <m:oMath xmlns:m="http://schemas.openxmlformats.org/officeDocument/2006/math">
                      <m:r>
                        <a:rPr lang="en-IN" i="1"/>
                        <m:t>𝑓</m:t>
                      </m:r>
                      <m:d>
                        <m:dPr>
                          <m:ctrlPr>
                            <a:rPr lang="ar-AE" i="1"/>
                          </m:ctrlPr>
                        </m:dPr>
                        <m:e>
                          <m:r>
                            <a:rPr lang="ar-AE" i="1"/>
                            <m:t>𝑥</m:t>
                          </m:r>
                        </m:e>
                      </m:d>
                      <m:r>
                        <a:rPr lang="ar-AE"/>
                        <m:t>=</m:t>
                      </m:r>
                      <m:r>
                        <a:rPr lang="ar-AE"/>
                        <m:t>3</m:t>
                      </m:r>
                      <m:sSup>
                        <m:sSupPr>
                          <m:ctrlPr>
                            <a:rPr lang="ar-AE" i="1"/>
                          </m:ctrlPr>
                        </m:sSupPr>
                        <m:e>
                          <m:r>
                            <a:rPr lang="ar-AE" i="1"/>
                            <m:t>𝑥</m:t>
                          </m:r>
                        </m:e>
                        <m:sup>
                          <m:r>
                            <a:rPr lang="ar-AE"/>
                            <m:t>2</m:t>
                          </m:r>
                        </m:sup>
                      </m:sSup>
                      <m:r>
                        <a:rPr lang="ar-AE"/>
                        <m:t>+</m:t>
                      </m:r>
                      <m:r>
                        <a:rPr lang="ar-AE"/>
                        <m:t>5</m:t>
                      </m:r>
                      <m:r>
                        <a:rPr lang="ar-AE" i="1"/>
                        <m:t>𝑥</m:t>
                      </m:r>
                    </m:oMath>
                  </m:oMathPara>
                </a14:m>
                <a:endParaRPr lang="ar-AE" dirty="0"/>
              </a:p>
              <a:p>
                <a:r>
                  <a:rPr lang="en-IN" dirty="0"/>
                  <a:t>Then</a:t>
                </a:r>
              </a:p>
              <a:p>
                <a14:m>
                  <m:oMathPara xmlns:m="http://schemas.openxmlformats.org/officeDocument/2006/math">
                    <m:oMathParaPr>
                      <m:jc m:val="centerGroup"/>
                    </m:oMathParaPr>
                    <m:oMath xmlns:m="http://schemas.openxmlformats.org/officeDocument/2006/math">
                      <m:sSup>
                        <m:sSupPr>
                          <m:ctrlPr>
                            <a:rPr lang="ar-AE"/>
                          </m:ctrlPr>
                        </m:sSupPr>
                        <m:e>
                          <m:r>
                            <a:rPr lang="ar-AE" i="1"/>
                            <m:t>𝑓</m:t>
                          </m:r>
                        </m:e>
                        <m:sup>
                          <m:r>
                            <a:rPr lang="ar-AE"/>
                            <m:t>′</m:t>
                          </m:r>
                        </m:sup>
                      </m:sSup>
                      <m:d>
                        <m:dPr>
                          <m:ctrlPr>
                            <a:rPr lang="ar-AE" i="1"/>
                          </m:ctrlPr>
                        </m:dPr>
                        <m:e>
                          <m:r>
                            <a:rPr lang="ar-AE" i="1"/>
                            <m:t>𝑥</m:t>
                          </m:r>
                        </m:e>
                      </m:d>
                      <m:r>
                        <a:rPr lang="ar-AE"/>
                        <m:t>=</m:t>
                      </m:r>
                      <m:r>
                        <a:rPr lang="ar-AE"/>
                        <m:t>6</m:t>
                      </m:r>
                      <m:r>
                        <a:rPr lang="ar-AE" i="1"/>
                        <m:t>𝑥</m:t>
                      </m:r>
                      <m:r>
                        <a:rPr lang="ar-AE"/>
                        <m:t>+</m:t>
                      </m:r>
                      <m:r>
                        <a:rPr lang="ar-AE"/>
                        <m:t>5</m:t>
                      </m:r>
                    </m:oMath>
                  </m:oMathPara>
                </a14:m>
                <a:endParaRPr lang="ar-AE" dirty="0"/>
              </a:p>
              <a:p>
                <a:pPr>
                  <a:buNone/>
                </a:pPr>
                <a:endParaRPr lang="ar-AE" dirty="0"/>
              </a:p>
            </p:txBody>
          </p:sp>
        </mc:Choice>
        <mc:Fallback>
          <p:sp>
            <p:nvSpPr>
              <p:cNvPr id="3" name="TextBox 2">
                <a:extLst>
                  <a:ext uri="{FF2B5EF4-FFF2-40B4-BE49-F238E27FC236}">
                    <a16:creationId xmlns:a16="http://schemas.microsoft.com/office/drawing/2014/main" id="{72DF70E8-E8A4-DB5C-32FA-2407CA012ED3}"/>
                  </a:ext>
                </a:extLst>
              </p:cNvPr>
              <p:cNvSpPr txBox="1">
                <a:spLocks noRot="1" noChangeAspect="1" noMove="1" noResize="1" noEditPoints="1" noAdjustHandles="1" noChangeArrowheads="1" noChangeShapeType="1" noTextEdit="1"/>
              </p:cNvSpPr>
              <p:nvPr/>
            </p:nvSpPr>
            <p:spPr>
              <a:xfrm>
                <a:off x="432619" y="272618"/>
                <a:ext cx="11248104" cy="4717061"/>
              </a:xfrm>
              <a:prstGeom prst="rect">
                <a:avLst/>
              </a:prstGeom>
              <a:blipFill>
                <a:blip r:embed="rId2"/>
                <a:stretch>
                  <a:fillRect l="-488" t="-646"/>
                </a:stretch>
              </a:blipFill>
            </p:spPr>
            <p:txBody>
              <a:bodyPr/>
              <a:lstStyle/>
              <a:p>
                <a:r>
                  <a:rPr lang="en-IN">
                    <a:noFill/>
                  </a:rPr>
                  <a:t> </a:t>
                </a:r>
              </a:p>
            </p:txBody>
          </p:sp>
        </mc:Fallback>
      </mc:AlternateContent>
    </p:spTree>
    <p:extLst>
      <p:ext uri="{BB962C8B-B14F-4D97-AF65-F5344CB8AC3E}">
        <p14:creationId xmlns:p14="http://schemas.microsoft.com/office/powerpoint/2010/main" val="3847472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6FD6F68-EEA5-C061-8A92-A7CE4050D52C}"/>
                  </a:ext>
                </a:extLst>
              </p:cNvPr>
              <p:cNvSpPr txBox="1"/>
              <p:nvPr/>
            </p:nvSpPr>
            <p:spPr>
              <a:xfrm>
                <a:off x="221225" y="206477"/>
                <a:ext cx="11749549" cy="6145272"/>
              </a:xfrm>
              <a:prstGeom prst="rect">
                <a:avLst/>
              </a:prstGeom>
              <a:noFill/>
            </p:spPr>
            <p:txBody>
              <a:bodyPr wrap="square">
                <a:spAutoFit/>
              </a:bodyPr>
              <a:lstStyle/>
              <a:p>
                <a:pPr>
                  <a:buNone/>
                </a:pPr>
                <a:r>
                  <a:rPr lang="en-IN" b="1" dirty="0">
                    <a:solidFill>
                      <a:srgbClr val="FF0000"/>
                    </a:solidFill>
                  </a:rPr>
                  <a:t>Partial Derivatives</a:t>
                </a:r>
              </a:p>
              <a:p>
                <a:pPr>
                  <a:buNone/>
                </a:pPr>
                <a:r>
                  <a:rPr lang="en-IN" dirty="0"/>
                  <a:t>In data science, models often depend on multiple variables. Partial derivatives measure the rate of change of a function with respect to one variable while keeping others constant.</a:t>
                </a:r>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𝑓</m:t>
                          </m:r>
                        </m:num>
                        <m:den>
                          <m:r>
                            <a:rPr lang="ar-AE" i="0">
                              <a:latin typeface="Cambria Math" panose="02040503050406030204" pitchFamily="18" charset="0"/>
                            </a:rPr>
                            <m:t>𝜕</m:t>
                          </m:r>
                          <m:r>
                            <a:rPr lang="ar-AE" i="1">
                              <a:latin typeface="Cambria Math" panose="02040503050406030204" pitchFamily="18" charset="0"/>
                            </a:rPr>
                            <m:t>𝑥</m:t>
                          </m:r>
                        </m:den>
                      </m:f>
                      <m:r>
                        <a:rPr lang="ar-AE" i="0">
                          <a:latin typeface="Cambria Math" panose="02040503050406030204" pitchFamily="18" charset="0"/>
                        </a:rPr>
                        <m:t>, </m:t>
                      </m:r>
                      <m:f>
                        <m:fPr>
                          <m:ctrlPr>
                            <a:rPr lang="ar-AE" i="1">
                              <a:latin typeface="Cambria Math" panose="02040503050406030204" pitchFamily="18" charset="0"/>
                            </a:rPr>
                          </m:ctrlPr>
                        </m:fPr>
                        <m:num>
                          <m:r>
                            <a:rPr lang="ar-AE" i="0">
                              <a:latin typeface="Cambria Math" panose="02040503050406030204" pitchFamily="18" charset="0"/>
                            </a:rPr>
                            <m:t>𝜕</m:t>
                          </m:r>
                          <m:r>
                            <a:rPr lang="ar-AE" i="1">
                              <a:latin typeface="Cambria Math" panose="02040503050406030204" pitchFamily="18" charset="0"/>
                            </a:rPr>
                            <m:t>𝑓</m:t>
                          </m:r>
                        </m:num>
                        <m:den>
                          <m:r>
                            <a:rPr lang="ar-AE" i="0">
                              <a:latin typeface="Cambria Math" panose="02040503050406030204" pitchFamily="18" charset="0"/>
                            </a:rPr>
                            <m:t>𝜕</m:t>
                          </m:r>
                          <m:r>
                            <a:rPr lang="ar-AE" i="1">
                              <a:latin typeface="Cambria Math" panose="02040503050406030204" pitchFamily="18" charset="0"/>
                            </a:rPr>
                            <m:t>𝑦</m:t>
                          </m:r>
                        </m:den>
                      </m:f>
                    </m:oMath>
                  </m:oMathPara>
                </a14:m>
                <a:endParaRPr lang="ar-AE" dirty="0"/>
              </a:p>
              <a:p>
                <a:pPr>
                  <a:buNone/>
                </a:pPr>
                <a:r>
                  <a:rPr lang="en-IN" b="1" dirty="0"/>
                  <a:t>Example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𝑓</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0">
                              <a:latin typeface="Cambria Math" panose="02040503050406030204" pitchFamily="18" charset="0"/>
                            </a:rPr>
                            <m:t>2</m:t>
                          </m:r>
                        </m:sup>
                      </m:sSup>
                      <m:r>
                        <a:rPr lang="ar-AE" i="1">
                          <a:latin typeface="Cambria Math" panose="02040503050406030204" pitchFamily="18" charset="0"/>
                        </a:rPr>
                        <m:t>𝑦</m:t>
                      </m:r>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𝑦</m:t>
                          </m:r>
                        </m:e>
                        <m:sup>
                          <m:r>
                            <a:rPr lang="ar-AE" i="0">
                              <a:latin typeface="Cambria Math" panose="02040503050406030204" pitchFamily="18" charset="0"/>
                            </a:rPr>
                            <m:t>3</m:t>
                          </m:r>
                        </m:sup>
                      </m:sSup>
                    </m:oMath>
                  </m:oMathPara>
                </a14:m>
                <a:endParaRPr lang="ar-AE" dirty="0"/>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𝑓</m:t>
                          </m:r>
                        </m:num>
                        <m:den>
                          <m:r>
                            <a:rPr lang="ar-AE" i="0">
                              <a:latin typeface="Cambria Math" panose="02040503050406030204" pitchFamily="18" charset="0"/>
                            </a:rPr>
                            <m:t>𝜕</m:t>
                          </m:r>
                          <m:r>
                            <a:rPr lang="ar-AE" i="1">
                              <a:latin typeface="Cambria Math" panose="02040503050406030204" pitchFamily="18" charset="0"/>
                            </a:rPr>
                            <m:t>𝑥</m:t>
                          </m:r>
                        </m:den>
                      </m:f>
                      <m:r>
                        <a:rPr lang="ar-AE" i="0">
                          <a:latin typeface="Cambria Math" panose="02040503050406030204" pitchFamily="18" charset="0"/>
                        </a:rPr>
                        <m:t>=</m:t>
                      </m:r>
                      <m:r>
                        <a:rPr lang="ar-AE" i="0">
                          <a:latin typeface="Cambria Math" panose="02040503050406030204" pitchFamily="18" charset="0"/>
                        </a:rPr>
                        <m:t>2</m:t>
                      </m:r>
                      <m:r>
                        <a:rPr lang="ar-AE" i="1">
                          <a:latin typeface="Cambria Math" panose="02040503050406030204" pitchFamily="18" charset="0"/>
                        </a:rPr>
                        <m:t>𝑥𝑦</m:t>
                      </m:r>
                    </m:oMath>
                  </m:oMathPara>
                </a14:m>
                <a:endParaRPr lang="ar-AE" dirty="0"/>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𝑓</m:t>
                          </m:r>
                        </m:num>
                        <m:den>
                          <m:r>
                            <a:rPr lang="ar-AE" i="0">
                              <a:latin typeface="Cambria Math" panose="02040503050406030204" pitchFamily="18" charset="0"/>
                            </a:rPr>
                            <m:t>𝜕</m:t>
                          </m:r>
                          <m:r>
                            <a:rPr lang="ar-AE" i="1">
                              <a:latin typeface="Cambria Math" panose="02040503050406030204" pitchFamily="18" charset="0"/>
                            </a:rPr>
                            <m:t>𝑦</m:t>
                          </m:r>
                        </m:den>
                      </m:f>
                      <m:r>
                        <a:rPr lang="ar-AE"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0">
                              <a:latin typeface="Cambria Math" panose="02040503050406030204" pitchFamily="18" charset="0"/>
                            </a:rPr>
                            <m:t>2</m:t>
                          </m:r>
                        </m:sup>
                      </m:sSup>
                      <m:r>
                        <a:rPr lang="ar-AE" i="0">
                          <a:latin typeface="Cambria Math" panose="02040503050406030204" pitchFamily="18" charset="0"/>
                        </a:rPr>
                        <m:t>+</m:t>
                      </m:r>
                      <m:r>
                        <a:rPr lang="ar-AE" i="0">
                          <a:latin typeface="Cambria Math" panose="02040503050406030204" pitchFamily="18" charset="0"/>
                        </a:rPr>
                        <m:t>3</m:t>
                      </m:r>
                      <m:sSup>
                        <m:sSupPr>
                          <m:ctrlPr>
                            <a:rPr lang="ar-AE" i="1">
                              <a:latin typeface="Cambria Math" panose="02040503050406030204" pitchFamily="18" charset="0"/>
                            </a:rPr>
                          </m:ctrlPr>
                        </m:sSupPr>
                        <m:e>
                          <m:r>
                            <a:rPr lang="ar-AE" i="1">
                              <a:latin typeface="Cambria Math" panose="02040503050406030204" pitchFamily="18" charset="0"/>
                            </a:rPr>
                            <m:t>𝑦</m:t>
                          </m:r>
                        </m:e>
                        <m:sup>
                          <m:r>
                            <a:rPr lang="ar-AE" i="0">
                              <a:latin typeface="Cambria Math" panose="02040503050406030204" pitchFamily="18" charset="0"/>
                            </a:rPr>
                            <m:t>2</m:t>
                          </m:r>
                        </m:sup>
                      </m:sSup>
                    </m:oMath>
                  </m:oMathPara>
                </a14:m>
                <a:endParaRPr lang="en-US" dirty="0"/>
              </a:p>
              <a:p>
                <a:pPr>
                  <a:buNone/>
                </a:pPr>
                <a:endParaRPr lang="en-US" dirty="0"/>
              </a:p>
              <a:p>
                <a:r>
                  <a:rPr lang="en-IN" b="1" dirty="0"/>
                  <a:t>Gradient and Gradient Descent</a:t>
                </a:r>
              </a:p>
              <a:p>
                <a:r>
                  <a:rPr lang="en-IN" b="1" dirty="0"/>
                  <a:t>Gradient</a:t>
                </a:r>
              </a:p>
              <a:p>
                <a:r>
                  <a:rPr lang="en-IN" dirty="0"/>
                  <a:t>The gradient is a vector of partial derivatives that points in the direction of the steepest increase of a function.</a:t>
                </a:r>
              </a:p>
              <a:p>
                <a14:m>
                  <m:oMathPara xmlns:m="http://schemas.openxmlformats.org/officeDocument/2006/math">
                    <m:oMathParaPr>
                      <m:jc m:val="centerGroup"/>
                    </m:oMathParaPr>
                    <m:oMath xmlns:m="http://schemas.openxmlformats.org/officeDocument/2006/math">
                      <m:r>
                        <m:rPr>
                          <m:sty m:val="p"/>
                        </m:rPr>
                        <a:rPr lang="en-IN"/>
                        <m:t>∇</m:t>
                      </m:r>
                      <m:r>
                        <a:rPr lang="en-IN" i="1"/>
                        <m:t>𝑓</m:t>
                      </m:r>
                      <m:r>
                        <a:rPr lang="en-IN"/>
                        <m:t>=</m:t>
                      </m:r>
                      <m:d>
                        <m:dPr>
                          <m:sepChr m:val=","/>
                          <m:ctrlPr>
                            <a:rPr lang="ar-AE" i="1"/>
                          </m:ctrlPr>
                        </m:dPr>
                        <m:e>
                          <m:f>
                            <m:fPr>
                              <m:ctrlPr>
                                <a:rPr lang="ar-AE" i="1"/>
                              </m:ctrlPr>
                            </m:fPr>
                            <m:num>
                              <m:r>
                                <a:rPr lang="ar-AE"/>
                                <m:t>∂</m:t>
                              </m:r>
                              <m:r>
                                <a:rPr lang="ar-AE" i="1"/>
                                <m:t>𝑓</m:t>
                              </m:r>
                            </m:num>
                            <m:den>
                              <m:r>
                                <a:rPr lang="ar-AE"/>
                                <m:t>∂</m:t>
                              </m:r>
                              <m:sSub>
                                <m:sSubPr>
                                  <m:ctrlPr>
                                    <a:rPr lang="ar-AE" i="1"/>
                                  </m:ctrlPr>
                                </m:sSubPr>
                                <m:e>
                                  <m:r>
                                    <a:rPr lang="ar-AE" i="1"/>
                                    <m:t>𝑥</m:t>
                                  </m:r>
                                </m:e>
                                <m:sub>
                                  <m:r>
                                    <a:rPr lang="ar-AE"/>
                                    <m:t>1</m:t>
                                  </m:r>
                                </m:sub>
                              </m:sSub>
                            </m:den>
                          </m:f>
                        </m:e>
                        <m:e>
                          <m:f>
                            <m:fPr>
                              <m:ctrlPr>
                                <a:rPr lang="ar-AE" i="1"/>
                              </m:ctrlPr>
                            </m:fPr>
                            <m:num>
                              <m:r>
                                <a:rPr lang="ar-AE"/>
                                <m:t>∂</m:t>
                              </m:r>
                              <m:r>
                                <a:rPr lang="ar-AE" i="1"/>
                                <m:t>𝑓</m:t>
                              </m:r>
                            </m:num>
                            <m:den>
                              <m:r>
                                <a:rPr lang="ar-AE"/>
                                <m:t>∂</m:t>
                              </m:r>
                              <m:sSub>
                                <m:sSubPr>
                                  <m:ctrlPr>
                                    <a:rPr lang="ar-AE" i="1"/>
                                  </m:ctrlPr>
                                </m:sSubPr>
                                <m:e>
                                  <m:r>
                                    <a:rPr lang="ar-AE" i="1"/>
                                    <m:t>𝑥</m:t>
                                  </m:r>
                                </m:e>
                                <m:sub>
                                  <m:r>
                                    <a:rPr lang="ar-AE"/>
                                    <m:t>2</m:t>
                                  </m:r>
                                </m:sub>
                              </m:sSub>
                            </m:den>
                          </m:f>
                        </m:e>
                        <m:e>
                          <m:r>
                            <a:rPr lang="ar-AE"/>
                            <m:t>…</m:t>
                          </m:r>
                          <m:r>
                            <m:rPr>
                              <m:nor/>
                            </m:rPr>
                            <a:rPr lang="ar-AE" i="1"/>
                            <m:t> </m:t>
                          </m:r>
                        </m:e>
                      </m:d>
                    </m:oMath>
                  </m:oMathPara>
                </a14:m>
                <a:endParaRPr lang="ar-AE" b="0" dirty="0"/>
              </a:p>
              <a:p>
                <a:r>
                  <a:rPr lang="en-IN" b="1" dirty="0"/>
                  <a:t>Gradient Descent</a:t>
                </a:r>
              </a:p>
              <a:p>
                <a:r>
                  <a:rPr lang="en-IN" dirty="0"/>
                  <a:t>Gradient descent is an optimization algorithm used to minimize a function by moving in the direction of the negative gradient.</a:t>
                </a:r>
              </a:p>
              <a:p>
                <a14:m>
                  <m:oMathPara xmlns:m="http://schemas.openxmlformats.org/officeDocument/2006/math">
                    <m:oMathParaPr>
                      <m:jc m:val="centerGroup"/>
                    </m:oMathParaPr>
                    <m:oMath xmlns:m="http://schemas.openxmlformats.org/officeDocument/2006/math">
                      <m:r>
                        <a:rPr lang="en-IN" i="1"/>
                        <m:t>𝜃</m:t>
                      </m:r>
                      <m:r>
                        <a:rPr lang="en-IN"/>
                        <m:t>=</m:t>
                      </m:r>
                      <m:r>
                        <a:rPr lang="en-IN" i="1"/>
                        <m:t>𝜃</m:t>
                      </m:r>
                      <m:r>
                        <a:rPr lang="en-IN"/>
                        <m:t>−</m:t>
                      </m:r>
                      <m:r>
                        <a:rPr lang="en-IN" i="1"/>
                        <m:t>𝛼</m:t>
                      </m:r>
                      <m:r>
                        <m:rPr>
                          <m:sty m:val="p"/>
                        </m:rPr>
                        <a:rPr lang="en-IN"/>
                        <m:t>∇</m:t>
                      </m:r>
                      <m:r>
                        <a:rPr lang="en-IN" i="1"/>
                        <m:t>𝐽</m:t>
                      </m:r>
                      <m:d>
                        <m:dPr>
                          <m:ctrlPr>
                            <a:rPr lang="ar-AE" i="1"/>
                          </m:ctrlPr>
                        </m:dPr>
                        <m:e>
                          <m:r>
                            <a:rPr lang="ar-AE" i="1"/>
                            <m:t>𝜃</m:t>
                          </m:r>
                        </m:e>
                      </m:d>
                    </m:oMath>
                  </m:oMathPara>
                </a14:m>
                <a:endParaRPr lang="ar-AE" dirty="0"/>
              </a:p>
              <a:p>
                <a:endParaRPr lang="en-IN" dirty="0"/>
              </a:p>
            </p:txBody>
          </p:sp>
        </mc:Choice>
        <mc:Fallback>
          <p:sp>
            <p:nvSpPr>
              <p:cNvPr id="3" name="TextBox 2">
                <a:extLst>
                  <a:ext uri="{FF2B5EF4-FFF2-40B4-BE49-F238E27FC236}">
                    <a16:creationId xmlns:a16="http://schemas.microsoft.com/office/drawing/2014/main" id="{B6FD6F68-EEA5-C061-8A92-A7CE4050D52C}"/>
                  </a:ext>
                </a:extLst>
              </p:cNvPr>
              <p:cNvSpPr txBox="1">
                <a:spLocks noRot="1" noChangeAspect="1" noMove="1" noResize="1" noEditPoints="1" noAdjustHandles="1" noChangeArrowheads="1" noChangeShapeType="1" noTextEdit="1"/>
              </p:cNvSpPr>
              <p:nvPr/>
            </p:nvSpPr>
            <p:spPr>
              <a:xfrm>
                <a:off x="221225" y="206477"/>
                <a:ext cx="11749549" cy="6145272"/>
              </a:xfrm>
              <a:prstGeom prst="rect">
                <a:avLst/>
              </a:prstGeom>
              <a:blipFill>
                <a:blip r:embed="rId2"/>
                <a:stretch>
                  <a:fillRect l="-415" t="-496"/>
                </a:stretch>
              </a:blipFill>
            </p:spPr>
            <p:txBody>
              <a:bodyPr/>
              <a:lstStyle/>
              <a:p>
                <a:r>
                  <a:rPr lang="en-IN">
                    <a:noFill/>
                  </a:rPr>
                  <a:t> </a:t>
                </a:r>
              </a:p>
            </p:txBody>
          </p:sp>
        </mc:Fallback>
      </mc:AlternateContent>
    </p:spTree>
    <p:extLst>
      <p:ext uri="{BB962C8B-B14F-4D97-AF65-F5344CB8AC3E}">
        <p14:creationId xmlns:p14="http://schemas.microsoft.com/office/powerpoint/2010/main" val="3136502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9D21CE2-1AD5-4207-D6F5-4311AF3C33A2}"/>
                  </a:ext>
                </a:extLst>
              </p:cNvPr>
              <p:cNvSpPr txBox="1"/>
              <p:nvPr/>
            </p:nvSpPr>
            <p:spPr>
              <a:xfrm>
                <a:off x="412955" y="279652"/>
                <a:ext cx="11356258" cy="5749074"/>
              </a:xfrm>
              <a:prstGeom prst="rect">
                <a:avLst/>
              </a:prstGeom>
              <a:noFill/>
            </p:spPr>
            <p:txBody>
              <a:bodyPr wrap="square">
                <a:spAutoFit/>
              </a:bodyPr>
              <a:lstStyle/>
              <a:p>
                <a:r>
                  <a:rPr lang="en-IN" dirty="0"/>
                  <a:t>Where:</a:t>
                </a:r>
              </a:p>
              <a:p>
                <a14:m>
                  <m:oMath xmlns:m="http://schemas.openxmlformats.org/officeDocument/2006/math">
                    <m:r>
                      <a:rPr lang="en-IN" i="1">
                        <a:latin typeface="Cambria Math" panose="02040503050406030204" pitchFamily="18" charset="0"/>
                      </a:rPr>
                      <m:t>𝜃</m:t>
                    </m:r>
                  </m:oMath>
                </a14:m>
                <a:r>
                  <a:rPr lang="en-IN" dirty="0"/>
                  <a:t>= model parameters</a:t>
                </a:r>
              </a:p>
              <a:p>
                <a14:m>
                  <m:oMath xmlns:m="http://schemas.openxmlformats.org/officeDocument/2006/math">
                    <m:r>
                      <a:rPr lang="en-IN" i="1">
                        <a:latin typeface="Cambria Math" panose="02040503050406030204" pitchFamily="18" charset="0"/>
                      </a:rPr>
                      <m:t>𝛼</m:t>
                    </m:r>
                  </m:oMath>
                </a14:m>
                <a:r>
                  <a:rPr lang="en-IN" dirty="0"/>
                  <a:t>= learning rate</a:t>
                </a:r>
              </a:p>
              <a:p>
                <a14:m>
                  <m:oMath xmlns:m="http://schemas.openxmlformats.org/officeDocument/2006/math">
                    <m:r>
                      <a:rPr lang="en-IN" i="1">
                        <a:latin typeface="Cambria Math" panose="02040503050406030204" pitchFamily="18" charset="0"/>
                      </a:rPr>
                      <m:t>𝐽</m:t>
                    </m:r>
                    <m:d>
                      <m:dPr>
                        <m:ctrlPr>
                          <a:rPr lang="ar-AE" i="1">
                            <a:latin typeface="Cambria Math" panose="02040503050406030204" pitchFamily="18" charset="0"/>
                          </a:rPr>
                        </m:ctrlPr>
                      </m:dPr>
                      <m:e>
                        <m:r>
                          <a:rPr lang="ar-AE" i="1">
                            <a:latin typeface="Cambria Math" panose="02040503050406030204" pitchFamily="18" charset="0"/>
                          </a:rPr>
                          <m:t>𝜃</m:t>
                        </m:r>
                      </m:e>
                    </m:d>
                  </m:oMath>
                </a14:m>
                <a:r>
                  <a:rPr lang="ar-AE" dirty="0"/>
                  <a:t>= </a:t>
                </a:r>
                <a:r>
                  <a:rPr lang="en-IN" dirty="0"/>
                  <a:t>cost function</a:t>
                </a:r>
              </a:p>
              <a:p>
                <a:endParaRPr lang="en-IN" dirty="0"/>
              </a:p>
              <a:p>
                <a:r>
                  <a:rPr lang="en-US" b="1" dirty="0"/>
                  <a:t>Use in Data Science</a:t>
                </a:r>
              </a:p>
              <a:p>
                <a:r>
                  <a:rPr lang="en-US" dirty="0"/>
                  <a:t>Used extensively in:</a:t>
                </a:r>
              </a:p>
              <a:p>
                <a:r>
                  <a:rPr lang="en-US" dirty="0"/>
                  <a:t>Linear regression</a:t>
                </a:r>
              </a:p>
              <a:p>
                <a:r>
                  <a:rPr lang="en-US" dirty="0"/>
                  <a:t>Logistic regression</a:t>
                </a:r>
              </a:p>
              <a:p>
                <a:r>
                  <a:rPr lang="en-US" dirty="0"/>
                  <a:t>Neural networks</a:t>
                </a:r>
              </a:p>
              <a:p>
                <a:endParaRPr lang="en-US" dirty="0"/>
              </a:p>
              <a:p>
                <a:r>
                  <a:rPr lang="en-IN" b="1" dirty="0">
                    <a:solidFill>
                      <a:srgbClr val="FF0000"/>
                    </a:solidFill>
                  </a:rPr>
                  <a:t>Cost / Loss Functions</a:t>
                </a:r>
              </a:p>
              <a:p>
                <a:r>
                  <a:rPr lang="en-IN" dirty="0"/>
                  <a:t>A loss function measures how far the predicted value is from the actual value.</a:t>
                </a:r>
              </a:p>
              <a:p>
                <a:r>
                  <a:rPr lang="en-IN" b="1" dirty="0"/>
                  <a:t>Common Loss Functions</a:t>
                </a:r>
              </a:p>
              <a:p>
                <a:r>
                  <a:rPr lang="en-IN" b="1" dirty="0"/>
                  <a:t>Mean Squared Error (MSE)</a:t>
                </a:r>
                <a:endParaRPr lang="en-IN" dirty="0"/>
              </a:p>
              <a:p>
                <a:r>
                  <a:rPr lang="en-IN" b="1" dirty="0"/>
                  <a:t>Mean Absolute Error (MAE)</a:t>
                </a:r>
                <a:endParaRPr lang="en-IN" dirty="0"/>
              </a:p>
              <a:p>
                <a14:m>
                  <m:oMathPara xmlns:m="http://schemas.openxmlformats.org/officeDocument/2006/math">
                    <m:oMathParaPr>
                      <m:jc m:val="centerGroup"/>
                    </m:oMathParaPr>
                    <m:oMath xmlns:m="http://schemas.openxmlformats.org/officeDocument/2006/math">
                      <m:r>
                        <a:rPr lang="en-IN" i="1"/>
                        <m:t>𝑀𝐴𝐸</m:t>
                      </m:r>
                      <m:r>
                        <a:rPr lang="en-IN"/>
                        <m:t>=</m:t>
                      </m:r>
                      <m:f>
                        <m:fPr>
                          <m:ctrlPr>
                            <a:rPr lang="ar-AE" i="1"/>
                          </m:ctrlPr>
                        </m:fPr>
                        <m:num>
                          <m:r>
                            <a:rPr lang="ar-AE"/>
                            <m:t>1</m:t>
                          </m:r>
                        </m:num>
                        <m:den>
                          <m:r>
                            <a:rPr lang="ar-AE" i="1"/>
                            <m:t>𝑛</m:t>
                          </m:r>
                        </m:den>
                      </m:f>
                      <m:nary>
                        <m:naryPr>
                          <m:chr m:val="∑"/>
                          <m:grow m:val="on"/>
                          <m:subHide m:val="on"/>
                          <m:supHide m:val="on"/>
                          <m:ctrlPr>
                            <a:rPr lang="ar-AE" i="1"/>
                          </m:ctrlPr>
                        </m:naryPr>
                        <m:sub/>
                        <m:sup/>
                        <m:e>
                          <m:r>
                            <a:rPr lang="ar-AE"/>
                            <m:t>∣</m:t>
                          </m:r>
                        </m:e>
                      </m:nary>
                      <m:r>
                        <a:rPr lang="ar-AE" i="1"/>
                        <m:t>𝑦</m:t>
                      </m:r>
                      <m:r>
                        <a:rPr lang="ar-AE"/>
                        <m:t>−</m:t>
                      </m:r>
                      <m:acc>
                        <m:accPr>
                          <m:chr m:val="̂"/>
                          <m:ctrlPr>
                            <a:rPr lang="ar-AE" i="1"/>
                          </m:ctrlPr>
                        </m:accPr>
                        <m:e>
                          <m:r>
                            <a:rPr lang="ar-AE" i="1"/>
                            <m:t>𝑦</m:t>
                          </m:r>
                        </m:e>
                      </m:acc>
                      <m:r>
                        <a:rPr lang="ar-AE"/>
                        <m:t>∣</m:t>
                      </m:r>
                    </m:oMath>
                  </m:oMathPara>
                </a14:m>
                <a:endParaRPr lang="ar-AE" dirty="0"/>
              </a:p>
              <a:p>
                <a:r>
                  <a:rPr lang="en-IN" b="1" dirty="0"/>
                  <a:t>Cross-Entropy Loss</a:t>
                </a:r>
                <a:r>
                  <a:rPr lang="en-IN" dirty="0"/>
                  <a:t> (used in classification)</a:t>
                </a:r>
              </a:p>
              <a:p>
                <a:endParaRPr lang="en-US" dirty="0"/>
              </a:p>
            </p:txBody>
          </p:sp>
        </mc:Choice>
        <mc:Fallback>
          <p:sp>
            <p:nvSpPr>
              <p:cNvPr id="3" name="TextBox 2">
                <a:extLst>
                  <a:ext uri="{FF2B5EF4-FFF2-40B4-BE49-F238E27FC236}">
                    <a16:creationId xmlns:a16="http://schemas.microsoft.com/office/drawing/2014/main" id="{59D21CE2-1AD5-4207-D6F5-4311AF3C33A2}"/>
                  </a:ext>
                </a:extLst>
              </p:cNvPr>
              <p:cNvSpPr txBox="1">
                <a:spLocks noRot="1" noChangeAspect="1" noMove="1" noResize="1" noEditPoints="1" noAdjustHandles="1" noChangeArrowheads="1" noChangeShapeType="1" noTextEdit="1"/>
              </p:cNvSpPr>
              <p:nvPr/>
            </p:nvSpPr>
            <p:spPr>
              <a:xfrm>
                <a:off x="412955" y="279652"/>
                <a:ext cx="11356258" cy="5749074"/>
              </a:xfrm>
              <a:prstGeom prst="rect">
                <a:avLst/>
              </a:prstGeom>
              <a:blipFill>
                <a:blip r:embed="rId2"/>
                <a:stretch>
                  <a:fillRect l="-483" t="-530"/>
                </a:stretch>
              </a:blipFill>
            </p:spPr>
            <p:txBody>
              <a:bodyPr/>
              <a:lstStyle/>
              <a:p>
                <a:r>
                  <a:rPr lang="en-IN">
                    <a:noFill/>
                  </a:rPr>
                  <a:t> </a:t>
                </a:r>
              </a:p>
            </p:txBody>
          </p:sp>
        </mc:Fallback>
      </mc:AlternateContent>
    </p:spTree>
    <p:extLst>
      <p:ext uri="{BB962C8B-B14F-4D97-AF65-F5344CB8AC3E}">
        <p14:creationId xmlns:p14="http://schemas.microsoft.com/office/powerpoint/2010/main" val="827678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159A119-181D-79CC-5D7A-031C45721638}"/>
                  </a:ext>
                </a:extLst>
              </p:cNvPr>
              <p:cNvSpPr txBox="1"/>
              <p:nvPr/>
            </p:nvSpPr>
            <p:spPr>
              <a:xfrm>
                <a:off x="393290" y="271515"/>
                <a:ext cx="11326762" cy="5892895"/>
              </a:xfrm>
              <a:prstGeom prst="rect">
                <a:avLst/>
              </a:prstGeom>
              <a:noFill/>
            </p:spPr>
            <p:txBody>
              <a:bodyPr wrap="square">
                <a:spAutoFit/>
              </a:bodyPr>
              <a:lstStyle/>
              <a:p>
                <a:pPr>
                  <a:buNone/>
                </a:pPr>
                <a:r>
                  <a:rPr lang="en-IN" b="1" dirty="0">
                    <a:solidFill>
                      <a:srgbClr val="FF0000"/>
                    </a:solidFill>
                  </a:rPr>
                  <a:t>Optimization in Data Science</a:t>
                </a:r>
              </a:p>
              <a:p>
                <a:pPr>
                  <a:buNone/>
                </a:pPr>
                <a:r>
                  <a:rPr lang="en-IN" dirty="0"/>
                  <a:t>Optimization refers to finding the best parameters that minimize error or maximize performance.</a:t>
                </a:r>
              </a:p>
              <a:p>
                <a:pPr>
                  <a:buNone/>
                </a:pPr>
                <a:endParaRPr lang="en-IN" b="1" dirty="0"/>
              </a:p>
              <a:p>
                <a:pPr>
                  <a:buNone/>
                </a:pPr>
                <a:r>
                  <a:rPr lang="en-IN" b="1" dirty="0"/>
                  <a:t>Common Optimization Techniques</a:t>
                </a:r>
              </a:p>
              <a:p>
                <a:pPr>
                  <a:buFont typeface="Arial" panose="020B0604020202020204" pitchFamily="34" charset="0"/>
                  <a:buChar char="•"/>
                </a:pPr>
                <a:r>
                  <a:rPr lang="en-IN" dirty="0"/>
                  <a:t>Gradient Descent</a:t>
                </a:r>
              </a:p>
              <a:p>
                <a:pPr>
                  <a:buFont typeface="Arial" panose="020B0604020202020204" pitchFamily="34" charset="0"/>
                  <a:buChar char="•"/>
                </a:pPr>
                <a:r>
                  <a:rPr lang="en-IN" dirty="0"/>
                  <a:t>Stochastic Gradient Descent (SGD)</a:t>
                </a:r>
              </a:p>
              <a:p>
                <a:pPr>
                  <a:buFont typeface="Arial" panose="020B0604020202020204" pitchFamily="34" charset="0"/>
                  <a:buChar char="•"/>
                </a:pPr>
                <a:r>
                  <a:rPr lang="en-IN" dirty="0"/>
                  <a:t>Mini-batch Gradient Descent</a:t>
                </a:r>
              </a:p>
              <a:p>
                <a:pPr>
                  <a:buNone/>
                </a:pPr>
                <a:r>
                  <a:rPr lang="en-IN" dirty="0"/>
                  <a:t>These methods rely heavily on calculus concepts.</a:t>
                </a:r>
              </a:p>
              <a:p>
                <a:pPr>
                  <a:buNone/>
                </a:pPr>
                <a:endParaRPr lang="en-IN" dirty="0"/>
              </a:p>
              <a:p>
                <a:r>
                  <a:rPr lang="en-IN" b="1" dirty="0">
                    <a:solidFill>
                      <a:srgbClr val="FF0000"/>
                    </a:solidFill>
                  </a:rPr>
                  <a:t>Gradient Descent</a:t>
                </a:r>
              </a:p>
              <a:p>
                <a:r>
                  <a:rPr lang="en-IN" dirty="0"/>
                  <a:t>Gradient Descent is the most fundamental and widely used optimization algorithm in machine learning. It works by iteratively updating model parameters in the direction that reduces the loss function.</a:t>
                </a:r>
              </a:p>
              <a:p>
                <a:r>
                  <a:rPr lang="en-IN" b="1" dirty="0"/>
                  <a:t>How Gradient Descent Works</a:t>
                </a:r>
              </a:p>
              <a:p>
                <a:r>
                  <a:rPr lang="en-IN" dirty="0"/>
                  <a:t>Initialize parameters with random values.</a:t>
                </a:r>
              </a:p>
              <a:p>
                <a:r>
                  <a:rPr lang="en-IN" dirty="0"/>
                  <a:t>Compute the gradient (slope) of the loss function.</a:t>
                </a:r>
              </a:p>
              <a:p>
                <a:r>
                  <a:rPr lang="en-IN" dirty="0"/>
                  <a:t>Update parameters in the opposite direction of the gradient.</a:t>
                </a:r>
              </a:p>
              <a:p>
                <a:r>
                  <a:rPr lang="en-IN" dirty="0"/>
                  <a:t>Repeat until the loss is minimized.</a:t>
                </a:r>
              </a:p>
              <a:p>
                <a:r>
                  <a:rPr lang="en-IN" dirty="0"/>
                  <a:t>Mathematically:</a:t>
                </a:r>
              </a:p>
              <a:p>
                <a14:m>
                  <m:oMathPara xmlns:m="http://schemas.openxmlformats.org/officeDocument/2006/math">
                    <m:oMathParaPr>
                      <m:jc m:val="centerGroup"/>
                    </m:oMathParaPr>
                    <m:oMath xmlns:m="http://schemas.openxmlformats.org/officeDocument/2006/math">
                      <m:r>
                        <a:rPr lang="en-IN" i="1"/>
                        <m:t>𝜃</m:t>
                      </m:r>
                      <m:r>
                        <a:rPr lang="en-IN"/>
                        <m:t>=</m:t>
                      </m:r>
                      <m:r>
                        <a:rPr lang="en-IN" i="1"/>
                        <m:t>𝜃</m:t>
                      </m:r>
                      <m:r>
                        <a:rPr lang="en-IN"/>
                        <m:t>−</m:t>
                      </m:r>
                      <m:r>
                        <a:rPr lang="en-IN" i="1"/>
                        <m:t>𝛼</m:t>
                      </m:r>
                      <m:f>
                        <m:fPr>
                          <m:ctrlPr>
                            <a:rPr lang="ar-AE" i="1"/>
                          </m:ctrlPr>
                        </m:fPr>
                        <m:num>
                          <m:r>
                            <a:rPr lang="ar-AE"/>
                            <m:t>∂</m:t>
                          </m:r>
                          <m:r>
                            <a:rPr lang="ar-AE" i="1"/>
                            <m:t>𝐽</m:t>
                          </m:r>
                          <m:d>
                            <m:dPr>
                              <m:ctrlPr>
                                <a:rPr lang="ar-AE" i="1"/>
                              </m:ctrlPr>
                            </m:dPr>
                            <m:e>
                              <m:r>
                                <a:rPr lang="ar-AE" i="1"/>
                                <m:t>𝜃</m:t>
                              </m:r>
                            </m:e>
                          </m:d>
                        </m:num>
                        <m:den>
                          <m:r>
                            <a:rPr lang="ar-AE"/>
                            <m:t>∂</m:t>
                          </m:r>
                          <m:r>
                            <a:rPr lang="ar-AE" i="1"/>
                            <m:t>𝜃</m:t>
                          </m:r>
                        </m:den>
                      </m:f>
                    </m:oMath>
                  </m:oMathPara>
                </a14:m>
                <a:endParaRPr lang="ar-AE" dirty="0"/>
              </a:p>
              <a:p>
                <a:pPr>
                  <a:buNone/>
                </a:pPr>
                <a:endParaRPr lang="en-IN" dirty="0"/>
              </a:p>
            </p:txBody>
          </p:sp>
        </mc:Choice>
        <mc:Fallback>
          <p:sp>
            <p:nvSpPr>
              <p:cNvPr id="3" name="TextBox 2">
                <a:extLst>
                  <a:ext uri="{FF2B5EF4-FFF2-40B4-BE49-F238E27FC236}">
                    <a16:creationId xmlns:a16="http://schemas.microsoft.com/office/drawing/2014/main" id="{4159A119-181D-79CC-5D7A-031C45721638}"/>
                  </a:ext>
                </a:extLst>
              </p:cNvPr>
              <p:cNvSpPr txBox="1">
                <a:spLocks noRot="1" noChangeAspect="1" noMove="1" noResize="1" noEditPoints="1" noAdjustHandles="1" noChangeArrowheads="1" noChangeShapeType="1" noTextEdit="1"/>
              </p:cNvSpPr>
              <p:nvPr/>
            </p:nvSpPr>
            <p:spPr>
              <a:xfrm>
                <a:off x="393290" y="271515"/>
                <a:ext cx="11326762" cy="5892895"/>
              </a:xfrm>
              <a:prstGeom prst="rect">
                <a:avLst/>
              </a:prstGeom>
              <a:blipFill>
                <a:blip r:embed="rId2"/>
                <a:stretch>
                  <a:fillRect l="-484" t="-518"/>
                </a:stretch>
              </a:blipFill>
            </p:spPr>
            <p:txBody>
              <a:bodyPr/>
              <a:lstStyle/>
              <a:p>
                <a:r>
                  <a:rPr lang="en-IN">
                    <a:noFill/>
                  </a:rPr>
                  <a:t> </a:t>
                </a:r>
              </a:p>
            </p:txBody>
          </p:sp>
        </mc:Fallback>
      </mc:AlternateContent>
    </p:spTree>
    <p:extLst>
      <p:ext uri="{BB962C8B-B14F-4D97-AF65-F5344CB8AC3E}">
        <p14:creationId xmlns:p14="http://schemas.microsoft.com/office/powerpoint/2010/main" val="807495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5CCA325-2FAB-51AD-5194-8E2C8218D937}"/>
                  </a:ext>
                </a:extLst>
              </p:cNvPr>
              <p:cNvSpPr txBox="1"/>
              <p:nvPr/>
            </p:nvSpPr>
            <p:spPr>
              <a:xfrm>
                <a:off x="383458" y="281348"/>
                <a:ext cx="11336594" cy="5909310"/>
              </a:xfrm>
              <a:prstGeom prst="rect">
                <a:avLst/>
              </a:prstGeom>
              <a:noFill/>
            </p:spPr>
            <p:txBody>
              <a:bodyPr wrap="square">
                <a:spAutoFit/>
              </a:bodyPr>
              <a:lstStyle/>
              <a:p>
                <a:pPr>
                  <a:buNone/>
                </a:pPr>
                <a:r>
                  <a:rPr lang="en-US" b="1" dirty="0"/>
                  <a:t>Key Characteristics</a:t>
                </a:r>
              </a:p>
              <a:p>
                <a:pPr>
                  <a:buFont typeface="Arial" panose="020B0604020202020204" pitchFamily="34" charset="0"/>
                  <a:buChar char="•"/>
                </a:pPr>
                <a:r>
                  <a:rPr lang="en-US" dirty="0"/>
                  <a:t>Uses the entire dataset to compute the gradient</a:t>
                </a:r>
              </a:p>
              <a:p>
                <a:pPr>
                  <a:buFont typeface="Arial" panose="020B0604020202020204" pitchFamily="34" charset="0"/>
                  <a:buChar char="•"/>
                </a:pPr>
                <a:r>
                  <a:rPr lang="en-US" dirty="0"/>
                  <a:t>Produces stable and smooth convergence</a:t>
                </a:r>
              </a:p>
              <a:p>
                <a:pPr>
                  <a:buFont typeface="Arial" panose="020B0604020202020204" pitchFamily="34" charset="0"/>
                  <a:buChar char="•"/>
                </a:pPr>
                <a:r>
                  <a:rPr lang="en-US" dirty="0"/>
                  <a:t>Computationally expensive for large datasets</a:t>
                </a:r>
              </a:p>
              <a:p>
                <a:pPr>
                  <a:buNone/>
                </a:pPr>
                <a:r>
                  <a:rPr lang="en-US" b="1" dirty="0"/>
                  <a:t>Example</a:t>
                </a:r>
              </a:p>
              <a:p>
                <a:pPr>
                  <a:buNone/>
                </a:pPr>
                <a:r>
                  <a:rPr lang="en-US" dirty="0"/>
                  <a:t>In linear regression, gradient descent adjusts the slope and intercept to minimize the mean squared error between predicted and actual values.</a:t>
                </a:r>
              </a:p>
              <a:p>
                <a:pPr>
                  <a:buNone/>
                </a:pPr>
                <a:endParaRPr lang="en-US" dirty="0"/>
              </a:p>
              <a:p>
                <a:r>
                  <a:rPr lang="en-IN" b="1" dirty="0">
                    <a:solidFill>
                      <a:srgbClr val="FF0000"/>
                    </a:solidFill>
                  </a:rPr>
                  <a:t>Stochastic Gradient Descent (SGD)</a:t>
                </a:r>
              </a:p>
              <a:p>
                <a:r>
                  <a:rPr lang="en-IN" dirty="0"/>
                  <a:t>Stochastic Gradient Descent is a variation of gradient descent that updates model parameters using </a:t>
                </a:r>
                <a:r>
                  <a:rPr lang="en-IN" b="1" dirty="0"/>
                  <a:t>only one training example at a time</a:t>
                </a:r>
                <a:r>
                  <a:rPr lang="en-IN" dirty="0"/>
                  <a:t>.</a:t>
                </a:r>
              </a:p>
              <a:p>
                <a:r>
                  <a:rPr lang="en-IN" b="1" dirty="0"/>
                  <a:t>How SGD Works</a:t>
                </a:r>
              </a:p>
              <a:p>
                <a:r>
                  <a:rPr lang="en-IN" dirty="0"/>
                  <a:t>Instead of computing the gradient using the entire dataset, SGD updates the parameters after evaluating each individual data point.</a:t>
                </a:r>
              </a:p>
              <a:p>
                <a14:m>
                  <m:oMathPara xmlns:m="http://schemas.openxmlformats.org/officeDocument/2006/math">
                    <m:oMathParaPr>
                      <m:jc m:val="centerGroup"/>
                    </m:oMathParaPr>
                    <m:oMath xmlns:m="http://schemas.openxmlformats.org/officeDocument/2006/math">
                      <m:r>
                        <a:rPr lang="en-IN" i="1"/>
                        <m:t>𝜃</m:t>
                      </m:r>
                      <m:r>
                        <a:rPr lang="en-IN"/>
                        <m:t>=</m:t>
                      </m:r>
                      <m:r>
                        <a:rPr lang="en-IN" i="1"/>
                        <m:t>𝜃</m:t>
                      </m:r>
                      <m:r>
                        <a:rPr lang="en-IN"/>
                        <m:t>−</m:t>
                      </m:r>
                      <m:r>
                        <a:rPr lang="en-IN" i="1"/>
                        <m:t>𝛼</m:t>
                      </m:r>
                      <m:r>
                        <m:rPr>
                          <m:sty m:val="p"/>
                        </m:rPr>
                        <a:rPr lang="en-IN"/>
                        <m:t>∇</m:t>
                      </m:r>
                      <m:r>
                        <a:rPr lang="en-IN" i="1"/>
                        <m:t>𝐽</m:t>
                      </m:r>
                      <m:d>
                        <m:dPr>
                          <m:sepChr m:val=";"/>
                          <m:ctrlPr>
                            <a:rPr lang="ar-AE" i="1"/>
                          </m:ctrlPr>
                        </m:dPr>
                        <m:e>
                          <m:r>
                            <a:rPr lang="ar-AE" i="1"/>
                            <m:t>𝜃</m:t>
                          </m:r>
                        </m:e>
                        <m:e>
                          <m:sSub>
                            <m:sSubPr>
                              <m:ctrlPr>
                                <a:rPr lang="ar-AE" i="1"/>
                              </m:ctrlPr>
                            </m:sSubPr>
                            <m:e>
                              <m:r>
                                <a:rPr lang="ar-AE" i="1"/>
                                <m:t>𝑥</m:t>
                              </m:r>
                            </m:e>
                            <m:sub>
                              <m:r>
                                <a:rPr lang="ar-AE" i="1"/>
                                <m:t>𝑖</m:t>
                              </m:r>
                            </m:sub>
                          </m:sSub>
                        </m:e>
                        <m:e>
                          <m:sSub>
                            <m:sSubPr>
                              <m:ctrlPr>
                                <a:rPr lang="ar-AE" i="1"/>
                              </m:ctrlPr>
                            </m:sSubPr>
                            <m:e>
                              <m:r>
                                <a:rPr lang="ar-AE" i="1"/>
                                <m:t>𝑦</m:t>
                              </m:r>
                            </m:e>
                            <m:sub>
                              <m:r>
                                <a:rPr lang="ar-AE" i="1"/>
                                <m:t>𝑖</m:t>
                              </m:r>
                            </m:sub>
                          </m:sSub>
                        </m:e>
                      </m:d>
                    </m:oMath>
                  </m:oMathPara>
                </a14:m>
                <a:endParaRPr lang="ar-AE" dirty="0"/>
              </a:p>
              <a:p>
                <a:r>
                  <a:rPr lang="en-IN" dirty="0"/>
                  <a:t>Where </a:t>
                </a:r>
                <a14:m>
                  <m:oMath xmlns:m="http://schemas.openxmlformats.org/officeDocument/2006/math">
                    <m:d>
                      <m:dPr>
                        <m:sepChr m:val=","/>
                        <m:ctrlPr>
                          <a:rPr lang="ar-AE"/>
                        </m:ctrlPr>
                      </m:dPr>
                      <m:e>
                        <m:sSub>
                          <m:sSubPr>
                            <m:ctrlPr>
                              <a:rPr lang="ar-AE"/>
                            </m:ctrlPr>
                          </m:sSubPr>
                          <m:e>
                            <m:r>
                              <a:rPr lang="ar-AE" i="1"/>
                              <m:t>𝑥</m:t>
                            </m:r>
                          </m:e>
                          <m:sub>
                            <m:r>
                              <a:rPr lang="ar-AE" i="1"/>
                              <m:t>𝑖</m:t>
                            </m:r>
                          </m:sub>
                        </m:sSub>
                      </m:e>
                      <m:e>
                        <m:sSub>
                          <m:sSubPr>
                            <m:ctrlPr>
                              <a:rPr lang="ar-AE" i="1"/>
                            </m:ctrlPr>
                          </m:sSubPr>
                          <m:e>
                            <m:r>
                              <a:rPr lang="ar-AE" i="1"/>
                              <m:t>𝑦</m:t>
                            </m:r>
                          </m:e>
                          <m:sub>
                            <m:r>
                              <a:rPr lang="ar-AE" i="1"/>
                              <m:t>𝑖</m:t>
                            </m:r>
                          </m:sub>
                        </m:sSub>
                      </m:e>
                    </m:d>
                  </m:oMath>
                </a14:m>
                <a:r>
                  <a:rPr lang="en-IN" dirty="0"/>
                  <a:t>is a single training example.</a:t>
                </a:r>
              </a:p>
              <a:p>
                <a:r>
                  <a:rPr lang="en-IN" b="1" dirty="0"/>
                  <a:t>Advantages</a:t>
                </a:r>
              </a:p>
              <a:p>
                <a:r>
                  <a:rPr lang="en-IN" dirty="0"/>
                  <a:t>Faster computation for large datasets</a:t>
                </a:r>
              </a:p>
              <a:p>
                <a:r>
                  <a:rPr lang="en-IN" dirty="0"/>
                  <a:t>Suitable for online and real-time learning</a:t>
                </a:r>
              </a:p>
              <a:p>
                <a:r>
                  <a:rPr lang="en-IN" dirty="0"/>
                  <a:t>Requires less memory</a:t>
                </a:r>
              </a:p>
              <a:p>
                <a:pPr>
                  <a:buNone/>
                </a:pPr>
                <a:endParaRPr lang="en-US" dirty="0"/>
              </a:p>
            </p:txBody>
          </p:sp>
        </mc:Choice>
        <mc:Fallback>
          <p:sp>
            <p:nvSpPr>
              <p:cNvPr id="3" name="TextBox 2">
                <a:extLst>
                  <a:ext uri="{FF2B5EF4-FFF2-40B4-BE49-F238E27FC236}">
                    <a16:creationId xmlns:a16="http://schemas.microsoft.com/office/drawing/2014/main" id="{25CCA325-2FAB-51AD-5194-8E2C8218D937}"/>
                  </a:ext>
                </a:extLst>
              </p:cNvPr>
              <p:cNvSpPr txBox="1">
                <a:spLocks noRot="1" noChangeAspect="1" noMove="1" noResize="1" noEditPoints="1" noAdjustHandles="1" noChangeArrowheads="1" noChangeShapeType="1" noTextEdit="1"/>
              </p:cNvSpPr>
              <p:nvPr/>
            </p:nvSpPr>
            <p:spPr>
              <a:xfrm>
                <a:off x="383458" y="281348"/>
                <a:ext cx="11336594" cy="5909310"/>
              </a:xfrm>
              <a:prstGeom prst="rect">
                <a:avLst/>
              </a:prstGeom>
              <a:blipFill>
                <a:blip r:embed="rId2"/>
                <a:stretch>
                  <a:fillRect l="-484" t="-412" r="-753"/>
                </a:stretch>
              </a:blipFill>
            </p:spPr>
            <p:txBody>
              <a:bodyPr/>
              <a:lstStyle/>
              <a:p>
                <a:r>
                  <a:rPr lang="en-IN">
                    <a:noFill/>
                  </a:rPr>
                  <a:t> </a:t>
                </a:r>
              </a:p>
            </p:txBody>
          </p:sp>
        </mc:Fallback>
      </mc:AlternateContent>
    </p:spTree>
    <p:extLst>
      <p:ext uri="{BB962C8B-B14F-4D97-AF65-F5344CB8AC3E}">
        <p14:creationId xmlns:p14="http://schemas.microsoft.com/office/powerpoint/2010/main" val="3179308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724682D-A8E1-9651-1C8E-F3C93265A473}"/>
                  </a:ext>
                </a:extLst>
              </p:cNvPr>
              <p:cNvSpPr txBox="1"/>
              <p:nvPr/>
            </p:nvSpPr>
            <p:spPr>
              <a:xfrm>
                <a:off x="344128" y="223203"/>
                <a:ext cx="11464413" cy="6504153"/>
              </a:xfrm>
              <a:prstGeom prst="rect">
                <a:avLst/>
              </a:prstGeom>
              <a:noFill/>
            </p:spPr>
            <p:txBody>
              <a:bodyPr wrap="square">
                <a:spAutoFit/>
              </a:bodyPr>
              <a:lstStyle/>
              <a:p>
                <a:pPr>
                  <a:buNone/>
                </a:pPr>
                <a:r>
                  <a:rPr lang="en-US" b="1" dirty="0"/>
                  <a:t>Disadvantages</a:t>
                </a:r>
              </a:p>
              <a:p>
                <a:pPr>
                  <a:buFont typeface="Arial" panose="020B0604020202020204" pitchFamily="34" charset="0"/>
                  <a:buChar char="•"/>
                </a:pPr>
                <a:r>
                  <a:rPr lang="en-US" dirty="0"/>
                  <a:t>High variance in updates</a:t>
                </a:r>
              </a:p>
              <a:p>
                <a:pPr>
                  <a:buFont typeface="Arial" panose="020B0604020202020204" pitchFamily="34" charset="0"/>
                  <a:buChar char="•"/>
                </a:pPr>
                <a:r>
                  <a:rPr lang="en-US" dirty="0"/>
                  <a:t>Loss function may fluctuate instead of smoothly decreasing</a:t>
                </a:r>
              </a:p>
              <a:p>
                <a:pPr>
                  <a:buNone/>
                </a:pPr>
                <a:r>
                  <a:rPr lang="en-US" b="1" dirty="0"/>
                  <a:t>Example</a:t>
                </a:r>
              </a:p>
              <a:p>
                <a:pPr>
                  <a:buNone/>
                </a:pPr>
                <a:r>
                  <a:rPr lang="en-US" dirty="0"/>
                  <a:t>SGD is commonly used in training neural networks where datasets contain millions of samples.</a:t>
                </a:r>
              </a:p>
              <a:p>
                <a:pPr>
                  <a:buNone/>
                </a:pPr>
                <a:endParaRPr lang="en-US" dirty="0"/>
              </a:p>
              <a:p>
                <a:r>
                  <a:rPr lang="en-IN" b="1" dirty="0">
                    <a:solidFill>
                      <a:srgbClr val="FF0000"/>
                    </a:solidFill>
                  </a:rPr>
                  <a:t>Mini-Batch Gradient Descent</a:t>
                </a:r>
              </a:p>
              <a:p>
                <a:r>
                  <a:rPr lang="en-IN" dirty="0"/>
                  <a:t>Mini-batch Gradient Descent is a hybrid approach that combines the advantages of both batch gradient descent and stochastic gradient descent.</a:t>
                </a:r>
              </a:p>
              <a:p>
                <a:r>
                  <a:rPr lang="en-IN" b="1" dirty="0"/>
                  <a:t>How It Works</a:t>
                </a:r>
              </a:p>
              <a:p>
                <a:r>
                  <a:rPr lang="en-IN" dirty="0"/>
                  <a:t>The dataset is divided into small batches (e.g., 32, 64, or 128 samples).</a:t>
                </a:r>
              </a:p>
              <a:p>
                <a:r>
                  <a:rPr lang="en-IN" dirty="0"/>
                  <a:t>The model parameters are updated after processing each batch.</a:t>
                </a:r>
              </a:p>
              <a:p>
                <a14:m>
                  <m:oMathPara xmlns:m="http://schemas.openxmlformats.org/officeDocument/2006/math">
                    <m:oMathParaPr>
                      <m:jc m:val="centerGroup"/>
                    </m:oMathParaPr>
                    <m:oMath xmlns:m="http://schemas.openxmlformats.org/officeDocument/2006/math">
                      <m:r>
                        <a:rPr lang="en-IN" i="1"/>
                        <m:t>𝜃</m:t>
                      </m:r>
                      <m:r>
                        <a:rPr lang="en-IN"/>
                        <m:t>=</m:t>
                      </m:r>
                      <m:r>
                        <a:rPr lang="en-IN" i="1"/>
                        <m:t>𝜃</m:t>
                      </m:r>
                      <m:r>
                        <a:rPr lang="en-IN"/>
                        <m:t>−</m:t>
                      </m:r>
                      <m:r>
                        <a:rPr lang="en-IN" i="1"/>
                        <m:t>𝛼</m:t>
                      </m:r>
                      <m:r>
                        <m:rPr>
                          <m:sty m:val="p"/>
                        </m:rPr>
                        <a:rPr lang="en-IN"/>
                        <m:t>∇</m:t>
                      </m:r>
                      <m:r>
                        <a:rPr lang="en-IN" i="1"/>
                        <m:t>𝐽</m:t>
                      </m:r>
                      <m:d>
                        <m:dPr>
                          <m:sepChr m:val=";"/>
                          <m:ctrlPr>
                            <a:rPr lang="ar-AE" i="1"/>
                          </m:ctrlPr>
                        </m:dPr>
                        <m:e>
                          <m:r>
                            <a:rPr lang="ar-AE" i="1"/>
                            <m:t>𝜃</m:t>
                          </m:r>
                        </m:e>
                        <m:e>
                          <m:sSup>
                            <m:sSupPr>
                              <m:ctrlPr>
                                <a:rPr lang="ar-AE" i="1"/>
                              </m:ctrlPr>
                            </m:sSupPr>
                            <m:e>
                              <m:r>
                                <a:rPr lang="ar-AE" i="1"/>
                                <m:t>𝑋</m:t>
                              </m:r>
                            </m:e>
                            <m:sup>
                              <m:d>
                                <m:dPr>
                                  <m:ctrlPr>
                                    <a:rPr lang="ar-AE" i="1"/>
                                  </m:ctrlPr>
                                </m:dPr>
                                <m:e>
                                  <m:r>
                                    <a:rPr lang="ar-AE" i="1"/>
                                    <m:t>𝑖</m:t>
                                  </m:r>
                                  <m:r>
                                    <a:rPr lang="ar-AE"/>
                                    <m:t>:</m:t>
                                  </m:r>
                                  <m:r>
                                    <a:rPr lang="ar-AE" i="1"/>
                                    <m:t>𝑖</m:t>
                                  </m:r>
                                  <m:r>
                                    <a:rPr lang="ar-AE"/>
                                    <m:t>+</m:t>
                                  </m:r>
                                  <m:r>
                                    <a:rPr lang="ar-AE" i="1"/>
                                    <m:t>𝑘</m:t>
                                  </m:r>
                                </m:e>
                              </m:d>
                            </m:sup>
                          </m:sSup>
                        </m:e>
                      </m:d>
                    </m:oMath>
                  </m:oMathPara>
                </a14:m>
                <a:endParaRPr lang="ar-AE" dirty="0"/>
              </a:p>
              <a:p>
                <a:r>
                  <a:rPr lang="en-IN" b="1" dirty="0"/>
                  <a:t>Advantages</a:t>
                </a:r>
              </a:p>
              <a:p>
                <a:r>
                  <a:rPr lang="en-IN" dirty="0"/>
                  <a:t>Faster convergence than batch gradient descent</a:t>
                </a:r>
              </a:p>
              <a:p>
                <a:r>
                  <a:rPr lang="en-IN" dirty="0"/>
                  <a:t>Less noisy updates compared to SGD</a:t>
                </a:r>
              </a:p>
              <a:p>
                <a:r>
                  <a:rPr lang="en-IN" dirty="0"/>
                  <a:t>Efficient use of computational resources</a:t>
                </a:r>
              </a:p>
              <a:p>
                <a:r>
                  <a:rPr lang="en-IN" dirty="0"/>
                  <a:t>Suitable for large-scale deep learning models</a:t>
                </a:r>
              </a:p>
              <a:p>
                <a:endParaRPr lang="en-IN" dirty="0"/>
              </a:p>
              <a:p>
                <a:r>
                  <a:rPr lang="en-US" b="1" dirty="0"/>
                  <a:t>Why Mini-Batch Gradient Descent is Preferred</a:t>
                </a:r>
              </a:p>
              <a:p>
                <a:r>
                  <a:rPr lang="en-US" dirty="0"/>
                  <a:t>Most modern deep learning frameworks (TensorFlow, </a:t>
                </a:r>
                <a:r>
                  <a:rPr lang="en-US" dirty="0" err="1"/>
                  <a:t>PyTorch</a:t>
                </a:r>
                <a:r>
                  <a:rPr lang="en-US" dirty="0"/>
                  <a:t>) use mini-batch gradient descent because it offers a balance between speed, stability, and efficiency.</a:t>
                </a:r>
                <a:endParaRPr lang="en-IN" dirty="0"/>
              </a:p>
              <a:p>
                <a:pPr>
                  <a:buNone/>
                </a:pPr>
                <a:endParaRPr lang="en-US" dirty="0"/>
              </a:p>
            </p:txBody>
          </p:sp>
        </mc:Choice>
        <mc:Fallback>
          <p:sp>
            <p:nvSpPr>
              <p:cNvPr id="3" name="TextBox 2">
                <a:extLst>
                  <a:ext uri="{FF2B5EF4-FFF2-40B4-BE49-F238E27FC236}">
                    <a16:creationId xmlns:a16="http://schemas.microsoft.com/office/drawing/2014/main" id="{D724682D-A8E1-9651-1C8E-F3C93265A473}"/>
                  </a:ext>
                </a:extLst>
              </p:cNvPr>
              <p:cNvSpPr txBox="1">
                <a:spLocks noRot="1" noChangeAspect="1" noMove="1" noResize="1" noEditPoints="1" noAdjustHandles="1" noChangeArrowheads="1" noChangeShapeType="1" noTextEdit="1"/>
              </p:cNvSpPr>
              <p:nvPr/>
            </p:nvSpPr>
            <p:spPr>
              <a:xfrm>
                <a:off x="344128" y="223203"/>
                <a:ext cx="11464413" cy="6504153"/>
              </a:xfrm>
              <a:prstGeom prst="rect">
                <a:avLst/>
              </a:prstGeom>
              <a:blipFill>
                <a:blip r:embed="rId2"/>
                <a:stretch>
                  <a:fillRect l="-425" t="-469"/>
                </a:stretch>
              </a:blipFill>
            </p:spPr>
            <p:txBody>
              <a:bodyPr/>
              <a:lstStyle/>
              <a:p>
                <a:r>
                  <a:rPr lang="en-IN">
                    <a:noFill/>
                  </a:rPr>
                  <a:t> </a:t>
                </a:r>
              </a:p>
            </p:txBody>
          </p:sp>
        </mc:Fallback>
      </mc:AlternateContent>
    </p:spTree>
    <p:extLst>
      <p:ext uri="{BB962C8B-B14F-4D97-AF65-F5344CB8AC3E}">
        <p14:creationId xmlns:p14="http://schemas.microsoft.com/office/powerpoint/2010/main" val="2342246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D77395-B74F-BCF3-742D-DBBCC039FA08}"/>
              </a:ext>
            </a:extLst>
          </p:cNvPr>
          <p:cNvSpPr txBox="1"/>
          <p:nvPr/>
        </p:nvSpPr>
        <p:spPr>
          <a:xfrm>
            <a:off x="462116" y="356109"/>
            <a:ext cx="6096000" cy="369332"/>
          </a:xfrm>
          <a:prstGeom prst="rect">
            <a:avLst/>
          </a:prstGeom>
          <a:noFill/>
        </p:spPr>
        <p:txBody>
          <a:bodyPr wrap="square">
            <a:spAutoFit/>
          </a:bodyPr>
          <a:lstStyle/>
          <a:p>
            <a:pPr>
              <a:buNone/>
            </a:pPr>
            <a:r>
              <a:rPr lang="en-IN" b="1">
                <a:solidFill>
                  <a:srgbClr val="FF0000"/>
                </a:solidFill>
              </a:rPr>
              <a:t>Comparison of Optimization Techniques</a:t>
            </a:r>
            <a:endParaRPr lang="en-IN" b="1" dirty="0">
              <a:solidFill>
                <a:srgbClr val="FF0000"/>
              </a:solidFill>
            </a:endParaRPr>
          </a:p>
        </p:txBody>
      </p:sp>
      <p:graphicFrame>
        <p:nvGraphicFramePr>
          <p:cNvPr id="4" name="Table 3">
            <a:extLst>
              <a:ext uri="{FF2B5EF4-FFF2-40B4-BE49-F238E27FC236}">
                <a16:creationId xmlns:a16="http://schemas.microsoft.com/office/drawing/2014/main" id="{183B9B99-D2BB-3692-E294-92A65E74B0F9}"/>
              </a:ext>
            </a:extLst>
          </p:cNvPr>
          <p:cNvGraphicFramePr>
            <a:graphicFrameLocks noGrp="1"/>
          </p:cNvGraphicFramePr>
          <p:nvPr>
            <p:extLst>
              <p:ext uri="{D42A27DB-BD31-4B8C-83A1-F6EECF244321}">
                <p14:modId xmlns:p14="http://schemas.microsoft.com/office/powerpoint/2010/main" val="484784193"/>
              </p:ext>
            </p:extLst>
          </p:nvPr>
        </p:nvGraphicFramePr>
        <p:xfrm>
          <a:off x="462116" y="1234440"/>
          <a:ext cx="10515600" cy="2194560"/>
        </p:xfrm>
        <a:graphic>
          <a:graphicData uri="http://schemas.openxmlformats.org/drawingml/2006/table">
            <a:tbl>
              <a:tblPr/>
              <a:tblGrid>
                <a:gridCol w="2628900">
                  <a:extLst>
                    <a:ext uri="{9D8B030D-6E8A-4147-A177-3AD203B41FA5}">
                      <a16:colId xmlns:a16="http://schemas.microsoft.com/office/drawing/2014/main" val="1157397415"/>
                    </a:ext>
                  </a:extLst>
                </a:gridCol>
                <a:gridCol w="2628900">
                  <a:extLst>
                    <a:ext uri="{9D8B030D-6E8A-4147-A177-3AD203B41FA5}">
                      <a16:colId xmlns:a16="http://schemas.microsoft.com/office/drawing/2014/main" val="2047322622"/>
                    </a:ext>
                  </a:extLst>
                </a:gridCol>
                <a:gridCol w="2628900">
                  <a:extLst>
                    <a:ext uri="{9D8B030D-6E8A-4147-A177-3AD203B41FA5}">
                      <a16:colId xmlns:a16="http://schemas.microsoft.com/office/drawing/2014/main" val="2724303250"/>
                    </a:ext>
                  </a:extLst>
                </a:gridCol>
                <a:gridCol w="2628900">
                  <a:extLst>
                    <a:ext uri="{9D8B030D-6E8A-4147-A177-3AD203B41FA5}">
                      <a16:colId xmlns:a16="http://schemas.microsoft.com/office/drawing/2014/main" val="3089502477"/>
                    </a:ext>
                  </a:extLst>
                </a:gridCol>
              </a:tblGrid>
              <a:tr h="0">
                <a:tc>
                  <a:txBody>
                    <a:bodyPr/>
                    <a:lstStyle/>
                    <a:p>
                      <a:pPr>
                        <a:buNone/>
                      </a:pPr>
                      <a:r>
                        <a:rPr lang="en-IN"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Gradient Descent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Stochastic GD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Mini-batch GD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6766678"/>
                  </a:ext>
                </a:extLst>
              </a:tr>
              <a:tr h="0">
                <a:tc>
                  <a:txBody>
                    <a:bodyPr/>
                    <a:lstStyle/>
                    <a:p>
                      <a:pPr>
                        <a:buNone/>
                      </a:pPr>
                      <a:r>
                        <a:rPr lang="en-IN" b="1" dirty="0"/>
                        <a:t>Data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Entire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Single data 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Small 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2872171"/>
                  </a:ext>
                </a:extLst>
              </a:tr>
              <a:tr h="0">
                <a:tc>
                  <a:txBody>
                    <a:bodyPr/>
                    <a:lstStyle/>
                    <a:p>
                      <a:pPr>
                        <a:buNone/>
                      </a:pPr>
                      <a:r>
                        <a:rPr lang="en-IN" b="1" dirty="0"/>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356519"/>
                  </a:ext>
                </a:extLst>
              </a:tr>
              <a:tr h="0">
                <a:tc>
                  <a:txBody>
                    <a:bodyPr/>
                    <a:lstStyle/>
                    <a:p>
                      <a:pPr>
                        <a:buNone/>
                      </a:pPr>
                      <a:r>
                        <a:rPr lang="en-IN" b="1" dirty="0"/>
                        <a:t>Stability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Very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Noisy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Moderately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529884"/>
                  </a:ext>
                </a:extLst>
              </a:tr>
              <a:tr h="0">
                <a:tc>
                  <a:txBody>
                    <a:bodyPr/>
                    <a:lstStyle/>
                    <a:p>
                      <a:pPr>
                        <a:buNone/>
                      </a:pPr>
                      <a:r>
                        <a:rPr lang="en-IN" b="1" dirty="0"/>
                        <a:t>Memory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3847762"/>
                  </a:ext>
                </a:extLst>
              </a:tr>
              <a:tr h="0">
                <a:tc>
                  <a:txBody>
                    <a:bodyPr/>
                    <a:lstStyle/>
                    <a:p>
                      <a:pPr>
                        <a:buNone/>
                      </a:pPr>
                      <a:r>
                        <a:rPr lang="en-IN" b="1" dirty="0"/>
                        <a:t>Common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Small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Online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9394181"/>
                  </a:ext>
                </a:extLst>
              </a:tr>
            </a:tbl>
          </a:graphicData>
        </a:graphic>
      </p:graphicFrame>
      <p:sp>
        <p:nvSpPr>
          <p:cNvPr id="6" name="TextBox 5">
            <a:extLst>
              <a:ext uri="{FF2B5EF4-FFF2-40B4-BE49-F238E27FC236}">
                <a16:creationId xmlns:a16="http://schemas.microsoft.com/office/drawing/2014/main" id="{18799068-0F6C-E57C-0A25-187300284506}"/>
              </a:ext>
            </a:extLst>
          </p:cNvPr>
          <p:cNvSpPr txBox="1"/>
          <p:nvPr/>
        </p:nvSpPr>
        <p:spPr>
          <a:xfrm>
            <a:off x="462116" y="3916568"/>
            <a:ext cx="11189110" cy="1477328"/>
          </a:xfrm>
          <a:prstGeom prst="rect">
            <a:avLst/>
          </a:prstGeom>
          <a:solidFill>
            <a:schemeClr val="accent4">
              <a:lumMod val="20000"/>
              <a:lumOff val="80000"/>
            </a:schemeClr>
          </a:solidFill>
          <a:ln>
            <a:solidFill>
              <a:schemeClr val="accent1"/>
            </a:solidFill>
          </a:ln>
        </p:spPr>
        <p:txBody>
          <a:bodyPr wrap="square">
            <a:spAutoFit/>
          </a:bodyPr>
          <a:lstStyle/>
          <a:p>
            <a:r>
              <a:rPr lang="en-US" dirty="0"/>
              <a:t>Optimization is the backbone of data science and machine learning. Techniques like Gradient Descent, Stochastic Gradient Descent, and Mini-batch Gradient Descent enable models to learn from data efficiently by minimizing errors. Understanding how these optimization algorithms work helps data scientists build accurate, scalable, and reliable predictive models. Proper selection of optimization techniques directly impacts model performance, training time, and accuracy.</a:t>
            </a:r>
            <a:endParaRPr lang="en-IN" dirty="0"/>
          </a:p>
        </p:txBody>
      </p:sp>
    </p:spTree>
    <p:extLst>
      <p:ext uri="{BB962C8B-B14F-4D97-AF65-F5344CB8AC3E}">
        <p14:creationId xmlns:p14="http://schemas.microsoft.com/office/powerpoint/2010/main" val="2230928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BAC9FD6-0EC6-69D0-96E1-6E4517FD4EAE}"/>
                  </a:ext>
                </a:extLst>
              </p:cNvPr>
              <p:cNvSpPr txBox="1"/>
              <p:nvPr/>
            </p:nvSpPr>
            <p:spPr>
              <a:xfrm>
                <a:off x="344129" y="363527"/>
                <a:ext cx="11425084" cy="5977534"/>
              </a:xfrm>
              <a:prstGeom prst="rect">
                <a:avLst/>
              </a:prstGeom>
              <a:noFill/>
            </p:spPr>
            <p:txBody>
              <a:bodyPr wrap="square">
                <a:spAutoFit/>
              </a:bodyPr>
              <a:lstStyle/>
              <a:p>
                <a:pPr>
                  <a:buNone/>
                </a:pPr>
                <a:r>
                  <a:rPr lang="en-IN" b="1" dirty="0">
                    <a:solidFill>
                      <a:srgbClr val="FF0000"/>
                    </a:solidFill>
                  </a:rPr>
                  <a:t>Integration in Data Science</a:t>
                </a:r>
              </a:p>
              <a:p>
                <a:pPr>
                  <a:buNone/>
                </a:pPr>
                <a:r>
                  <a:rPr lang="en-IN" dirty="0"/>
                  <a:t>Integration is the reverse of differentiation and is used to compute total quantities.</a:t>
                </a:r>
              </a:p>
              <a:p>
                <a:pPr>
                  <a:buNone/>
                </a:pPr>
                <a:r>
                  <a:rPr lang="en-IN" b="1" dirty="0"/>
                  <a:t>Applications</a:t>
                </a:r>
              </a:p>
              <a:p>
                <a:pPr>
                  <a:buFont typeface="Arial" panose="020B0604020202020204" pitchFamily="34" charset="0"/>
                  <a:buChar char="•"/>
                </a:pPr>
                <a:r>
                  <a:rPr lang="en-IN" dirty="0"/>
                  <a:t>Calculating probability distributions</a:t>
                </a:r>
              </a:p>
              <a:p>
                <a:pPr>
                  <a:buFont typeface="Arial" panose="020B0604020202020204" pitchFamily="34" charset="0"/>
                  <a:buChar char="•"/>
                </a:pPr>
                <a:r>
                  <a:rPr lang="en-IN" dirty="0"/>
                  <a:t>Finding areas under curves</a:t>
                </a:r>
              </a:p>
              <a:p>
                <a:pPr>
                  <a:buFont typeface="Arial" panose="020B0604020202020204" pitchFamily="34" charset="0"/>
                  <a:buChar char="•"/>
                </a:pPr>
                <a:r>
                  <a:rPr lang="en-IN" dirty="0"/>
                  <a:t>Computing expected values</a:t>
                </a:r>
              </a:p>
              <a:p>
                <a:pPr>
                  <a:buNone/>
                </a:pPr>
                <a:r>
                  <a:rPr lang="en-IN" b="1" dirty="0"/>
                  <a:t>Example</a:t>
                </a:r>
              </a:p>
              <a:p>
                <a:pPr>
                  <a:buNone/>
                </a:pPr>
                <a14:m>
                  <m:oMathPara xmlns:m="http://schemas.openxmlformats.org/officeDocument/2006/math">
                    <m:oMathParaPr>
                      <m:jc m:val="centerGroup"/>
                    </m:oMathParaPr>
                    <m:oMath xmlns:m="http://schemas.openxmlformats.org/officeDocument/2006/math">
                      <m:nary>
                        <m:naryPr>
                          <m:grow m:val="on"/>
                          <m:ctrlPr>
                            <a:rPr lang="ar-AE" i="1">
                              <a:latin typeface="Cambria Math" panose="02040503050406030204" pitchFamily="18" charset="0"/>
                            </a:rPr>
                          </m:ctrlPr>
                        </m:naryPr>
                        <m:sub>
                          <m:r>
                            <a:rPr lang="ar-AE" i="0">
                              <a:latin typeface="Cambria Math" panose="02040503050406030204" pitchFamily="18" charset="0"/>
                            </a:rPr>
                            <m:t>0</m:t>
                          </m:r>
                        </m:sub>
                        <m:sup>
                          <m:r>
                            <a:rPr lang="ar-AE" i="0">
                              <a:latin typeface="Cambria Math" panose="02040503050406030204" pitchFamily="18" charset="0"/>
                            </a:rPr>
                            <m:t>1</m:t>
                          </m:r>
                        </m:sup>
                        <m:e>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0">
                                  <a:latin typeface="Cambria Math" panose="02040503050406030204" pitchFamily="18" charset="0"/>
                                </a:rPr>
                                <m:t>2</m:t>
                              </m:r>
                            </m:sup>
                          </m:sSup>
                        </m:e>
                      </m:nary>
                      <m:r>
                        <a:rPr lang="ar-AE" i="1">
                          <a:latin typeface="Cambria Math" panose="02040503050406030204" pitchFamily="18" charset="0"/>
                        </a:rPr>
                        <m:t>𝑑𝑥</m:t>
                      </m:r>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num>
                        <m:den>
                          <m:r>
                            <a:rPr lang="ar-AE" i="0">
                              <a:latin typeface="Cambria Math" panose="02040503050406030204" pitchFamily="18" charset="0"/>
                            </a:rPr>
                            <m:t>3</m:t>
                          </m:r>
                        </m:den>
                      </m:f>
                    </m:oMath>
                  </m:oMathPara>
                </a14:m>
                <a:endParaRPr lang="en-US" dirty="0"/>
              </a:p>
              <a:p>
                <a:pPr>
                  <a:buNone/>
                </a:pPr>
                <a:endParaRPr lang="en-US" dirty="0"/>
              </a:p>
              <a:p>
                <a:r>
                  <a:rPr lang="en-IN" b="1" dirty="0">
                    <a:solidFill>
                      <a:srgbClr val="FF0000"/>
                    </a:solidFill>
                  </a:rPr>
                  <a:t>Multivariable Calculus in Data Science</a:t>
                </a:r>
              </a:p>
              <a:p>
                <a:r>
                  <a:rPr lang="en-IN" dirty="0"/>
                  <a:t>Most real-world data has many variables. Multivariable calculus is essential for:</a:t>
                </a:r>
              </a:p>
              <a:p>
                <a:r>
                  <a:rPr lang="en-IN" dirty="0"/>
                  <a:t>Training machine learning models</a:t>
                </a:r>
              </a:p>
              <a:p>
                <a:r>
                  <a:rPr lang="en-IN" dirty="0"/>
                  <a:t>Optimizing neural networks</a:t>
                </a:r>
              </a:p>
              <a:p>
                <a:r>
                  <a:rPr lang="en-IN" dirty="0"/>
                  <a:t>Understanding loss surfaces</a:t>
                </a:r>
              </a:p>
              <a:p>
                <a:r>
                  <a:rPr lang="en-IN" b="1" dirty="0"/>
                  <a:t>Key Concepts:</a:t>
                </a:r>
              </a:p>
              <a:p>
                <a:r>
                  <a:rPr lang="en-IN" dirty="0"/>
                  <a:t>Partial derivatives</a:t>
                </a:r>
              </a:p>
              <a:p>
                <a:r>
                  <a:rPr lang="en-IN" dirty="0"/>
                  <a:t>Gradient vector</a:t>
                </a:r>
              </a:p>
              <a:p>
                <a:r>
                  <a:rPr lang="en-IN" dirty="0"/>
                  <a:t>Hessian matrix</a:t>
                </a:r>
              </a:p>
              <a:p>
                <a:r>
                  <a:rPr lang="en-IN" dirty="0"/>
                  <a:t>Jacobian matrix</a:t>
                </a:r>
              </a:p>
              <a:p>
                <a:pPr>
                  <a:buNone/>
                </a:pPr>
                <a:endParaRPr lang="ar-AE" dirty="0"/>
              </a:p>
            </p:txBody>
          </p:sp>
        </mc:Choice>
        <mc:Fallback>
          <p:sp>
            <p:nvSpPr>
              <p:cNvPr id="3" name="TextBox 2">
                <a:extLst>
                  <a:ext uri="{FF2B5EF4-FFF2-40B4-BE49-F238E27FC236}">
                    <a16:creationId xmlns:a16="http://schemas.microsoft.com/office/drawing/2014/main" id="{FBAC9FD6-0EC6-69D0-96E1-6E4517FD4EAE}"/>
                  </a:ext>
                </a:extLst>
              </p:cNvPr>
              <p:cNvSpPr txBox="1">
                <a:spLocks noRot="1" noChangeAspect="1" noMove="1" noResize="1" noEditPoints="1" noAdjustHandles="1" noChangeArrowheads="1" noChangeShapeType="1" noTextEdit="1"/>
              </p:cNvSpPr>
              <p:nvPr/>
            </p:nvSpPr>
            <p:spPr>
              <a:xfrm>
                <a:off x="344129" y="363527"/>
                <a:ext cx="11425084" cy="5977534"/>
              </a:xfrm>
              <a:prstGeom prst="rect">
                <a:avLst/>
              </a:prstGeom>
              <a:blipFill>
                <a:blip r:embed="rId2"/>
                <a:stretch>
                  <a:fillRect l="-427" t="-510"/>
                </a:stretch>
              </a:blipFill>
            </p:spPr>
            <p:txBody>
              <a:bodyPr/>
              <a:lstStyle/>
              <a:p>
                <a:r>
                  <a:rPr lang="en-IN">
                    <a:noFill/>
                  </a:rPr>
                  <a:t> </a:t>
                </a:r>
              </a:p>
            </p:txBody>
          </p:sp>
        </mc:Fallback>
      </mc:AlternateContent>
    </p:spTree>
    <p:extLst>
      <p:ext uri="{BB962C8B-B14F-4D97-AF65-F5344CB8AC3E}">
        <p14:creationId xmlns:p14="http://schemas.microsoft.com/office/powerpoint/2010/main" val="3861021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486354-F65E-4254-8BFF-DA654ABF018C}"/>
              </a:ext>
            </a:extLst>
          </p:cNvPr>
          <p:cNvSpPr txBox="1"/>
          <p:nvPr/>
        </p:nvSpPr>
        <p:spPr>
          <a:xfrm>
            <a:off x="560439" y="424934"/>
            <a:ext cx="6096000" cy="369332"/>
          </a:xfrm>
          <a:prstGeom prst="rect">
            <a:avLst/>
          </a:prstGeom>
          <a:noFill/>
        </p:spPr>
        <p:txBody>
          <a:bodyPr wrap="square">
            <a:spAutoFit/>
          </a:bodyPr>
          <a:lstStyle/>
          <a:p>
            <a:r>
              <a:rPr lang="en-US" b="1" dirty="0">
                <a:solidFill>
                  <a:srgbClr val="FF0000"/>
                </a:solidFill>
              </a:rPr>
              <a:t>Role of Calculus in Machine Learning</a:t>
            </a:r>
            <a:endParaRPr lang="en-IN" b="1" dirty="0">
              <a:solidFill>
                <a:srgbClr val="FF0000"/>
              </a:solidFill>
            </a:endParaRPr>
          </a:p>
        </p:txBody>
      </p:sp>
      <p:graphicFrame>
        <p:nvGraphicFramePr>
          <p:cNvPr id="4" name="Table 3">
            <a:extLst>
              <a:ext uri="{FF2B5EF4-FFF2-40B4-BE49-F238E27FC236}">
                <a16:creationId xmlns:a16="http://schemas.microsoft.com/office/drawing/2014/main" id="{DE516902-3F70-0429-D335-75C773F4F86B}"/>
              </a:ext>
            </a:extLst>
          </p:cNvPr>
          <p:cNvGraphicFramePr>
            <a:graphicFrameLocks noGrp="1"/>
          </p:cNvGraphicFramePr>
          <p:nvPr>
            <p:extLst>
              <p:ext uri="{D42A27DB-BD31-4B8C-83A1-F6EECF244321}">
                <p14:modId xmlns:p14="http://schemas.microsoft.com/office/powerpoint/2010/main" val="1169068105"/>
              </p:ext>
            </p:extLst>
          </p:nvPr>
        </p:nvGraphicFramePr>
        <p:xfrm>
          <a:off x="560439" y="1477148"/>
          <a:ext cx="7387844" cy="2468880"/>
        </p:xfrm>
        <a:graphic>
          <a:graphicData uri="http://schemas.openxmlformats.org/drawingml/2006/table">
            <a:tbl>
              <a:tblPr/>
              <a:tblGrid>
                <a:gridCol w="2130044">
                  <a:extLst>
                    <a:ext uri="{9D8B030D-6E8A-4147-A177-3AD203B41FA5}">
                      <a16:colId xmlns:a16="http://schemas.microsoft.com/office/drawing/2014/main" val="1830495165"/>
                    </a:ext>
                  </a:extLst>
                </a:gridCol>
                <a:gridCol w="5257800">
                  <a:extLst>
                    <a:ext uri="{9D8B030D-6E8A-4147-A177-3AD203B41FA5}">
                      <a16:colId xmlns:a16="http://schemas.microsoft.com/office/drawing/2014/main" val="4104308535"/>
                    </a:ext>
                  </a:extLst>
                </a:gridCol>
              </a:tblGrid>
              <a:tr h="0">
                <a:tc>
                  <a:txBody>
                    <a:bodyPr/>
                    <a:lstStyle/>
                    <a:p>
                      <a:pPr>
                        <a:buNone/>
                      </a:pPr>
                      <a:r>
                        <a:rPr lang="en-IN" b="1" dirty="0"/>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Use of Calculus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2467805"/>
                  </a:ext>
                </a:extLst>
              </a:tr>
              <a:tr h="0">
                <a:tc>
                  <a:txBody>
                    <a:bodyPr/>
                    <a:lstStyle/>
                    <a:p>
                      <a:pPr>
                        <a:buNone/>
                      </a:pPr>
                      <a:r>
                        <a:rPr lang="en-IN" b="1" dirty="0"/>
                        <a:t>Linear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Optimization of loss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639696"/>
                  </a:ext>
                </a:extLst>
              </a:tr>
              <a:tr h="0">
                <a:tc>
                  <a:txBody>
                    <a:bodyPr/>
                    <a:lstStyle/>
                    <a:p>
                      <a:pPr>
                        <a:buNone/>
                      </a:pPr>
                      <a:r>
                        <a:rPr lang="en-IN" b="1" dirty="0"/>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Gradient descent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9132603"/>
                  </a:ext>
                </a:extLst>
              </a:tr>
              <a:tr h="0">
                <a:tc>
                  <a:txBody>
                    <a:bodyPr/>
                    <a:lstStyle/>
                    <a:p>
                      <a:pPr>
                        <a:buNone/>
                      </a:pPr>
                      <a:r>
                        <a:rPr lang="en-IN" b="1" dirty="0"/>
                        <a:t>Neural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Backpropagation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485495"/>
                  </a:ext>
                </a:extLst>
              </a:tr>
              <a:tr h="0">
                <a:tc>
                  <a:txBody>
                    <a:bodyPr/>
                    <a:lstStyle/>
                    <a:p>
                      <a:pPr>
                        <a:buNone/>
                      </a:pPr>
                      <a:r>
                        <a:rPr lang="en-IN" b="1" dirty="0"/>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Weight updates using gradients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644825"/>
                  </a:ext>
                </a:extLst>
              </a:tr>
              <a:tr h="0">
                <a:tc>
                  <a:txBody>
                    <a:bodyPr/>
                    <a:lstStyle/>
                    <a:p>
                      <a:pPr>
                        <a:buNone/>
                      </a:pPr>
                      <a:r>
                        <a:rPr lang="en-IN" b="1" dirty="0"/>
                        <a:t>Optimization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Finding minima and maxima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787199"/>
                  </a:ext>
                </a:extLst>
              </a:tr>
            </a:tbl>
          </a:graphicData>
        </a:graphic>
      </p:graphicFrame>
      <p:sp>
        <p:nvSpPr>
          <p:cNvPr id="6" name="TextBox 5">
            <a:extLst>
              <a:ext uri="{FF2B5EF4-FFF2-40B4-BE49-F238E27FC236}">
                <a16:creationId xmlns:a16="http://schemas.microsoft.com/office/drawing/2014/main" id="{D4B864D2-7812-FB82-787C-5598FD1FEB8B}"/>
              </a:ext>
            </a:extLst>
          </p:cNvPr>
          <p:cNvSpPr txBox="1"/>
          <p:nvPr/>
        </p:nvSpPr>
        <p:spPr>
          <a:xfrm>
            <a:off x="511277" y="4430560"/>
            <a:ext cx="11169445" cy="1200329"/>
          </a:xfrm>
          <a:prstGeom prst="rect">
            <a:avLst/>
          </a:prstGeom>
          <a:solidFill>
            <a:schemeClr val="accent4">
              <a:lumMod val="20000"/>
              <a:lumOff val="80000"/>
            </a:schemeClr>
          </a:solidFill>
          <a:ln>
            <a:solidFill>
              <a:schemeClr val="accent1"/>
            </a:solidFill>
          </a:ln>
        </p:spPr>
        <p:txBody>
          <a:bodyPr wrap="square">
            <a:spAutoFit/>
          </a:bodyPr>
          <a:lstStyle/>
          <a:p>
            <a:r>
              <a:rPr lang="en-US" dirty="0"/>
              <a:t>Calculus forms the mathematical backbone of data science and machine learning. Concepts such as differentiation, gradients, and optimization allow machines to learn from data. Without calculus, modern algorithms like neural networks, regression models, and optimization techniques would not exist. A strong understanding of calculus enables data scientists to build accurate, efficient, and interpretable models.</a:t>
            </a:r>
            <a:endParaRPr lang="en-IN" dirty="0"/>
          </a:p>
        </p:txBody>
      </p:sp>
    </p:spTree>
    <p:extLst>
      <p:ext uri="{BB962C8B-B14F-4D97-AF65-F5344CB8AC3E}">
        <p14:creationId xmlns:p14="http://schemas.microsoft.com/office/powerpoint/2010/main" val="53968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1179</Words>
  <Application>Microsoft Office PowerPoint</Application>
  <PresentationFormat>Widescreen</PresentationFormat>
  <Paragraphs>190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Cambria Math</vt:lpstr>
      <vt:lpstr>Office Theme</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Sapna Yadav Ph.D. (Commputer Science)</dc:creator>
  <cp:lastModifiedBy>Sapna Yadav Ph.D. (Commputer Science)</cp:lastModifiedBy>
  <cp:revision>1</cp:revision>
  <dcterms:created xsi:type="dcterms:W3CDTF">2025-12-25T17:41:01Z</dcterms:created>
  <dcterms:modified xsi:type="dcterms:W3CDTF">2025-12-25T17:57:28Z</dcterms:modified>
</cp:coreProperties>
</file>