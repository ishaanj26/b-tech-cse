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445E0-EB56-3F1E-AE6D-6BAA4CEB69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A492E92-72E5-5BCD-CDA0-015E1AD076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E7390A8-60B9-97A7-B91D-363AD480EF7E}"/>
              </a:ext>
            </a:extLst>
          </p:cNvPr>
          <p:cNvSpPr>
            <a:spLocks noGrp="1"/>
          </p:cNvSpPr>
          <p:nvPr>
            <p:ph type="dt" sz="half" idx="10"/>
          </p:nvPr>
        </p:nvSpPr>
        <p:spPr/>
        <p:txBody>
          <a:bodyPr/>
          <a:lstStyle/>
          <a:p>
            <a:fld id="{D4E8BA09-A6DB-40E0-B517-1C2488DAFC54}" type="datetimeFigureOut">
              <a:rPr lang="en-IN" smtClean="0"/>
              <a:t>25-12-2025</a:t>
            </a:fld>
            <a:endParaRPr lang="en-IN"/>
          </a:p>
        </p:txBody>
      </p:sp>
      <p:sp>
        <p:nvSpPr>
          <p:cNvPr id="5" name="Footer Placeholder 4">
            <a:extLst>
              <a:ext uri="{FF2B5EF4-FFF2-40B4-BE49-F238E27FC236}">
                <a16:creationId xmlns:a16="http://schemas.microsoft.com/office/drawing/2014/main" id="{30100387-1AB8-2742-E2AC-6DFBD30BE3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4F4409-66C0-3E92-54C2-B535EAF2062D}"/>
              </a:ext>
            </a:extLst>
          </p:cNvPr>
          <p:cNvSpPr>
            <a:spLocks noGrp="1"/>
          </p:cNvSpPr>
          <p:nvPr>
            <p:ph type="sldNum" sz="quarter" idx="12"/>
          </p:nvPr>
        </p:nvSpPr>
        <p:spPr/>
        <p:txBody>
          <a:bodyPr/>
          <a:lstStyle/>
          <a:p>
            <a:fld id="{CCF76C6A-11FF-49D0-AAA9-9D07DD54FF5A}" type="slidenum">
              <a:rPr lang="en-IN" smtClean="0"/>
              <a:t>‹#›</a:t>
            </a:fld>
            <a:endParaRPr lang="en-IN"/>
          </a:p>
        </p:txBody>
      </p:sp>
    </p:spTree>
    <p:extLst>
      <p:ext uri="{BB962C8B-B14F-4D97-AF65-F5344CB8AC3E}">
        <p14:creationId xmlns:p14="http://schemas.microsoft.com/office/powerpoint/2010/main" val="2145367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2475D-18CB-3EC3-FDAA-FC819BEFE3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C562D0-88E5-8251-6A24-4AFF816CE2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E93213-6F2A-005B-7038-104F5DD919EB}"/>
              </a:ext>
            </a:extLst>
          </p:cNvPr>
          <p:cNvSpPr>
            <a:spLocks noGrp="1"/>
          </p:cNvSpPr>
          <p:nvPr>
            <p:ph type="dt" sz="half" idx="10"/>
          </p:nvPr>
        </p:nvSpPr>
        <p:spPr/>
        <p:txBody>
          <a:bodyPr/>
          <a:lstStyle/>
          <a:p>
            <a:fld id="{D4E8BA09-A6DB-40E0-B517-1C2488DAFC54}" type="datetimeFigureOut">
              <a:rPr lang="en-IN" smtClean="0"/>
              <a:t>25-12-2025</a:t>
            </a:fld>
            <a:endParaRPr lang="en-IN"/>
          </a:p>
        </p:txBody>
      </p:sp>
      <p:sp>
        <p:nvSpPr>
          <p:cNvPr id="5" name="Footer Placeholder 4">
            <a:extLst>
              <a:ext uri="{FF2B5EF4-FFF2-40B4-BE49-F238E27FC236}">
                <a16:creationId xmlns:a16="http://schemas.microsoft.com/office/drawing/2014/main" id="{4631E83F-9903-7464-532C-83246D083B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EA955F-645E-9EDB-46A6-A57074F6B972}"/>
              </a:ext>
            </a:extLst>
          </p:cNvPr>
          <p:cNvSpPr>
            <a:spLocks noGrp="1"/>
          </p:cNvSpPr>
          <p:nvPr>
            <p:ph type="sldNum" sz="quarter" idx="12"/>
          </p:nvPr>
        </p:nvSpPr>
        <p:spPr/>
        <p:txBody>
          <a:bodyPr/>
          <a:lstStyle/>
          <a:p>
            <a:fld id="{CCF76C6A-11FF-49D0-AAA9-9D07DD54FF5A}" type="slidenum">
              <a:rPr lang="en-IN" smtClean="0"/>
              <a:t>‹#›</a:t>
            </a:fld>
            <a:endParaRPr lang="en-IN"/>
          </a:p>
        </p:txBody>
      </p:sp>
    </p:spTree>
    <p:extLst>
      <p:ext uri="{BB962C8B-B14F-4D97-AF65-F5344CB8AC3E}">
        <p14:creationId xmlns:p14="http://schemas.microsoft.com/office/powerpoint/2010/main" val="3035014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F072-DCB3-FE78-8108-127FCD7C87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DA9E0E6-2930-5DAC-03E9-5A7A0B78D4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87E1F6-5AB6-D86F-DAC9-DCAA41B4F1E5}"/>
              </a:ext>
            </a:extLst>
          </p:cNvPr>
          <p:cNvSpPr>
            <a:spLocks noGrp="1"/>
          </p:cNvSpPr>
          <p:nvPr>
            <p:ph type="dt" sz="half" idx="10"/>
          </p:nvPr>
        </p:nvSpPr>
        <p:spPr/>
        <p:txBody>
          <a:bodyPr/>
          <a:lstStyle/>
          <a:p>
            <a:fld id="{D4E8BA09-A6DB-40E0-B517-1C2488DAFC54}" type="datetimeFigureOut">
              <a:rPr lang="en-IN" smtClean="0"/>
              <a:t>25-12-2025</a:t>
            </a:fld>
            <a:endParaRPr lang="en-IN"/>
          </a:p>
        </p:txBody>
      </p:sp>
      <p:sp>
        <p:nvSpPr>
          <p:cNvPr id="5" name="Footer Placeholder 4">
            <a:extLst>
              <a:ext uri="{FF2B5EF4-FFF2-40B4-BE49-F238E27FC236}">
                <a16:creationId xmlns:a16="http://schemas.microsoft.com/office/drawing/2014/main" id="{021A009A-CDFA-3ADC-7D14-4891118BE2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EBFFAD-FCC6-9963-68B7-A81E2EB401C2}"/>
              </a:ext>
            </a:extLst>
          </p:cNvPr>
          <p:cNvSpPr>
            <a:spLocks noGrp="1"/>
          </p:cNvSpPr>
          <p:nvPr>
            <p:ph type="sldNum" sz="quarter" idx="12"/>
          </p:nvPr>
        </p:nvSpPr>
        <p:spPr/>
        <p:txBody>
          <a:bodyPr/>
          <a:lstStyle/>
          <a:p>
            <a:fld id="{CCF76C6A-11FF-49D0-AAA9-9D07DD54FF5A}" type="slidenum">
              <a:rPr lang="en-IN" smtClean="0"/>
              <a:t>‹#›</a:t>
            </a:fld>
            <a:endParaRPr lang="en-IN"/>
          </a:p>
        </p:txBody>
      </p:sp>
    </p:spTree>
    <p:extLst>
      <p:ext uri="{BB962C8B-B14F-4D97-AF65-F5344CB8AC3E}">
        <p14:creationId xmlns:p14="http://schemas.microsoft.com/office/powerpoint/2010/main" val="141231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773F2-6887-8F8B-B2EE-731343E267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70882C-F72E-5E07-E0DE-5111F98FE3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6C510A6-76AC-2B57-F3DE-19AFF89695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3D0456C-D0E0-18B3-842C-A60BF7DF8C58}"/>
              </a:ext>
            </a:extLst>
          </p:cNvPr>
          <p:cNvSpPr>
            <a:spLocks noGrp="1"/>
          </p:cNvSpPr>
          <p:nvPr>
            <p:ph type="dt" sz="half" idx="10"/>
          </p:nvPr>
        </p:nvSpPr>
        <p:spPr/>
        <p:txBody>
          <a:bodyPr/>
          <a:lstStyle/>
          <a:p>
            <a:fld id="{D4E8BA09-A6DB-40E0-B517-1C2488DAFC54}" type="datetimeFigureOut">
              <a:rPr lang="en-IN" smtClean="0"/>
              <a:t>25-12-2025</a:t>
            </a:fld>
            <a:endParaRPr lang="en-IN"/>
          </a:p>
        </p:txBody>
      </p:sp>
      <p:sp>
        <p:nvSpPr>
          <p:cNvPr id="6" name="Footer Placeholder 5">
            <a:extLst>
              <a:ext uri="{FF2B5EF4-FFF2-40B4-BE49-F238E27FC236}">
                <a16:creationId xmlns:a16="http://schemas.microsoft.com/office/drawing/2014/main" id="{391F04DC-5A34-1074-28D6-95C8CC1100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B7FB7F-03B3-0587-2F9E-E945D107E608}"/>
              </a:ext>
            </a:extLst>
          </p:cNvPr>
          <p:cNvSpPr>
            <a:spLocks noGrp="1"/>
          </p:cNvSpPr>
          <p:nvPr>
            <p:ph type="sldNum" sz="quarter" idx="12"/>
          </p:nvPr>
        </p:nvSpPr>
        <p:spPr/>
        <p:txBody>
          <a:bodyPr/>
          <a:lstStyle/>
          <a:p>
            <a:fld id="{CCF76C6A-11FF-49D0-AAA9-9D07DD54FF5A}" type="slidenum">
              <a:rPr lang="en-IN" smtClean="0"/>
              <a:t>‹#›</a:t>
            </a:fld>
            <a:endParaRPr lang="en-IN"/>
          </a:p>
        </p:txBody>
      </p:sp>
    </p:spTree>
    <p:extLst>
      <p:ext uri="{BB962C8B-B14F-4D97-AF65-F5344CB8AC3E}">
        <p14:creationId xmlns:p14="http://schemas.microsoft.com/office/powerpoint/2010/main" val="1818168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6E04-91EA-4043-4AD6-BD04112A6E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EB8EAF-02D4-68C3-D4F8-46F670C462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B32CB2-55F3-07DF-F56A-833817AA89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A152704-8348-D8B2-AABD-6D868B852F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E6DA77-6805-525C-84F1-6AE0445251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CAA1DAF-E5AE-DA1F-5D85-42EC3100BADB}"/>
              </a:ext>
            </a:extLst>
          </p:cNvPr>
          <p:cNvSpPr>
            <a:spLocks noGrp="1"/>
          </p:cNvSpPr>
          <p:nvPr>
            <p:ph type="dt" sz="half" idx="10"/>
          </p:nvPr>
        </p:nvSpPr>
        <p:spPr/>
        <p:txBody>
          <a:bodyPr/>
          <a:lstStyle/>
          <a:p>
            <a:fld id="{D4E8BA09-A6DB-40E0-B517-1C2488DAFC54}" type="datetimeFigureOut">
              <a:rPr lang="en-IN" smtClean="0"/>
              <a:t>25-12-2025</a:t>
            </a:fld>
            <a:endParaRPr lang="en-IN"/>
          </a:p>
        </p:txBody>
      </p:sp>
      <p:sp>
        <p:nvSpPr>
          <p:cNvPr id="8" name="Footer Placeholder 7">
            <a:extLst>
              <a:ext uri="{FF2B5EF4-FFF2-40B4-BE49-F238E27FC236}">
                <a16:creationId xmlns:a16="http://schemas.microsoft.com/office/drawing/2014/main" id="{AC7CA3C2-B955-0D10-70E8-4DDC2734AF6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816F7CD-6659-7F0B-E36D-05B8D55C6DA5}"/>
              </a:ext>
            </a:extLst>
          </p:cNvPr>
          <p:cNvSpPr>
            <a:spLocks noGrp="1"/>
          </p:cNvSpPr>
          <p:nvPr>
            <p:ph type="sldNum" sz="quarter" idx="12"/>
          </p:nvPr>
        </p:nvSpPr>
        <p:spPr/>
        <p:txBody>
          <a:bodyPr/>
          <a:lstStyle/>
          <a:p>
            <a:fld id="{CCF76C6A-11FF-49D0-AAA9-9D07DD54FF5A}" type="slidenum">
              <a:rPr lang="en-IN" smtClean="0"/>
              <a:t>‹#›</a:t>
            </a:fld>
            <a:endParaRPr lang="en-IN"/>
          </a:p>
        </p:txBody>
      </p:sp>
    </p:spTree>
    <p:extLst>
      <p:ext uri="{BB962C8B-B14F-4D97-AF65-F5344CB8AC3E}">
        <p14:creationId xmlns:p14="http://schemas.microsoft.com/office/powerpoint/2010/main" val="4014259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DCC15-1C44-FDB2-6C63-DFCFD44C124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B05267F-B443-6A3B-21DD-56E678B6B7C7}"/>
              </a:ext>
            </a:extLst>
          </p:cNvPr>
          <p:cNvSpPr>
            <a:spLocks noGrp="1"/>
          </p:cNvSpPr>
          <p:nvPr>
            <p:ph type="dt" sz="half" idx="10"/>
          </p:nvPr>
        </p:nvSpPr>
        <p:spPr/>
        <p:txBody>
          <a:bodyPr/>
          <a:lstStyle/>
          <a:p>
            <a:fld id="{D4E8BA09-A6DB-40E0-B517-1C2488DAFC54}" type="datetimeFigureOut">
              <a:rPr lang="en-IN" smtClean="0"/>
              <a:t>25-12-2025</a:t>
            </a:fld>
            <a:endParaRPr lang="en-IN"/>
          </a:p>
        </p:txBody>
      </p:sp>
      <p:sp>
        <p:nvSpPr>
          <p:cNvPr id="4" name="Footer Placeholder 3">
            <a:extLst>
              <a:ext uri="{FF2B5EF4-FFF2-40B4-BE49-F238E27FC236}">
                <a16:creationId xmlns:a16="http://schemas.microsoft.com/office/drawing/2014/main" id="{DFD1C1D5-FBF9-550E-77DF-BE146D6A86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1F2F1C-3A06-6119-1167-8BCE4EFFEEEF}"/>
              </a:ext>
            </a:extLst>
          </p:cNvPr>
          <p:cNvSpPr>
            <a:spLocks noGrp="1"/>
          </p:cNvSpPr>
          <p:nvPr>
            <p:ph type="sldNum" sz="quarter" idx="12"/>
          </p:nvPr>
        </p:nvSpPr>
        <p:spPr/>
        <p:txBody>
          <a:bodyPr/>
          <a:lstStyle/>
          <a:p>
            <a:fld id="{CCF76C6A-11FF-49D0-AAA9-9D07DD54FF5A}" type="slidenum">
              <a:rPr lang="en-IN" smtClean="0"/>
              <a:t>‹#›</a:t>
            </a:fld>
            <a:endParaRPr lang="en-IN"/>
          </a:p>
        </p:txBody>
      </p:sp>
    </p:spTree>
    <p:extLst>
      <p:ext uri="{BB962C8B-B14F-4D97-AF65-F5344CB8AC3E}">
        <p14:creationId xmlns:p14="http://schemas.microsoft.com/office/powerpoint/2010/main" val="402349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595EB4-6AC7-86D4-6FB8-BFEA35048ED5}"/>
              </a:ext>
            </a:extLst>
          </p:cNvPr>
          <p:cNvSpPr>
            <a:spLocks noGrp="1"/>
          </p:cNvSpPr>
          <p:nvPr>
            <p:ph type="dt" sz="half" idx="10"/>
          </p:nvPr>
        </p:nvSpPr>
        <p:spPr/>
        <p:txBody>
          <a:bodyPr/>
          <a:lstStyle/>
          <a:p>
            <a:fld id="{D4E8BA09-A6DB-40E0-B517-1C2488DAFC54}" type="datetimeFigureOut">
              <a:rPr lang="en-IN" smtClean="0"/>
              <a:t>25-12-2025</a:t>
            </a:fld>
            <a:endParaRPr lang="en-IN"/>
          </a:p>
        </p:txBody>
      </p:sp>
      <p:sp>
        <p:nvSpPr>
          <p:cNvPr id="3" name="Footer Placeholder 2">
            <a:extLst>
              <a:ext uri="{FF2B5EF4-FFF2-40B4-BE49-F238E27FC236}">
                <a16:creationId xmlns:a16="http://schemas.microsoft.com/office/drawing/2014/main" id="{EC2C5B51-0DE3-5BCE-73E4-EB3A9B04B8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56E2485-B667-82B6-7CA3-14FB1281BF16}"/>
              </a:ext>
            </a:extLst>
          </p:cNvPr>
          <p:cNvSpPr>
            <a:spLocks noGrp="1"/>
          </p:cNvSpPr>
          <p:nvPr>
            <p:ph type="sldNum" sz="quarter" idx="12"/>
          </p:nvPr>
        </p:nvSpPr>
        <p:spPr/>
        <p:txBody>
          <a:bodyPr/>
          <a:lstStyle/>
          <a:p>
            <a:fld id="{CCF76C6A-11FF-49D0-AAA9-9D07DD54FF5A}" type="slidenum">
              <a:rPr lang="en-IN" smtClean="0"/>
              <a:t>‹#›</a:t>
            </a:fld>
            <a:endParaRPr lang="en-IN"/>
          </a:p>
        </p:txBody>
      </p:sp>
    </p:spTree>
    <p:extLst>
      <p:ext uri="{BB962C8B-B14F-4D97-AF65-F5344CB8AC3E}">
        <p14:creationId xmlns:p14="http://schemas.microsoft.com/office/powerpoint/2010/main" val="2819142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E96C2-2784-F2EB-D548-F0F239EC91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A2EB8B5-FE3B-DAAE-8C1B-15F52EB366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A51B32E-0B73-20FD-DDC9-8AFE43E940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4A7059-D5FB-416D-7A38-BB89C1BE0B4E}"/>
              </a:ext>
            </a:extLst>
          </p:cNvPr>
          <p:cNvSpPr>
            <a:spLocks noGrp="1"/>
          </p:cNvSpPr>
          <p:nvPr>
            <p:ph type="dt" sz="half" idx="10"/>
          </p:nvPr>
        </p:nvSpPr>
        <p:spPr/>
        <p:txBody>
          <a:bodyPr/>
          <a:lstStyle/>
          <a:p>
            <a:fld id="{D4E8BA09-A6DB-40E0-B517-1C2488DAFC54}" type="datetimeFigureOut">
              <a:rPr lang="en-IN" smtClean="0"/>
              <a:t>25-12-2025</a:t>
            </a:fld>
            <a:endParaRPr lang="en-IN"/>
          </a:p>
        </p:txBody>
      </p:sp>
      <p:sp>
        <p:nvSpPr>
          <p:cNvPr id="6" name="Footer Placeholder 5">
            <a:extLst>
              <a:ext uri="{FF2B5EF4-FFF2-40B4-BE49-F238E27FC236}">
                <a16:creationId xmlns:a16="http://schemas.microsoft.com/office/drawing/2014/main" id="{C3364D91-DDF0-5E19-6238-9036B60BDE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715A05-561D-D2B4-0B48-0AFEEC647C35}"/>
              </a:ext>
            </a:extLst>
          </p:cNvPr>
          <p:cNvSpPr>
            <a:spLocks noGrp="1"/>
          </p:cNvSpPr>
          <p:nvPr>
            <p:ph type="sldNum" sz="quarter" idx="12"/>
          </p:nvPr>
        </p:nvSpPr>
        <p:spPr/>
        <p:txBody>
          <a:bodyPr/>
          <a:lstStyle/>
          <a:p>
            <a:fld id="{CCF76C6A-11FF-49D0-AAA9-9D07DD54FF5A}" type="slidenum">
              <a:rPr lang="en-IN" smtClean="0"/>
              <a:t>‹#›</a:t>
            </a:fld>
            <a:endParaRPr lang="en-IN"/>
          </a:p>
        </p:txBody>
      </p:sp>
    </p:spTree>
    <p:extLst>
      <p:ext uri="{BB962C8B-B14F-4D97-AF65-F5344CB8AC3E}">
        <p14:creationId xmlns:p14="http://schemas.microsoft.com/office/powerpoint/2010/main" val="657887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C3992-E564-64A3-1E9A-09CB3EE99D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F09B6BE-9DB5-F273-699D-510F7B32CD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3C0079C-1D79-EA49-44C7-6E120E1C4E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8A5E95-83BA-DBC2-AABB-02A1EBBC632D}"/>
              </a:ext>
            </a:extLst>
          </p:cNvPr>
          <p:cNvSpPr>
            <a:spLocks noGrp="1"/>
          </p:cNvSpPr>
          <p:nvPr>
            <p:ph type="dt" sz="half" idx="10"/>
          </p:nvPr>
        </p:nvSpPr>
        <p:spPr/>
        <p:txBody>
          <a:bodyPr/>
          <a:lstStyle/>
          <a:p>
            <a:fld id="{D4E8BA09-A6DB-40E0-B517-1C2488DAFC54}" type="datetimeFigureOut">
              <a:rPr lang="en-IN" smtClean="0"/>
              <a:t>25-12-2025</a:t>
            </a:fld>
            <a:endParaRPr lang="en-IN"/>
          </a:p>
        </p:txBody>
      </p:sp>
      <p:sp>
        <p:nvSpPr>
          <p:cNvPr id="6" name="Footer Placeholder 5">
            <a:extLst>
              <a:ext uri="{FF2B5EF4-FFF2-40B4-BE49-F238E27FC236}">
                <a16:creationId xmlns:a16="http://schemas.microsoft.com/office/drawing/2014/main" id="{473B0D7D-D73D-7772-65CA-F921E6A611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71DEAD-C8AC-9150-CD63-A58CB2E26642}"/>
              </a:ext>
            </a:extLst>
          </p:cNvPr>
          <p:cNvSpPr>
            <a:spLocks noGrp="1"/>
          </p:cNvSpPr>
          <p:nvPr>
            <p:ph type="sldNum" sz="quarter" idx="12"/>
          </p:nvPr>
        </p:nvSpPr>
        <p:spPr/>
        <p:txBody>
          <a:bodyPr/>
          <a:lstStyle/>
          <a:p>
            <a:fld id="{CCF76C6A-11FF-49D0-AAA9-9D07DD54FF5A}" type="slidenum">
              <a:rPr lang="en-IN" smtClean="0"/>
              <a:t>‹#›</a:t>
            </a:fld>
            <a:endParaRPr lang="en-IN"/>
          </a:p>
        </p:txBody>
      </p:sp>
    </p:spTree>
    <p:extLst>
      <p:ext uri="{BB962C8B-B14F-4D97-AF65-F5344CB8AC3E}">
        <p14:creationId xmlns:p14="http://schemas.microsoft.com/office/powerpoint/2010/main" val="2127909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2B390-C15B-074C-C3CE-53F8AB47206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CFFF61-070C-D8DC-56E3-A15B7BDE3A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2F6D69-5F52-BE37-C2AF-93D53D9C0174}"/>
              </a:ext>
            </a:extLst>
          </p:cNvPr>
          <p:cNvSpPr>
            <a:spLocks noGrp="1"/>
          </p:cNvSpPr>
          <p:nvPr>
            <p:ph type="dt" sz="half" idx="10"/>
          </p:nvPr>
        </p:nvSpPr>
        <p:spPr/>
        <p:txBody>
          <a:bodyPr/>
          <a:lstStyle/>
          <a:p>
            <a:fld id="{D4E8BA09-A6DB-40E0-B517-1C2488DAFC54}" type="datetimeFigureOut">
              <a:rPr lang="en-IN" smtClean="0"/>
              <a:t>25-12-2025</a:t>
            </a:fld>
            <a:endParaRPr lang="en-IN"/>
          </a:p>
        </p:txBody>
      </p:sp>
      <p:sp>
        <p:nvSpPr>
          <p:cNvPr id="5" name="Footer Placeholder 4">
            <a:extLst>
              <a:ext uri="{FF2B5EF4-FFF2-40B4-BE49-F238E27FC236}">
                <a16:creationId xmlns:a16="http://schemas.microsoft.com/office/drawing/2014/main" id="{27921E80-BC8C-CA22-1431-701753A8B4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ACFD09-53B3-2FCA-07AC-7F965AB8A29C}"/>
              </a:ext>
            </a:extLst>
          </p:cNvPr>
          <p:cNvSpPr>
            <a:spLocks noGrp="1"/>
          </p:cNvSpPr>
          <p:nvPr>
            <p:ph type="sldNum" sz="quarter" idx="12"/>
          </p:nvPr>
        </p:nvSpPr>
        <p:spPr/>
        <p:txBody>
          <a:bodyPr/>
          <a:lstStyle/>
          <a:p>
            <a:fld id="{CCF76C6A-11FF-49D0-AAA9-9D07DD54FF5A}" type="slidenum">
              <a:rPr lang="en-IN" smtClean="0"/>
              <a:t>‹#›</a:t>
            </a:fld>
            <a:endParaRPr lang="en-IN"/>
          </a:p>
        </p:txBody>
      </p:sp>
    </p:spTree>
    <p:extLst>
      <p:ext uri="{BB962C8B-B14F-4D97-AF65-F5344CB8AC3E}">
        <p14:creationId xmlns:p14="http://schemas.microsoft.com/office/powerpoint/2010/main" val="3004643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7C9352-ECE7-A7A9-CDB7-76783657F92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A72E44-CF52-2B43-2FD7-7C6388E657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244963-EEA4-B4C6-DD4A-7C19324F769B}"/>
              </a:ext>
            </a:extLst>
          </p:cNvPr>
          <p:cNvSpPr>
            <a:spLocks noGrp="1"/>
          </p:cNvSpPr>
          <p:nvPr>
            <p:ph type="dt" sz="half" idx="10"/>
          </p:nvPr>
        </p:nvSpPr>
        <p:spPr/>
        <p:txBody>
          <a:bodyPr/>
          <a:lstStyle/>
          <a:p>
            <a:fld id="{D4E8BA09-A6DB-40E0-B517-1C2488DAFC54}" type="datetimeFigureOut">
              <a:rPr lang="en-IN" smtClean="0"/>
              <a:t>25-12-2025</a:t>
            </a:fld>
            <a:endParaRPr lang="en-IN"/>
          </a:p>
        </p:txBody>
      </p:sp>
      <p:sp>
        <p:nvSpPr>
          <p:cNvPr id="5" name="Footer Placeholder 4">
            <a:extLst>
              <a:ext uri="{FF2B5EF4-FFF2-40B4-BE49-F238E27FC236}">
                <a16:creationId xmlns:a16="http://schemas.microsoft.com/office/drawing/2014/main" id="{48FCADC7-F059-3B93-46F3-1E30543FCD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6EBC5B-4FF2-5580-8D90-523FE2E9C611}"/>
              </a:ext>
            </a:extLst>
          </p:cNvPr>
          <p:cNvSpPr>
            <a:spLocks noGrp="1"/>
          </p:cNvSpPr>
          <p:nvPr>
            <p:ph type="sldNum" sz="quarter" idx="12"/>
          </p:nvPr>
        </p:nvSpPr>
        <p:spPr/>
        <p:txBody>
          <a:bodyPr/>
          <a:lstStyle/>
          <a:p>
            <a:fld id="{CCF76C6A-11FF-49D0-AAA9-9D07DD54FF5A}" type="slidenum">
              <a:rPr lang="en-IN" smtClean="0"/>
              <a:t>‹#›</a:t>
            </a:fld>
            <a:endParaRPr lang="en-IN"/>
          </a:p>
        </p:txBody>
      </p:sp>
    </p:spTree>
    <p:extLst>
      <p:ext uri="{BB962C8B-B14F-4D97-AF65-F5344CB8AC3E}">
        <p14:creationId xmlns:p14="http://schemas.microsoft.com/office/powerpoint/2010/main" val="1417092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D4B111-A336-FE62-35AF-B518E3C601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E77452-1BB8-8893-CD90-3F5233F7F3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1F9B95-B98F-6519-28D3-37B31425D4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E8BA09-A6DB-40E0-B517-1C2488DAFC54}" type="datetimeFigureOut">
              <a:rPr lang="en-IN" smtClean="0"/>
              <a:t>25-12-2025</a:t>
            </a:fld>
            <a:endParaRPr lang="en-IN"/>
          </a:p>
        </p:txBody>
      </p:sp>
      <p:sp>
        <p:nvSpPr>
          <p:cNvPr id="5" name="Footer Placeholder 4">
            <a:extLst>
              <a:ext uri="{FF2B5EF4-FFF2-40B4-BE49-F238E27FC236}">
                <a16:creationId xmlns:a16="http://schemas.microsoft.com/office/drawing/2014/main" id="{963876F8-0AB9-3049-8F8E-ACEBF9072F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44BF7C5-CF23-ECF0-4343-98B9BED603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F76C6A-11FF-49D0-AAA9-9D07DD54FF5A}" type="slidenum">
              <a:rPr lang="en-IN" smtClean="0"/>
              <a:t>‹#›</a:t>
            </a:fld>
            <a:endParaRPr lang="en-IN"/>
          </a:p>
        </p:txBody>
      </p:sp>
    </p:spTree>
    <p:extLst>
      <p:ext uri="{BB962C8B-B14F-4D97-AF65-F5344CB8AC3E}">
        <p14:creationId xmlns:p14="http://schemas.microsoft.com/office/powerpoint/2010/main" val="8499641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34615-9357-CFC6-5111-FC483B6C6B6B}"/>
              </a:ext>
            </a:extLst>
          </p:cNvPr>
          <p:cNvSpPr>
            <a:spLocks noGrp="1"/>
          </p:cNvSpPr>
          <p:nvPr>
            <p:ph type="ctrTitle"/>
          </p:nvPr>
        </p:nvSpPr>
        <p:spPr/>
        <p:txBody>
          <a:bodyPr/>
          <a:lstStyle/>
          <a:p>
            <a:r>
              <a:rPr lang="en-US" dirty="0">
                <a:solidFill>
                  <a:srgbClr val="FF0000"/>
                </a:solidFill>
              </a:rPr>
              <a:t>Unit 4 </a:t>
            </a:r>
            <a:endParaRPr lang="en-IN" dirty="0">
              <a:solidFill>
                <a:srgbClr val="FF0000"/>
              </a:solidFill>
            </a:endParaRPr>
          </a:p>
        </p:txBody>
      </p:sp>
      <p:sp>
        <p:nvSpPr>
          <p:cNvPr id="3" name="Subtitle 2">
            <a:extLst>
              <a:ext uri="{FF2B5EF4-FFF2-40B4-BE49-F238E27FC236}">
                <a16:creationId xmlns:a16="http://schemas.microsoft.com/office/drawing/2014/main" id="{3D8CE640-A0D6-D109-0847-97605CA544C5}"/>
              </a:ext>
            </a:extLst>
          </p:cNvPr>
          <p:cNvSpPr>
            <a:spLocks noGrp="1"/>
          </p:cNvSpPr>
          <p:nvPr>
            <p:ph type="subTitle" idx="1"/>
          </p:nvPr>
        </p:nvSpPr>
        <p:spPr/>
        <p:txBody>
          <a:bodyPr/>
          <a:lstStyle/>
          <a:p>
            <a:r>
              <a:rPr lang="en-US" dirty="0">
                <a:solidFill>
                  <a:srgbClr val="FF0000"/>
                </a:solidFill>
              </a:rPr>
              <a:t>(Mathematics for Data science Probability)</a:t>
            </a:r>
            <a:endParaRPr lang="en-IN" dirty="0">
              <a:solidFill>
                <a:srgbClr val="FF0000"/>
              </a:solidFill>
            </a:endParaRPr>
          </a:p>
        </p:txBody>
      </p:sp>
    </p:spTree>
    <p:extLst>
      <p:ext uri="{BB962C8B-B14F-4D97-AF65-F5344CB8AC3E}">
        <p14:creationId xmlns:p14="http://schemas.microsoft.com/office/powerpoint/2010/main" val="1882646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6611A3-0519-BFB2-8473-EE8D215EBC3A}"/>
              </a:ext>
            </a:extLst>
          </p:cNvPr>
          <p:cNvSpPr txBox="1"/>
          <p:nvPr/>
        </p:nvSpPr>
        <p:spPr>
          <a:xfrm>
            <a:off x="496529" y="197346"/>
            <a:ext cx="11198942" cy="6463308"/>
          </a:xfrm>
          <a:prstGeom prst="rect">
            <a:avLst/>
          </a:prstGeom>
          <a:noFill/>
        </p:spPr>
        <p:txBody>
          <a:bodyPr wrap="square">
            <a:spAutoFit/>
          </a:bodyPr>
          <a:lstStyle/>
          <a:p>
            <a:pPr>
              <a:buNone/>
            </a:pPr>
            <a:r>
              <a:rPr lang="en-US" b="1" dirty="0">
                <a:solidFill>
                  <a:srgbClr val="FF0000"/>
                </a:solidFill>
              </a:rPr>
              <a:t>Introduction to Probability</a:t>
            </a:r>
          </a:p>
          <a:p>
            <a:pPr>
              <a:buNone/>
            </a:pPr>
            <a:endParaRPr lang="en-US" dirty="0"/>
          </a:p>
          <a:p>
            <a:pPr>
              <a:buNone/>
            </a:pPr>
            <a:r>
              <a:rPr lang="en-US" dirty="0"/>
              <a:t>Probability is a branch of mathematics that deals with </a:t>
            </a:r>
            <a:r>
              <a:rPr lang="en-US" b="1" dirty="0"/>
              <a:t>uncertainty and randomness</a:t>
            </a:r>
            <a:r>
              <a:rPr lang="en-US" dirty="0"/>
              <a:t>. In data science, probability provides the foundation for understanding uncertainty in data, making predictions, building statistical models, and supporting decision-making under uncertainty.</a:t>
            </a:r>
          </a:p>
          <a:p>
            <a:pPr>
              <a:buNone/>
            </a:pPr>
            <a:r>
              <a:rPr lang="en-US" dirty="0"/>
              <a:t>In real-world data science problems, outcomes are rarely deterministic. Probability helps quantify how likely an event is to occur and forms the backbone of machine learning, statistics, risk analysis, and predictive modeling.</a:t>
            </a:r>
          </a:p>
          <a:p>
            <a:pPr>
              <a:buNone/>
            </a:pPr>
            <a:endParaRPr lang="en-US" dirty="0"/>
          </a:p>
          <a:p>
            <a:r>
              <a:rPr lang="en-US" b="1" dirty="0">
                <a:solidFill>
                  <a:srgbClr val="FF0000"/>
                </a:solidFill>
              </a:rPr>
              <a:t>Basic Concepts of Probability</a:t>
            </a:r>
          </a:p>
          <a:p>
            <a:endParaRPr lang="en-US" b="1" dirty="0"/>
          </a:p>
          <a:p>
            <a:r>
              <a:rPr lang="en-US" b="1" dirty="0"/>
              <a:t>1 Random Experiment</a:t>
            </a:r>
          </a:p>
          <a:p>
            <a:r>
              <a:rPr lang="en-US" dirty="0"/>
              <a:t>A random experiment is an experiment whose outcome cannot be predicted with certainty.</a:t>
            </a:r>
          </a:p>
          <a:p>
            <a:r>
              <a:rPr lang="en-US" b="1" dirty="0"/>
              <a:t>Example:</a:t>
            </a:r>
            <a:endParaRPr lang="en-US" dirty="0"/>
          </a:p>
          <a:p>
            <a:r>
              <a:rPr lang="en-US" dirty="0"/>
              <a:t>Tossing a coin</a:t>
            </a:r>
          </a:p>
          <a:p>
            <a:r>
              <a:rPr lang="en-US" dirty="0"/>
              <a:t>Rolling a dice</a:t>
            </a:r>
          </a:p>
          <a:p>
            <a:r>
              <a:rPr lang="en-US" dirty="0"/>
              <a:t>Selecting a customer randomly from a database</a:t>
            </a:r>
          </a:p>
          <a:p>
            <a:endParaRPr lang="en-US" dirty="0"/>
          </a:p>
          <a:p>
            <a:r>
              <a:rPr lang="en-US" b="1" dirty="0"/>
              <a:t>2 Sample Space (S)</a:t>
            </a:r>
          </a:p>
          <a:p>
            <a:r>
              <a:rPr lang="en-US" dirty="0"/>
              <a:t>The sample space is the set of all possible outcomes of a random experiment.</a:t>
            </a:r>
          </a:p>
          <a:p>
            <a:r>
              <a:rPr lang="en-US" b="1" dirty="0"/>
              <a:t>Example:</a:t>
            </a:r>
            <a:br>
              <a:rPr lang="en-US" dirty="0"/>
            </a:br>
            <a:r>
              <a:rPr lang="en-US" dirty="0"/>
              <a:t>Rolling a die →</a:t>
            </a:r>
            <a:br>
              <a:rPr lang="en-US" dirty="0"/>
            </a:br>
            <a:r>
              <a:rPr lang="en-US" dirty="0"/>
              <a:t>S = {1, 2, 3, 4, 5, 6}</a:t>
            </a:r>
          </a:p>
          <a:p>
            <a:pPr>
              <a:buNone/>
            </a:pPr>
            <a:endParaRPr lang="en-US" dirty="0"/>
          </a:p>
        </p:txBody>
      </p:sp>
    </p:spTree>
    <p:extLst>
      <p:ext uri="{BB962C8B-B14F-4D97-AF65-F5344CB8AC3E}">
        <p14:creationId xmlns:p14="http://schemas.microsoft.com/office/powerpoint/2010/main" val="809078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6C318E14-80CB-1BEE-A593-55813701FB92}"/>
                  </a:ext>
                </a:extLst>
              </p:cNvPr>
              <p:cNvSpPr txBox="1"/>
              <p:nvPr/>
            </p:nvSpPr>
            <p:spPr>
              <a:xfrm>
                <a:off x="442450" y="294571"/>
                <a:ext cx="11287433" cy="3656001"/>
              </a:xfrm>
              <a:prstGeom prst="rect">
                <a:avLst/>
              </a:prstGeom>
              <a:noFill/>
            </p:spPr>
            <p:txBody>
              <a:bodyPr wrap="square">
                <a:spAutoFit/>
              </a:bodyPr>
              <a:lstStyle/>
              <a:p>
                <a:pPr>
                  <a:buNone/>
                </a:pPr>
                <a:r>
                  <a:rPr lang="en-US" b="1" dirty="0"/>
                  <a:t>3 Event</a:t>
                </a:r>
              </a:p>
              <a:p>
                <a:pPr>
                  <a:buNone/>
                </a:pPr>
                <a:r>
                  <a:rPr lang="en-US" dirty="0"/>
                  <a:t>An event is a subset of the sample space.</a:t>
                </a:r>
              </a:p>
              <a:p>
                <a:pPr>
                  <a:buNone/>
                </a:pPr>
                <a:r>
                  <a:rPr lang="en-US" b="1" dirty="0"/>
                  <a:t>Example:</a:t>
                </a:r>
                <a:br>
                  <a:rPr lang="en-US" dirty="0"/>
                </a:br>
                <a:r>
                  <a:rPr lang="en-US" dirty="0"/>
                  <a:t>Event A = getting an even number = {2, 4, 6}</a:t>
                </a:r>
              </a:p>
              <a:p>
                <a:pPr>
                  <a:buNone/>
                </a:pPr>
                <a:endParaRPr lang="en-US" dirty="0"/>
              </a:p>
              <a:p>
                <a:endParaRPr lang="en-IN" b="1" dirty="0"/>
              </a:p>
              <a:p>
                <a:r>
                  <a:rPr lang="en-IN" b="1" dirty="0"/>
                  <a:t>4 Probability of an Event</a:t>
                </a:r>
              </a:p>
              <a:p>
                <a:r>
                  <a:rPr lang="en-IN" dirty="0"/>
                  <a:t>The probability of an event is defined as:</a:t>
                </a:r>
              </a:p>
              <a:p>
                <a14:m>
                  <m:oMathPara xmlns:m="http://schemas.openxmlformats.org/officeDocument/2006/math">
                    <m:oMathParaPr>
                      <m:jc m:val="centerGroup"/>
                    </m:oMathParaPr>
                    <m:oMath xmlns:m="http://schemas.openxmlformats.org/officeDocument/2006/math">
                      <m:r>
                        <a:rPr lang="en-IN" i="1"/>
                        <m:t>𝑃</m:t>
                      </m:r>
                      <m:d>
                        <m:dPr>
                          <m:ctrlPr>
                            <a:rPr lang="ar-AE" i="1"/>
                          </m:ctrlPr>
                        </m:dPr>
                        <m:e>
                          <m:r>
                            <a:rPr lang="ar-AE" i="1"/>
                            <m:t>𝐴</m:t>
                          </m:r>
                        </m:e>
                      </m:d>
                      <m:r>
                        <a:rPr lang="ar-AE"/>
                        <m:t>=</m:t>
                      </m:r>
                      <m:f>
                        <m:fPr>
                          <m:ctrlPr>
                            <a:rPr lang="ar-AE" i="1"/>
                          </m:ctrlPr>
                        </m:fPr>
                        <m:num>
                          <m:r>
                            <m:rPr>
                              <m:nor/>
                            </m:rPr>
                            <a:rPr lang="en-IN" i="1"/>
                            <m:t>Number</m:t>
                          </m:r>
                          <m:r>
                            <m:rPr>
                              <m:nor/>
                            </m:rPr>
                            <a:rPr lang="en-IN" i="1"/>
                            <m:t> </m:t>
                          </m:r>
                          <m:r>
                            <m:rPr>
                              <m:nor/>
                            </m:rPr>
                            <a:rPr lang="en-IN" i="1"/>
                            <m:t>of</m:t>
                          </m:r>
                          <m:r>
                            <m:rPr>
                              <m:nor/>
                            </m:rPr>
                            <a:rPr lang="en-IN" i="1"/>
                            <m:t> </m:t>
                          </m:r>
                          <m:r>
                            <m:rPr>
                              <m:nor/>
                            </m:rPr>
                            <a:rPr lang="en-IN" i="1"/>
                            <m:t>favorable</m:t>
                          </m:r>
                          <m:r>
                            <m:rPr>
                              <m:nor/>
                            </m:rPr>
                            <a:rPr lang="en-IN" i="1"/>
                            <m:t> </m:t>
                          </m:r>
                          <m:r>
                            <m:rPr>
                              <m:nor/>
                            </m:rPr>
                            <a:rPr lang="en-IN" i="1"/>
                            <m:t>outcomes</m:t>
                          </m:r>
                        </m:num>
                        <m:den>
                          <m:r>
                            <m:rPr>
                              <m:nor/>
                            </m:rPr>
                            <a:rPr lang="en-IN" i="1"/>
                            <m:t>Total</m:t>
                          </m:r>
                          <m:r>
                            <m:rPr>
                              <m:nor/>
                            </m:rPr>
                            <a:rPr lang="en-IN" i="1"/>
                            <m:t> </m:t>
                          </m:r>
                          <m:r>
                            <m:rPr>
                              <m:nor/>
                            </m:rPr>
                            <a:rPr lang="en-IN" i="1"/>
                            <m:t>number</m:t>
                          </m:r>
                          <m:r>
                            <m:rPr>
                              <m:nor/>
                            </m:rPr>
                            <a:rPr lang="en-IN" i="1"/>
                            <m:t> </m:t>
                          </m:r>
                          <m:r>
                            <m:rPr>
                              <m:nor/>
                            </m:rPr>
                            <a:rPr lang="en-IN" i="1"/>
                            <m:t>of</m:t>
                          </m:r>
                          <m:r>
                            <m:rPr>
                              <m:nor/>
                            </m:rPr>
                            <a:rPr lang="en-IN" i="1"/>
                            <m:t> </m:t>
                          </m:r>
                          <m:r>
                            <m:rPr>
                              <m:nor/>
                            </m:rPr>
                            <a:rPr lang="en-IN" i="1"/>
                            <m:t>outcomes</m:t>
                          </m:r>
                        </m:den>
                      </m:f>
                    </m:oMath>
                  </m:oMathPara>
                </a14:m>
                <a:endParaRPr lang="ar-AE" b="0" dirty="0"/>
              </a:p>
              <a:p>
                <a:r>
                  <a:rPr lang="en-IN" b="1" dirty="0"/>
                  <a:t>Example:</a:t>
                </a:r>
                <a:br>
                  <a:rPr lang="en-IN" dirty="0"/>
                </a:br>
                <a:r>
                  <a:rPr lang="en-IN" dirty="0"/>
                  <a:t>Probability of getting a 6 on a fair die = 1/6</a:t>
                </a:r>
              </a:p>
              <a:p>
                <a:pPr>
                  <a:buNone/>
                </a:pPr>
                <a:endParaRPr lang="en-US" dirty="0"/>
              </a:p>
            </p:txBody>
          </p:sp>
        </mc:Choice>
        <mc:Fallback>
          <p:sp>
            <p:nvSpPr>
              <p:cNvPr id="3" name="TextBox 2">
                <a:extLst>
                  <a:ext uri="{FF2B5EF4-FFF2-40B4-BE49-F238E27FC236}">
                    <a16:creationId xmlns:a16="http://schemas.microsoft.com/office/drawing/2014/main" id="{6C318E14-80CB-1BEE-A593-55813701FB92}"/>
                  </a:ext>
                </a:extLst>
              </p:cNvPr>
              <p:cNvSpPr txBox="1">
                <a:spLocks noRot="1" noChangeAspect="1" noMove="1" noResize="1" noEditPoints="1" noAdjustHandles="1" noChangeArrowheads="1" noChangeShapeType="1" noTextEdit="1"/>
              </p:cNvSpPr>
              <p:nvPr/>
            </p:nvSpPr>
            <p:spPr>
              <a:xfrm>
                <a:off x="442450" y="294571"/>
                <a:ext cx="11287433" cy="3656001"/>
              </a:xfrm>
              <a:prstGeom prst="rect">
                <a:avLst/>
              </a:prstGeom>
              <a:blipFill>
                <a:blip r:embed="rId2"/>
                <a:stretch>
                  <a:fillRect l="-486" t="-667"/>
                </a:stretch>
              </a:blipFill>
            </p:spPr>
            <p:txBody>
              <a:bodyPr/>
              <a:lstStyle/>
              <a:p>
                <a:r>
                  <a:rPr lang="en-IN">
                    <a:noFill/>
                  </a:rPr>
                  <a:t> </a:t>
                </a:r>
              </a:p>
            </p:txBody>
          </p:sp>
        </mc:Fallback>
      </mc:AlternateContent>
    </p:spTree>
    <p:extLst>
      <p:ext uri="{BB962C8B-B14F-4D97-AF65-F5344CB8AC3E}">
        <p14:creationId xmlns:p14="http://schemas.microsoft.com/office/powerpoint/2010/main" val="3441026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9A7F217-592A-1A99-589B-122EF6245A8C}"/>
                  </a:ext>
                </a:extLst>
              </p:cNvPr>
              <p:cNvSpPr txBox="1"/>
              <p:nvPr/>
            </p:nvSpPr>
            <p:spPr>
              <a:xfrm>
                <a:off x="462117" y="362549"/>
                <a:ext cx="11316928" cy="5872570"/>
              </a:xfrm>
              <a:prstGeom prst="rect">
                <a:avLst/>
              </a:prstGeom>
              <a:noFill/>
            </p:spPr>
            <p:txBody>
              <a:bodyPr wrap="square">
                <a:spAutoFit/>
              </a:bodyPr>
              <a:lstStyle/>
              <a:p>
                <a:pPr>
                  <a:buNone/>
                </a:pPr>
                <a:r>
                  <a:rPr lang="en-US" b="1" dirty="0">
                    <a:solidFill>
                      <a:srgbClr val="FF0000"/>
                    </a:solidFill>
                  </a:rPr>
                  <a:t>Types of Probability</a:t>
                </a:r>
              </a:p>
              <a:p>
                <a:pPr>
                  <a:buNone/>
                </a:pPr>
                <a:endParaRPr lang="en-US" b="1" dirty="0"/>
              </a:p>
              <a:p>
                <a:pPr>
                  <a:buNone/>
                </a:pPr>
                <a:r>
                  <a:rPr lang="en-US" b="1" dirty="0"/>
                  <a:t>1 Classical Probability</a:t>
                </a:r>
              </a:p>
              <a:p>
                <a:pPr>
                  <a:buNone/>
                </a:pPr>
                <a:r>
                  <a:rPr lang="en-US" dirty="0"/>
                  <a:t>Used when all outcomes are equally likely.</a:t>
                </a:r>
              </a:p>
              <a:p>
                <a:pPr>
                  <a:buNone/>
                </a:pPr>
                <a:r>
                  <a:rPr lang="en-US" b="1" dirty="0"/>
                  <a:t>Example:</a:t>
                </a:r>
                <a:br>
                  <a:rPr lang="en-US" dirty="0"/>
                </a:br>
                <a:r>
                  <a:rPr lang="en-US" dirty="0"/>
                  <a:t>Probability of drawing a red card from a deck = 26/52 = ½</a:t>
                </a:r>
              </a:p>
              <a:p>
                <a:pPr>
                  <a:buNone/>
                </a:pPr>
                <a:endParaRPr lang="en-US" dirty="0"/>
              </a:p>
              <a:p>
                <a:r>
                  <a:rPr lang="en-IN" b="1" dirty="0"/>
                  <a:t>2 Empirical (Experimental) Probability</a:t>
                </a:r>
              </a:p>
              <a:p>
                <a:r>
                  <a:rPr lang="en-IN" dirty="0"/>
                  <a:t>Based on observed data or experiments.</a:t>
                </a:r>
              </a:p>
              <a:p>
                <a:r>
                  <a:rPr lang="en-IN" b="1" dirty="0"/>
                  <a:t>Formula:</a:t>
                </a:r>
                <a:endParaRPr lang="en-IN" dirty="0"/>
              </a:p>
              <a:p>
                <a14:m>
                  <m:oMathPara xmlns:m="http://schemas.openxmlformats.org/officeDocument/2006/math">
                    <m:oMathParaPr>
                      <m:jc m:val="centerGroup"/>
                    </m:oMathParaPr>
                    <m:oMath xmlns:m="http://schemas.openxmlformats.org/officeDocument/2006/math">
                      <m:r>
                        <a:rPr lang="en-IN" i="1"/>
                        <m:t>𝑃</m:t>
                      </m:r>
                      <m:d>
                        <m:dPr>
                          <m:ctrlPr>
                            <a:rPr lang="ar-AE" i="1"/>
                          </m:ctrlPr>
                        </m:dPr>
                        <m:e>
                          <m:r>
                            <a:rPr lang="ar-AE" i="1"/>
                            <m:t>𝐴</m:t>
                          </m:r>
                        </m:e>
                      </m:d>
                      <m:r>
                        <a:rPr lang="ar-AE"/>
                        <m:t>=</m:t>
                      </m:r>
                      <m:f>
                        <m:fPr>
                          <m:ctrlPr>
                            <a:rPr lang="ar-AE" i="1"/>
                          </m:ctrlPr>
                        </m:fPr>
                        <m:num>
                          <m:r>
                            <m:rPr>
                              <m:nor/>
                            </m:rPr>
                            <a:rPr lang="en-IN" i="1"/>
                            <m:t>Number</m:t>
                          </m:r>
                          <m:r>
                            <m:rPr>
                              <m:nor/>
                            </m:rPr>
                            <a:rPr lang="en-IN" i="1"/>
                            <m:t> </m:t>
                          </m:r>
                          <m:r>
                            <m:rPr>
                              <m:nor/>
                            </m:rPr>
                            <a:rPr lang="en-IN" i="1"/>
                            <m:t>of</m:t>
                          </m:r>
                          <m:r>
                            <m:rPr>
                              <m:nor/>
                            </m:rPr>
                            <a:rPr lang="en-IN" i="1"/>
                            <m:t> </m:t>
                          </m:r>
                          <m:r>
                            <m:rPr>
                              <m:nor/>
                            </m:rPr>
                            <a:rPr lang="en-IN" i="1"/>
                            <m:t>times</m:t>
                          </m:r>
                          <m:r>
                            <m:rPr>
                              <m:nor/>
                            </m:rPr>
                            <a:rPr lang="en-IN" i="1"/>
                            <m:t> </m:t>
                          </m:r>
                          <m:r>
                            <m:rPr>
                              <m:nor/>
                            </m:rPr>
                            <a:rPr lang="en-IN" i="1"/>
                            <m:t>event</m:t>
                          </m:r>
                          <m:r>
                            <m:rPr>
                              <m:nor/>
                            </m:rPr>
                            <a:rPr lang="en-IN" i="1"/>
                            <m:t> </m:t>
                          </m:r>
                          <m:r>
                            <m:rPr>
                              <m:nor/>
                            </m:rPr>
                            <a:rPr lang="en-IN" i="1"/>
                            <m:t>occurs</m:t>
                          </m:r>
                        </m:num>
                        <m:den>
                          <m:r>
                            <m:rPr>
                              <m:nor/>
                            </m:rPr>
                            <a:rPr lang="en-IN" i="1"/>
                            <m:t>Total</m:t>
                          </m:r>
                          <m:r>
                            <m:rPr>
                              <m:nor/>
                            </m:rPr>
                            <a:rPr lang="en-IN" i="1"/>
                            <m:t> </m:t>
                          </m:r>
                          <m:r>
                            <m:rPr>
                              <m:nor/>
                            </m:rPr>
                            <a:rPr lang="en-IN" i="1"/>
                            <m:t>trials</m:t>
                          </m:r>
                        </m:den>
                      </m:f>
                    </m:oMath>
                  </m:oMathPara>
                </a14:m>
                <a:endParaRPr lang="ar-AE" b="0" dirty="0"/>
              </a:p>
              <a:p>
                <a:r>
                  <a:rPr lang="en-IN" b="1" dirty="0"/>
                  <a:t>Example:</a:t>
                </a:r>
                <a:br>
                  <a:rPr lang="en-IN" dirty="0"/>
                </a:br>
                <a:r>
                  <a:rPr lang="en-IN" dirty="0"/>
                  <a:t>If a machine fails 5 times in 100 operations,</a:t>
                </a:r>
                <a:br>
                  <a:rPr lang="en-IN" dirty="0"/>
                </a:br>
                <a:r>
                  <a:rPr lang="en-IN" dirty="0"/>
                  <a:t>P(Failure) = 5/100 = 0.05</a:t>
                </a:r>
              </a:p>
              <a:p>
                <a:pPr>
                  <a:buNone/>
                </a:pPr>
                <a:endParaRPr lang="en-US" dirty="0"/>
              </a:p>
              <a:p>
                <a:r>
                  <a:rPr lang="en-US" b="1" dirty="0"/>
                  <a:t>3 Subjective Probability</a:t>
                </a:r>
              </a:p>
              <a:p>
                <a:r>
                  <a:rPr lang="en-US" dirty="0"/>
                  <a:t>Based on personal judgment or experience.</a:t>
                </a:r>
              </a:p>
              <a:p>
                <a:r>
                  <a:rPr lang="en-US" b="1" dirty="0"/>
                  <a:t>Example:</a:t>
                </a:r>
                <a:br>
                  <a:rPr lang="en-US" dirty="0"/>
                </a:br>
                <a:r>
                  <a:rPr lang="en-US" dirty="0"/>
                  <a:t>Predicting the chance of rain tomorrow based on weather knowledge.</a:t>
                </a:r>
              </a:p>
              <a:p>
                <a:pPr>
                  <a:buNone/>
                </a:pPr>
                <a:endParaRPr lang="en-US" dirty="0"/>
              </a:p>
            </p:txBody>
          </p:sp>
        </mc:Choice>
        <mc:Fallback>
          <p:sp>
            <p:nvSpPr>
              <p:cNvPr id="3" name="TextBox 2">
                <a:extLst>
                  <a:ext uri="{FF2B5EF4-FFF2-40B4-BE49-F238E27FC236}">
                    <a16:creationId xmlns:a16="http://schemas.microsoft.com/office/drawing/2014/main" id="{99A7F217-592A-1A99-589B-122EF6245A8C}"/>
                  </a:ext>
                </a:extLst>
              </p:cNvPr>
              <p:cNvSpPr txBox="1">
                <a:spLocks noRot="1" noChangeAspect="1" noMove="1" noResize="1" noEditPoints="1" noAdjustHandles="1" noChangeArrowheads="1" noChangeShapeType="1" noTextEdit="1"/>
              </p:cNvSpPr>
              <p:nvPr/>
            </p:nvSpPr>
            <p:spPr>
              <a:xfrm>
                <a:off x="462117" y="362549"/>
                <a:ext cx="11316928" cy="5872570"/>
              </a:xfrm>
              <a:prstGeom prst="rect">
                <a:avLst/>
              </a:prstGeom>
              <a:blipFill>
                <a:blip r:embed="rId2"/>
                <a:stretch>
                  <a:fillRect l="-485" t="-415"/>
                </a:stretch>
              </a:blipFill>
            </p:spPr>
            <p:txBody>
              <a:bodyPr/>
              <a:lstStyle/>
              <a:p>
                <a:r>
                  <a:rPr lang="en-IN">
                    <a:noFill/>
                  </a:rPr>
                  <a:t> </a:t>
                </a:r>
              </a:p>
            </p:txBody>
          </p:sp>
        </mc:Fallback>
      </mc:AlternateContent>
    </p:spTree>
    <p:extLst>
      <p:ext uri="{BB962C8B-B14F-4D97-AF65-F5344CB8AC3E}">
        <p14:creationId xmlns:p14="http://schemas.microsoft.com/office/powerpoint/2010/main" val="1891570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37D72B1F-5185-D49E-1FC3-C88DA30DED9D}"/>
                  </a:ext>
                </a:extLst>
              </p:cNvPr>
              <p:cNvSpPr txBox="1"/>
              <p:nvPr/>
            </p:nvSpPr>
            <p:spPr>
              <a:xfrm>
                <a:off x="304800" y="292028"/>
                <a:ext cx="11434916" cy="3970318"/>
              </a:xfrm>
              <a:prstGeom prst="rect">
                <a:avLst/>
              </a:prstGeom>
              <a:noFill/>
            </p:spPr>
            <p:txBody>
              <a:bodyPr wrap="square">
                <a:spAutoFit/>
              </a:bodyPr>
              <a:lstStyle/>
              <a:p>
                <a:pPr>
                  <a:buNone/>
                </a:pPr>
                <a:r>
                  <a:rPr lang="en-IN" b="1" dirty="0">
                    <a:solidFill>
                      <a:srgbClr val="FF0000"/>
                    </a:solidFill>
                  </a:rPr>
                  <a:t>Basic Probability Rules</a:t>
                </a:r>
              </a:p>
              <a:p>
                <a:pPr>
                  <a:buNone/>
                </a:pPr>
                <a:endParaRPr lang="en-IN" b="1" dirty="0"/>
              </a:p>
              <a:p>
                <a:pPr>
                  <a:buNone/>
                </a:pPr>
                <a:r>
                  <a:rPr lang="en-IN" b="1" dirty="0"/>
                  <a:t>1 Addition Rule</a:t>
                </a:r>
              </a:p>
              <a:p>
                <a:pPr>
                  <a:buNone/>
                </a:pPr>
                <a:r>
                  <a:rPr lang="en-IN" dirty="0"/>
                  <a:t>Used when finding the probability of occurrence of </a:t>
                </a:r>
                <a:r>
                  <a:rPr lang="en-IN" b="1" dirty="0"/>
                  <a:t>either</a:t>
                </a:r>
                <a:r>
                  <a:rPr lang="en-IN" dirty="0"/>
                  <a:t> of two events.</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𝐴</m:t>
                          </m:r>
                          <m:r>
                            <a:rPr lang="ar-AE" i="0">
                              <a:latin typeface="Cambria Math" panose="02040503050406030204" pitchFamily="18" charset="0"/>
                            </a:rPr>
                            <m:t>∪</m:t>
                          </m:r>
                          <m:r>
                            <a:rPr lang="ar-AE" i="1">
                              <a:latin typeface="Cambria Math" panose="02040503050406030204" pitchFamily="18" charset="0"/>
                            </a:rPr>
                            <m:t>𝐵</m:t>
                          </m:r>
                        </m:e>
                      </m:d>
                      <m:r>
                        <a:rPr lang="ar-AE" i="0">
                          <a:latin typeface="Cambria Math" panose="02040503050406030204" pitchFamily="18" charset="0"/>
                        </a:rPr>
                        <m:t>=</m:t>
                      </m:r>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𝐴</m:t>
                          </m:r>
                        </m:e>
                      </m:d>
                      <m:r>
                        <a:rPr lang="ar-AE" i="0">
                          <a:latin typeface="Cambria Math" panose="02040503050406030204" pitchFamily="18" charset="0"/>
                        </a:rPr>
                        <m:t>+</m:t>
                      </m:r>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𝐵</m:t>
                          </m:r>
                        </m:e>
                      </m:d>
                      <m:r>
                        <a:rPr lang="ar-AE" i="0">
                          <a:latin typeface="Cambria Math" panose="02040503050406030204" pitchFamily="18" charset="0"/>
                        </a:rPr>
                        <m:t>−</m:t>
                      </m:r>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𝐴</m:t>
                          </m:r>
                          <m:r>
                            <a:rPr lang="ar-AE" i="0">
                              <a:latin typeface="Cambria Math" panose="02040503050406030204" pitchFamily="18" charset="0"/>
                            </a:rPr>
                            <m:t>∩</m:t>
                          </m:r>
                          <m:r>
                            <a:rPr lang="ar-AE" i="1">
                              <a:latin typeface="Cambria Math" panose="02040503050406030204" pitchFamily="18" charset="0"/>
                            </a:rPr>
                            <m:t>𝐵</m:t>
                          </m:r>
                        </m:e>
                      </m:d>
                    </m:oMath>
                  </m:oMathPara>
                </a14:m>
                <a:endParaRPr lang="ar-AE" dirty="0"/>
              </a:p>
              <a:p>
                <a:pPr>
                  <a:buNone/>
                </a:pPr>
                <a:r>
                  <a:rPr lang="en-IN" dirty="0"/>
                  <a:t>If events are mutually exclusive:</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𝐴</m:t>
                          </m:r>
                          <m:r>
                            <a:rPr lang="ar-AE" i="0">
                              <a:latin typeface="Cambria Math" panose="02040503050406030204" pitchFamily="18" charset="0"/>
                            </a:rPr>
                            <m:t>∪</m:t>
                          </m:r>
                          <m:r>
                            <a:rPr lang="ar-AE" i="1">
                              <a:latin typeface="Cambria Math" panose="02040503050406030204" pitchFamily="18" charset="0"/>
                            </a:rPr>
                            <m:t>𝐵</m:t>
                          </m:r>
                        </m:e>
                      </m:d>
                      <m:r>
                        <a:rPr lang="ar-AE" i="0">
                          <a:latin typeface="Cambria Math" panose="02040503050406030204" pitchFamily="18" charset="0"/>
                        </a:rPr>
                        <m:t>=</m:t>
                      </m:r>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𝐴</m:t>
                          </m:r>
                        </m:e>
                      </m:d>
                      <m:r>
                        <a:rPr lang="ar-AE" i="0">
                          <a:latin typeface="Cambria Math" panose="02040503050406030204" pitchFamily="18" charset="0"/>
                        </a:rPr>
                        <m:t>+</m:t>
                      </m:r>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𝐵</m:t>
                          </m:r>
                        </m:e>
                      </m:d>
                    </m:oMath>
                  </m:oMathPara>
                </a14:m>
                <a:endParaRPr lang="en-US" dirty="0"/>
              </a:p>
              <a:p>
                <a:pPr>
                  <a:buNone/>
                </a:pPr>
                <a:endParaRPr lang="en-US" dirty="0"/>
              </a:p>
              <a:p>
                <a:r>
                  <a:rPr lang="en-IN" b="1" dirty="0"/>
                  <a:t>2 Multiplication Rule</a:t>
                </a:r>
              </a:p>
              <a:p>
                <a:r>
                  <a:rPr lang="en-IN" dirty="0"/>
                  <a:t>Used to find the probability of </a:t>
                </a:r>
                <a:r>
                  <a:rPr lang="en-IN" b="1" dirty="0"/>
                  <a:t>both events occurring</a:t>
                </a:r>
                <a:r>
                  <a:rPr lang="en-IN" dirty="0"/>
                  <a:t>.</a:t>
                </a:r>
              </a:p>
              <a:p>
                <a14:m>
                  <m:oMathPara xmlns:m="http://schemas.openxmlformats.org/officeDocument/2006/math">
                    <m:oMathParaPr>
                      <m:jc m:val="centerGroup"/>
                    </m:oMathParaPr>
                    <m:oMath xmlns:m="http://schemas.openxmlformats.org/officeDocument/2006/math">
                      <m:r>
                        <a:rPr lang="en-IN" i="1"/>
                        <m:t>𝑃</m:t>
                      </m:r>
                      <m:d>
                        <m:dPr>
                          <m:ctrlPr>
                            <a:rPr lang="ar-AE" i="1"/>
                          </m:ctrlPr>
                        </m:dPr>
                        <m:e>
                          <m:r>
                            <a:rPr lang="ar-AE" i="1"/>
                            <m:t>𝐴</m:t>
                          </m:r>
                          <m:r>
                            <a:rPr lang="ar-AE"/>
                            <m:t>∩</m:t>
                          </m:r>
                          <m:r>
                            <a:rPr lang="ar-AE" i="1"/>
                            <m:t>𝐵</m:t>
                          </m:r>
                        </m:e>
                      </m:d>
                      <m:r>
                        <a:rPr lang="ar-AE"/>
                        <m:t>=</m:t>
                      </m:r>
                      <m:r>
                        <a:rPr lang="ar-AE" i="1"/>
                        <m:t>𝑃</m:t>
                      </m:r>
                      <m:d>
                        <m:dPr>
                          <m:ctrlPr>
                            <a:rPr lang="ar-AE" i="1"/>
                          </m:ctrlPr>
                        </m:dPr>
                        <m:e>
                          <m:r>
                            <a:rPr lang="ar-AE" i="1"/>
                            <m:t>𝐴</m:t>
                          </m:r>
                        </m:e>
                      </m:d>
                      <m:r>
                        <a:rPr lang="ar-AE"/>
                        <m:t>×</m:t>
                      </m:r>
                      <m:r>
                        <a:rPr lang="ar-AE" i="1"/>
                        <m:t>𝑃</m:t>
                      </m:r>
                      <m:d>
                        <m:dPr>
                          <m:ctrlPr>
                            <a:rPr lang="ar-AE" i="1"/>
                          </m:ctrlPr>
                        </m:dPr>
                        <m:e>
                          <m:r>
                            <a:rPr lang="ar-AE" i="1"/>
                            <m:t>𝐵</m:t>
                          </m:r>
                          <m:r>
                            <a:rPr lang="ar-AE"/>
                            <m:t>∣</m:t>
                          </m:r>
                          <m:r>
                            <a:rPr lang="ar-AE" i="1"/>
                            <m:t>𝐴</m:t>
                          </m:r>
                        </m:e>
                      </m:d>
                    </m:oMath>
                  </m:oMathPara>
                </a14:m>
                <a:endParaRPr lang="ar-AE" dirty="0"/>
              </a:p>
              <a:p>
                <a:r>
                  <a:rPr lang="en-IN" dirty="0"/>
                  <a:t>If events are independent:</a:t>
                </a:r>
              </a:p>
              <a:p>
                <a14:m>
                  <m:oMathPara xmlns:m="http://schemas.openxmlformats.org/officeDocument/2006/math">
                    <m:oMathParaPr>
                      <m:jc m:val="centerGroup"/>
                    </m:oMathParaPr>
                    <m:oMath xmlns:m="http://schemas.openxmlformats.org/officeDocument/2006/math">
                      <m:r>
                        <a:rPr lang="en-IN" i="1"/>
                        <m:t>𝑃</m:t>
                      </m:r>
                      <m:d>
                        <m:dPr>
                          <m:ctrlPr>
                            <a:rPr lang="ar-AE" i="1"/>
                          </m:ctrlPr>
                        </m:dPr>
                        <m:e>
                          <m:r>
                            <a:rPr lang="ar-AE" i="1"/>
                            <m:t>𝐴</m:t>
                          </m:r>
                          <m:r>
                            <a:rPr lang="ar-AE"/>
                            <m:t>∩</m:t>
                          </m:r>
                          <m:r>
                            <a:rPr lang="ar-AE" i="1"/>
                            <m:t>𝐵</m:t>
                          </m:r>
                        </m:e>
                      </m:d>
                      <m:r>
                        <a:rPr lang="ar-AE"/>
                        <m:t>=</m:t>
                      </m:r>
                      <m:r>
                        <a:rPr lang="ar-AE" i="1"/>
                        <m:t>𝑃</m:t>
                      </m:r>
                      <m:d>
                        <m:dPr>
                          <m:ctrlPr>
                            <a:rPr lang="ar-AE" i="1"/>
                          </m:ctrlPr>
                        </m:dPr>
                        <m:e>
                          <m:r>
                            <a:rPr lang="ar-AE" i="1"/>
                            <m:t>𝐴</m:t>
                          </m:r>
                        </m:e>
                      </m:d>
                      <m:r>
                        <a:rPr lang="ar-AE"/>
                        <m:t>×</m:t>
                      </m:r>
                      <m:r>
                        <a:rPr lang="ar-AE" i="1"/>
                        <m:t>𝑃</m:t>
                      </m:r>
                      <m:d>
                        <m:dPr>
                          <m:ctrlPr>
                            <a:rPr lang="ar-AE" i="1"/>
                          </m:ctrlPr>
                        </m:dPr>
                        <m:e>
                          <m:r>
                            <a:rPr lang="ar-AE" i="1"/>
                            <m:t>𝐵</m:t>
                          </m:r>
                        </m:e>
                      </m:d>
                    </m:oMath>
                  </m:oMathPara>
                </a14:m>
                <a:endParaRPr lang="ar-AE" dirty="0"/>
              </a:p>
              <a:p>
                <a:pPr>
                  <a:buNone/>
                </a:pPr>
                <a:endParaRPr lang="ar-AE" dirty="0"/>
              </a:p>
            </p:txBody>
          </p:sp>
        </mc:Choice>
        <mc:Fallback>
          <p:sp>
            <p:nvSpPr>
              <p:cNvPr id="3" name="TextBox 2">
                <a:extLst>
                  <a:ext uri="{FF2B5EF4-FFF2-40B4-BE49-F238E27FC236}">
                    <a16:creationId xmlns:a16="http://schemas.microsoft.com/office/drawing/2014/main" id="{37D72B1F-5185-D49E-1FC3-C88DA30DED9D}"/>
                  </a:ext>
                </a:extLst>
              </p:cNvPr>
              <p:cNvSpPr txBox="1">
                <a:spLocks noRot="1" noChangeAspect="1" noMove="1" noResize="1" noEditPoints="1" noAdjustHandles="1" noChangeArrowheads="1" noChangeShapeType="1" noTextEdit="1"/>
              </p:cNvSpPr>
              <p:nvPr/>
            </p:nvSpPr>
            <p:spPr>
              <a:xfrm>
                <a:off x="304800" y="292028"/>
                <a:ext cx="11434916" cy="3970318"/>
              </a:xfrm>
              <a:prstGeom prst="rect">
                <a:avLst/>
              </a:prstGeom>
              <a:blipFill>
                <a:blip r:embed="rId2"/>
                <a:stretch>
                  <a:fillRect l="-426" t="-768"/>
                </a:stretch>
              </a:blipFill>
            </p:spPr>
            <p:txBody>
              <a:bodyPr/>
              <a:lstStyle/>
              <a:p>
                <a:r>
                  <a:rPr lang="en-IN">
                    <a:noFill/>
                  </a:rPr>
                  <a:t> </a:t>
                </a:r>
              </a:p>
            </p:txBody>
          </p:sp>
        </mc:Fallback>
      </mc:AlternateContent>
    </p:spTree>
    <p:extLst>
      <p:ext uri="{BB962C8B-B14F-4D97-AF65-F5344CB8AC3E}">
        <p14:creationId xmlns:p14="http://schemas.microsoft.com/office/powerpoint/2010/main" val="345341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5414017B-C06F-8CCE-7C65-C28173C2872B}"/>
                  </a:ext>
                </a:extLst>
              </p:cNvPr>
              <p:cNvSpPr txBox="1"/>
              <p:nvPr/>
            </p:nvSpPr>
            <p:spPr>
              <a:xfrm>
                <a:off x="432618" y="378121"/>
                <a:ext cx="11307097" cy="5400837"/>
              </a:xfrm>
              <a:prstGeom prst="rect">
                <a:avLst/>
              </a:prstGeom>
              <a:noFill/>
            </p:spPr>
            <p:txBody>
              <a:bodyPr wrap="square">
                <a:spAutoFit/>
              </a:bodyPr>
              <a:lstStyle/>
              <a:p>
                <a:pPr>
                  <a:buNone/>
                </a:pPr>
                <a:r>
                  <a:rPr lang="en-IN" b="1" dirty="0">
                    <a:solidFill>
                      <a:srgbClr val="FF0000"/>
                    </a:solidFill>
                  </a:rPr>
                  <a:t>Conditional Probability</a:t>
                </a:r>
              </a:p>
              <a:p>
                <a:pPr>
                  <a:buNone/>
                </a:pPr>
                <a:r>
                  <a:rPr lang="en-IN" dirty="0"/>
                  <a:t>Conditional probability is the probability of an event occurring given that another event has already occurred.</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𝐴</m:t>
                          </m:r>
                          <m:r>
                            <a:rPr lang="ar-AE" i="0">
                              <a:latin typeface="Cambria Math" panose="02040503050406030204" pitchFamily="18" charset="0"/>
                            </a:rPr>
                            <m:t>∣</m:t>
                          </m:r>
                          <m:r>
                            <a:rPr lang="ar-AE" i="1">
                              <a:latin typeface="Cambria Math" panose="02040503050406030204" pitchFamily="18" charset="0"/>
                            </a:rPr>
                            <m:t>𝐵</m:t>
                          </m:r>
                        </m:e>
                      </m:d>
                      <m:r>
                        <a:rPr lang="ar-AE" i="0">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𝐴</m:t>
                              </m:r>
                              <m:r>
                                <a:rPr lang="ar-AE" i="0">
                                  <a:latin typeface="Cambria Math" panose="02040503050406030204" pitchFamily="18" charset="0"/>
                                </a:rPr>
                                <m:t>∩</m:t>
                              </m:r>
                              <m:r>
                                <a:rPr lang="ar-AE" i="1">
                                  <a:latin typeface="Cambria Math" panose="02040503050406030204" pitchFamily="18" charset="0"/>
                                </a:rPr>
                                <m:t>𝐵</m:t>
                              </m:r>
                            </m:e>
                          </m:d>
                        </m:num>
                        <m:den>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𝐵</m:t>
                              </m:r>
                            </m:e>
                          </m:d>
                        </m:den>
                      </m:f>
                    </m:oMath>
                  </m:oMathPara>
                </a14:m>
                <a:endParaRPr lang="ar-AE" dirty="0"/>
              </a:p>
              <a:p>
                <a:pPr>
                  <a:buNone/>
                </a:pPr>
                <a:r>
                  <a:rPr lang="en-IN" b="1" dirty="0"/>
                  <a:t>Example</a:t>
                </a:r>
              </a:p>
              <a:p>
                <a:pPr>
                  <a:buNone/>
                </a:pPr>
                <a:r>
                  <a:rPr lang="en-IN" dirty="0"/>
                  <a:t>Probability that a customer buys a product given that they clicked on an ad.</a:t>
                </a:r>
              </a:p>
              <a:p>
                <a:pPr>
                  <a:buNone/>
                </a:pPr>
                <a:endParaRPr lang="en-IN" dirty="0"/>
              </a:p>
              <a:p>
                <a:r>
                  <a:rPr lang="en-IN" b="1" dirty="0">
                    <a:solidFill>
                      <a:srgbClr val="FF0000"/>
                    </a:solidFill>
                  </a:rPr>
                  <a:t>Bayes’ Theorem</a:t>
                </a:r>
              </a:p>
              <a:p>
                <a:r>
                  <a:rPr lang="en-IN" dirty="0"/>
                  <a:t>Bayes’ theorem helps update the probability of an event based on new evidence.</a:t>
                </a:r>
              </a:p>
              <a:p>
                <a14:m>
                  <m:oMathPara xmlns:m="http://schemas.openxmlformats.org/officeDocument/2006/math">
                    <m:oMathParaPr>
                      <m:jc m:val="centerGroup"/>
                    </m:oMathParaPr>
                    <m:oMath xmlns:m="http://schemas.openxmlformats.org/officeDocument/2006/math">
                      <m:r>
                        <a:rPr lang="en-IN" i="1"/>
                        <m:t>𝑃</m:t>
                      </m:r>
                      <m:d>
                        <m:dPr>
                          <m:ctrlPr>
                            <a:rPr lang="ar-AE" i="1"/>
                          </m:ctrlPr>
                        </m:dPr>
                        <m:e>
                          <m:r>
                            <a:rPr lang="ar-AE" i="1"/>
                            <m:t>𝐴</m:t>
                          </m:r>
                          <m:r>
                            <a:rPr lang="ar-AE"/>
                            <m:t>∣</m:t>
                          </m:r>
                          <m:r>
                            <a:rPr lang="ar-AE" i="1"/>
                            <m:t>𝐵</m:t>
                          </m:r>
                        </m:e>
                      </m:d>
                      <m:r>
                        <a:rPr lang="ar-AE"/>
                        <m:t>=</m:t>
                      </m:r>
                      <m:f>
                        <m:fPr>
                          <m:ctrlPr>
                            <a:rPr lang="ar-AE" i="1"/>
                          </m:ctrlPr>
                        </m:fPr>
                        <m:num>
                          <m:r>
                            <a:rPr lang="ar-AE" i="1"/>
                            <m:t>𝑃</m:t>
                          </m:r>
                          <m:d>
                            <m:dPr>
                              <m:ctrlPr>
                                <a:rPr lang="ar-AE" i="1"/>
                              </m:ctrlPr>
                            </m:dPr>
                            <m:e>
                              <m:r>
                                <a:rPr lang="ar-AE" i="1"/>
                                <m:t>𝐵</m:t>
                              </m:r>
                              <m:r>
                                <a:rPr lang="ar-AE"/>
                                <m:t>∣</m:t>
                              </m:r>
                              <m:r>
                                <a:rPr lang="ar-AE" i="1"/>
                                <m:t>𝐴</m:t>
                              </m:r>
                            </m:e>
                          </m:d>
                          <m:r>
                            <a:rPr lang="ar-AE"/>
                            <m:t>⋅</m:t>
                          </m:r>
                          <m:r>
                            <a:rPr lang="ar-AE" i="1"/>
                            <m:t>𝑃</m:t>
                          </m:r>
                          <m:d>
                            <m:dPr>
                              <m:ctrlPr>
                                <a:rPr lang="ar-AE" i="1"/>
                              </m:ctrlPr>
                            </m:dPr>
                            <m:e>
                              <m:r>
                                <a:rPr lang="ar-AE" i="1"/>
                                <m:t>𝐴</m:t>
                              </m:r>
                            </m:e>
                          </m:d>
                        </m:num>
                        <m:den>
                          <m:r>
                            <a:rPr lang="ar-AE" i="1"/>
                            <m:t>𝑃</m:t>
                          </m:r>
                          <m:d>
                            <m:dPr>
                              <m:ctrlPr>
                                <a:rPr lang="ar-AE" i="1"/>
                              </m:ctrlPr>
                            </m:dPr>
                            <m:e>
                              <m:r>
                                <a:rPr lang="ar-AE" i="1"/>
                                <m:t>𝐵</m:t>
                              </m:r>
                            </m:e>
                          </m:d>
                        </m:den>
                      </m:f>
                    </m:oMath>
                  </m:oMathPara>
                </a14:m>
                <a:endParaRPr lang="ar-AE" dirty="0"/>
              </a:p>
              <a:p>
                <a:r>
                  <a:rPr lang="en-IN" b="1" dirty="0"/>
                  <a:t>Importance in Data Science</a:t>
                </a:r>
              </a:p>
              <a:p>
                <a:r>
                  <a:rPr lang="en-IN" dirty="0"/>
                  <a:t>Spam detection</a:t>
                </a:r>
              </a:p>
              <a:p>
                <a:r>
                  <a:rPr lang="en-IN" dirty="0"/>
                  <a:t>Medical diagnosis</a:t>
                </a:r>
              </a:p>
              <a:p>
                <a:r>
                  <a:rPr lang="en-IN" dirty="0"/>
                  <a:t>Fraud detection</a:t>
                </a:r>
              </a:p>
              <a:p>
                <a:r>
                  <a:rPr lang="en-IN" dirty="0"/>
                  <a:t>Recommendation systems</a:t>
                </a:r>
              </a:p>
              <a:p>
                <a:r>
                  <a:rPr lang="en-IN" b="1" dirty="0"/>
                  <a:t>Example</a:t>
                </a:r>
              </a:p>
              <a:p>
                <a:r>
                  <a:rPr lang="en-IN" dirty="0"/>
                  <a:t>Probability that an email is spam given that it contains certain keywords.</a:t>
                </a:r>
              </a:p>
              <a:p>
                <a:pPr>
                  <a:buNone/>
                </a:pPr>
                <a:endParaRPr lang="en-IN" dirty="0"/>
              </a:p>
            </p:txBody>
          </p:sp>
        </mc:Choice>
        <mc:Fallback>
          <p:sp>
            <p:nvSpPr>
              <p:cNvPr id="3" name="TextBox 2">
                <a:extLst>
                  <a:ext uri="{FF2B5EF4-FFF2-40B4-BE49-F238E27FC236}">
                    <a16:creationId xmlns:a16="http://schemas.microsoft.com/office/drawing/2014/main" id="{5414017B-C06F-8CCE-7C65-C28173C2872B}"/>
                  </a:ext>
                </a:extLst>
              </p:cNvPr>
              <p:cNvSpPr txBox="1">
                <a:spLocks noRot="1" noChangeAspect="1" noMove="1" noResize="1" noEditPoints="1" noAdjustHandles="1" noChangeArrowheads="1" noChangeShapeType="1" noTextEdit="1"/>
              </p:cNvSpPr>
              <p:nvPr/>
            </p:nvSpPr>
            <p:spPr>
              <a:xfrm>
                <a:off x="432618" y="378121"/>
                <a:ext cx="11307097" cy="5400837"/>
              </a:xfrm>
              <a:prstGeom prst="rect">
                <a:avLst/>
              </a:prstGeom>
              <a:blipFill>
                <a:blip r:embed="rId2"/>
                <a:stretch>
                  <a:fillRect l="-485" t="-451"/>
                </a:stretch>
              </a:blipFill>
            </p:spPr>
            <p:txBody>
              <a:bodyPr/>
              <a:lstStyle/>
              <a:p>
                <a:r>
                  <a:rPr lang="en-IN">
                    <a:noFill/>
                  </a:rPr>
                  <a:t> </a:t>
                </a:r>
              </a:p>
            </p:txBody>
          </p:sp>
        </mc:Fallback>
      </mc:AlternateContent>
    </p:spTree>
    <p:extLst>
      <p:ext uri="{BB962C8B-B14F-4D97-AF65-F5344CB8AC3E}">
        <p14:creationId xmlns:p14="http://schemas.microsoft.com/office/powerpoint/2010/main" val="1697616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3ABED7-EB4C-5EA0-34E8-B964FCBB6D75}"/>
              </a:ext>
            </a:extLst>
          </p:cNvPr>
          <p:cNvSpPr txBox="1"/>
          <p:nvPr/>
        </p:nvSpPr>
        <p:spPr>
          <a:xfrm>
            <a:off x="471948" y="378823"/>
            <a:ext cx="11248103" cy="2031325"/>
          </a:xfrm>
          <a:prstGeom prst="rect">
            <a:avLst/>
          </a:prstGeom>
          <a:noFill/>
        </p:spPr>
        <p:txBody>
          <a:bodyPr wrap="square">
            <a:spAutoFit/>
          </a:bodyPr>
          <a:lstStyle/>
          <a:p>
            <a:pPr>
              <a:buNone/>
            </a:pPr>
            <a:r>
              <a:rPr lang="en-IN" b="1" dirty="0">
                <a:solidFill>
                  <a:srgbClr val="FF0000"/>
                </a:solidFill>
              </a:rPr>
              <a:t>Random Variables</a:t>
            </a:r>
          </a:p>
          <a:p>
            <a:pPr>
              <a:buNone/>
            </a:pPr>
            <a:r>
              <a:rPr lang="en-IN" dirty="0"/>
              <a:t>A random variable assigns a numerical value to the outcome of a random experiment.</a:t>
            </a:r>
          </a:p>
          <a:p>
            <a:pPr>
              <a:buNone/>
            </a:pPr>
            <a:r>
              <a:rPr lang="en-IN" b="1" dirty="0"/>
              <a:t>Types</a:t>
            </a:r>
          </a:p>
          <a:p>
            <a:pPr>
              <a:buFont typeface="+mj-lt"/>
              <a:buAutoNum type="arabicPeriod"/>
            </a:pPr>
            <a:r>
              <a:rPr lang="en-IN" b="1" dirty="0"/>
              <a:t>Discrete Random Variable</a:t>
            </a:r>
            <a:r>
              <a:rPr lang="en-IN" dirty="0"/>
              <a:t> – Takes finite or countable values</a:t>
            </a:r>
            <a:br>
              <a:rPr lang="en-IN" dirty="0"/>
            </a:br>
            <a:r>
              <a:rPr lang="en-IN" dirty="0"/>
              <a:t>(e.g., number of defective items)</a:t>
            </a:r>
          </a:p>
          <a:p>
            <a:pPr>
              <a:buFont typeface="+mj-lt"/>
              <a:buAutoNum type="arabicPeriod"/>
            </a:pPr>
            <a:r>
              <a:rPr lang="en-IN" b="1" dirty="0"/>
              <a:t>Continuous Random Variable</a:t>
            </a:r>
            <a:r>
              <a:rPr lang="en-IN" dirty="0"/>
              <a:t> – Takes values in a range</a:t>
            </a:r>
            <a:br>
              <a:rPr lang="en-IN" dirty="0"/>
            </a:br>
            <a:r>
              <a:rPr lang="en-IN" dirty="0"/>
              <a:t>(e.g., height, temperature)</a:t>
            </a:r>
          </a:p>
        </p:txBody>
      </p:sp>
    </p:spTree>
    <p:extLst>
      <p:ext uri="{BB962C8B-B14F-4D97-AF65-F5344CB8AC3E}">
        <p14:creationId xmlns:p14="http://schemas.microsoft.com/office/powerpoint/2010/main" val="3030846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93AAD66-C958-D76C-BF09-A6DFEB25664E}"/>
                  </a:ext>
                </a:extLst>
              </p:cNvPr>
              <p:cNvSpPr txBox="1"/>
              <p:nvPr/>
            </p:nvSpPr>
            <p:spPr>
              <a:xfrm>
                <a:off x="353962" y="353863"/>
                <a:ext cx="11375922" cy="6122125"/>
              </a:xfrm>
              <a:prstGeom prst="rect">
                <a:avLst/>
              </a:prstGeom>
              <a:noFill/>
            </p:spPr>
            <p:txBody>
              <a:bodyPr wrap="square">
                <a:spAutoFit/>
              </a:bodyPr>
              <a:lstStyle/>
              <a:p>
                <a:pPr>
                  <a:buNone/>
                </a:pPr>
                <a:r>
                  <a:rPr lang="en-IN" b="1" dirty="0">
                    <a:solidFill>
                      <a:srgbClr val="FF0000"/>
                    </a:solidFill>
                  </a:rPr>
                  <a:t>Probability Distributions</a:t>
                </a:r>
              </a:p>
              <a:p>
                <a:pPr>
                  <a:buNone/>
                </a:pPr>
                <a:r>
                  <a:rPr lang="en-IN" b="1" dirty="0"/>
                  <a:t>1 Discrete Probability Distributions</a:t>
                </a:r>
              </a:p>
              <a:p>
                <a:pPr>
                  <a:buNone/>
                </a:pPr>
                <a:r>
                  <a:rPr lang="en-IN" b="1" dirty="0"/>
                  <a:t>a) Bernoulli Distribution</a:t>
                </a:r>
              </a:p>
              <a:p>
                <a:pPr>
                  <a:buFont typeface="Arial" panose="020B0604020202020204" pitchFamily="34" charset="0"/>
                  <a:buChar char="•"/>
                </a:pPr>
                <a:r>
                  <a:rPr lang="en-IN" dirty="0"/>
                  <a:t>Two possible outcomes: success or failure</a:t>
                </a:r>
              </a:p>
              <a:p>
                <a:pPr>
                  <a:buFont typeface="Arial" panose="020B0604020202020204" pitchFamily="34" charset="0"/>
                  <a:buChar char="•"/>
                </a:pPr>
                <a:r>
                  <a:rPr lang="en-IN" dirty="0"/>
                  <a:t>Example: Tossing a coin</a:t>
                </a:r>
              </a:p>
              <a:p>
                <a:pPr>
                  <a:buNone/>
                </a:pPr>
                <a:r>
                  <a:rPr lang="en-IN" b="1" dirty="0"/>
                  <a:t>b) Binomial Distribution</a:t>
                </a:r>
              </a:p>
              <a:p>
                <a:pPr>
                  <a:buFont typeface="Arial" panose="020B0604020202020204" pitchFamily="34" charset="0"/>
                  <a:buChar char="•"/>
                </a:pPr>
                <a:r>
                  <a:rPr lang="en-IN" dirty="0"/>
                  <a:t>Number of successes in n independent trials</a:t>
                </a:r>
              </a:p>
              <a:p>
                <a:pPr>
                  <a:buFont typeface="Arial" panose="020B0604020202020204" pitchFamily="34" charset="0"/>
                  <a:buChar char="•"/>
                </a:pPr>
                <a:r>
                  <a:rPr lang="en-IN" dirty="0"/>
                  <a:t>Used in quality control and surveys</a:t>
                </a:r>
              </a:p>
              <a:p>
                <a:pPr>
                  <a:buNone/>
                </a:pPr>
                <a:r>
                  <a:rPr lang="en-IN" b="1" dirty="0"/>
                  <a:t>Formula:</a:t>
                </a:r>
                <a:endParaRPr lang="en-IN" dirty="0"/>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𝑋</m:t>
                          </m:r>
                          <m:r>
                            <a:rPr lang="ar-AE" i="0">
                              <a:latin typeface="Cambria Math" panose="02040503050406030204" pitchFamily="18" charset="0"/>
                            </a:rPr>
                            <m:t>=</m:t>
                          </m:r>
                          <m:r>
                            <a:rPr lang="ar-AE" i="1">
                              <a:latin typeface="Cambria Math" panose="02040503050406030204" pitchFamily="18" charset="0"/>
                            </a:rPr>
                            <m:t>𝑘</m:t>
                          </m:r>
                        </m:e>
                      </m:d>
                      <m:r>
                        <a:rPr lang="ar-AE" i="0">
                          <a:latin typeface="Cambria Math" panose="02040503050406030204" pitchFamily="18" charset="0"/>
                        </a:rPr>
                        <m:t>=</m:t>
                      </m:r>
                      <m:d>
                        <m:dPr>
                          <m:ctrlPr>
                            <a:rPr lang="ar-AE" i="1">
                              <a:latin typeface="Cambria Math" panose="02040503050406030204" pitchFamily="18" charset="0"/>
                            </a:rPr>
                          </m:ctrlPr>
                        </m:dPr>
                        <m:e>
                          <m:f>
                            <m:fPr>
                              <m:type m:val="noBar"/>
                              <m:ctrlPr>
                                <a:rPr lang="ar-AE" i="1">
                                  <a:latin typeface="Cambria Math" panose="02040503050406030204" pitchFamily="18" charset="0"/>
                                </a:rPr>
                              </m:ctrlPr>
                            </m:fPr>
                            <m:num>
                              <m:r>
                                <a:rPr lang="ar-AE" i="1">
                                  <a:latin typeface="Cambria Math" panose="02040503050406030204" pitchFamily="18" charset="0"/>
                                </a:rPr>
                                <m:t>𝑛</m:t>
                              </m:r>
                            </m:num>
                            <m:den>
                              <m:r>
                                <a:rPr lang="ar-AE" i="1">
                                  <a:latin typeface="Cambria Math" panose="02040503050406030204" pitchFamily="18" charset="0"/>
                                </a:rPr>
                                <m:t>𝑘</m:t>
                              </m:r>
                            </m:den>
                          </m:f>
                        </m:e>
                      </m:d>
                      <m:sSup>
                        <m:sSupPr>
                          <m:ctrlPr>
                            <a:rPr lang="ar-AE" i="1">
                              <a:latin typeface="Cambria Math" panose="02040503050406030204" pitchFamily="18" charset="0"/>
                            </a:rPr>
                          </m:ctrlPr>
                        </m:sSupPr>
                        <m:e>
                          <m:r>
                            <a:rPr lang="ar-AE" i="1">
                              <a:latin typeface="Cambria Math" panose="02040503050406030204" pitchFamily="18" charset="0"/>
                            </a:rPr>
                            <m:t>𝑝</m:t>
                          </m:r>
                        </m:e>
                        <m:sup>
                          <m:r>
                            <a:rPr lang="ar-AE" i="1">
                              <a:latin typeface="Cambria Math" panose="02040503050406030204" pitchFamily="18" charset="0"/>
                            </a:rPr>
                            <m:t>𝑘</m:t>
                          </m:r>
                        </m:sup>
                      </m:sSup>
                      <m:d>
                        <m:dPr>
                          <m:endChr m:val=""/>
                          <m:ctrlPr>
                            <a:rPr lang="ar-AE" i="1">
                              <a:latin typeface="Cambria Math" panose="02040503050406030204" pitchFamily="18" charset="0"/>
                            </a:rPr>
                          </m:ctrlPr>
                        </m:dPr>
                        <m:e>
                          <m:r>
                            <a:rPr lang="ar-AE" i="0">
                              <a:latin typeface="Cambria Math" panose="02040503050406030204" pitchFamily="18" charset="0"/>
                            </a:rPr>
                            <m:t>1</m:t>
                          </m:r>
                          <m:r>
                            <a:rPr lang="ar-AE" i="0">
                              <a:latin typeface="Cambria Math" panose="02040503050406030204" pitchFamily="18" charset="0"/>
                            </a:rPr>
                            <m:t>−</m:t>
                          </m:r>
                          <m:r>
                            <a:rPr lang="ar-AE" i="1">
                              <a:latin typeface="Cambria Math" panose="02040503050406030204" pitchFamily="18" charset="0"/>
                            </a:rPr>
                            <m:t>𝑝</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i="0">
                                      <a:latin typeface="Cambria Math" panose="02040503050406030204" pitchFamily="18" charset="0"/>
                                    </a:rPr>
                                    <m:t>)</m:t>
                                  </m:r>
                                </m:e>
                              </m:d>
                            </m:e>
                            <m:sup>
                              <m:r>
                                <a:rPr lang="ar-AE" i="1">
                                  <a:latin typeface="Cambria Math" panose="02040503050406030204" pitchFamily="18" charset="0"/>
                                </a:rPr>
                                <m:t>𝑛</m:t>
                              </m:r>
                              <m:r>
                                <a:rPr lang="ar-AE" i="0">
                                  <a:latin typeface="Cambria Math" panose="02040503050406030204" pitchFamily="18" charset="0"/>
                                </a:rPr>
                                <m:t>−</m:t>
                              </m:r>
                              <m:r>
                                <a:rPr lang="ar-AE" i="1">
                                  <a:latin typeface="Cambria Math" panose="02040503050406030204" pitchFamily="18" charset="0"/>
                                </a:rPr>
                                <m:t>𝑘</m:t>
                              </m:r>
                            </m:sup>
                          </m:sSup>
                        </m:e>
                      </m:d>
                    </m:oMath>
                  </m:oMathPara>
                </a14:m>
                <a:endParaRPr lang="en-US" dirty="0"/>
              </a:p>
              <a:p>
                <a:pPr>
                  <a:buNone/>
                </a:pPr>
                <a:endParaRPr lang="en-US" dirty="0"/>
              </a:p>
              <a:p>
                <a:r>
                  <a:rPr lang="en-US" b="1" dirty="0"/>
                  <a:t>2 Continuous Probability Distributions</a:t>
                </a:r>
              </a:p>
              <a:p>
                <a:r>
                  <a:rPr lang="en-US" b="1" dirty="0"/>
                  <a:t>a) Normal Distribution</a:t>
                </a:r>
              </a:p>
              <a:p>
                <a:r>
                  <a:rPr lang="en-US" dirty="0"/>
                  <a:t>Bell-shaped curve</a:t>
                </a:r>
              </a:p>
              <a:p>
                <a:r>
                  <a:rPr lang="en-US" dirty="0"/>
                  <a:t>Defined by mean (μ) and standard deviation (σ)</a:t>
                </a:r>
              </a:p>
              <a:p>
                <a:r>
                  <a:rPr lang="en-US" b="1" dirty="0"/>
                  <a:t>Applications:</a:t>
                </a:r>
                <a:endParaRPr lang="en-US" dirty="0"/>
              </a:p>
              <a:p>
                <a:r>
                  <a:rPr lang="en-US" dirty="0"/>
                  <a:t>Height, test scores, measurement errors</a:t>
                </a:r>
              </a:p>
              <a:p>
                <a:r>
                  <a:rPr lang="en-US" b="1" dirty="0"/>
                  <a:t>b) Exponential Distribution</a:t>
                </a:r>
              </a:p>
              <a:p>
                <a:r>
                  <a:rPr lang="en-US" dirty="0"/>
                  <a:t>Models time between events</a:t>
                </a:r>
              </a:p>
              <a:p>
                <a:r>
                  <a:rPr lang="en-US" dirty="0"/>
                  <a:t>Used in reliability and queuing systems</a:t>
                </a:r>
              </a:p>
              <a:p>
                <a:pPr>
                  <a:buNone/>
                </a:pPr>
                <a:endParaRPr lang="ar-AE" dirty="0"/>
              </a:p>
            </p:txBody>
          </p:sp>
        </mc:Choice>
        <mc:Fallback>
          <p:sp>
            <p:nvSpPr>
              <p:cNvPr id="3" name="TextBox 2">
                <a:extLst>
                  <a:ext uri="{FF2B5EF4-FFF2-40B4-BE49-F238E27FC236}">
                    <a16:creationId xmlns:a16="http://schemas.microsoft.com/office/drawing/2014/main" id="{793AAD66-C958-D76C-BF09-A6DFEB25664E}"/>
                  </a:ext>
                </a:extLst>
              </p:cNvPr>
              <p:cNvSpPr txBox="1">
                <a:spLocks noRot="1" noChangeAspect="1" noMove="1" noResize="1" noEditPoints="1" noAdjustHandles="1" noChangeArrowheads="1" noChangeShapeType="1" noTextEdit="1"/>
              </p:cNvSpPr>
              <p:nvPr/>
            </p:nvSpPr>
            <p:spPr>
              <a:xfrm>
                <a:off x="353962" y="353863"/>
                <a:ext cx="11375922" cy="6122125"/>
              </a:xfrm>
              <a:prstGeom prst="rect">
                <a:avLst/>
              </a:prstGeom>
              <a:blipFill>
                <a:blip r:embed="rId2"/>
                <a:stretch>
                  <a:fillRect l="-429" t="-398"/>
                </a:stretch>
              </a:blipFill>
            </p:spPr>
            <p:txBody>
              <a:bodyPr/>
              <a:lstStyle/>
              <a:p>
                <a:r>
                  <a:rPr lang="en-IN">
                    <a:noFill/>
                  </a:rPr>
                  <a:t> </a:t>
                </a:r>
              </a:p>
            </p:txBody>
          </p:sp>
        </mc:Fallback>
      </mc:AlternateContent>
    </p:spTree>
    <p:extLst>
      <p:ext uri="{BB962C8B-B14F-4D97-AF65-F5344CB8AC3E}">
        <p14:creationId xmlns:p14="http://schemas.microsoft.com/office/powerpoint/2010/main" val="2753156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81D97AB-F8A0-CC76-87E9-05AE7D1E4F4B}"/>
                  </a:ext>
                </a:extLst>
              </p:cNvPr>
              <p:cNvSpPr txBox="1"/>
              <p:nvPr/>
            </p:nvSpPr>
            <p:spPr>
              <a:xfrm>
                <a:off x="422786" y="343604"/>
                <a:ext cx="11326761" cy="4470391"/>
              </a:xfrm>
              <a:prstGeom prst="rect">
                <a:avLst/>
              </a:prstGeom>
              <a:noFill/>
            </p:spPr>
            <p:txBody>
              <a:bodyPr wrap="square">
                <a:spAutoFit/>
              </a:bodyPr>
              <a:lstStyle/>
              <a:p>
                <a:pPr>
                  <a:buNone/>
                </a:pPr>
                <a:r>
                  <a:rPr lang="en-IN" b="1" dirty="0">
                    <a:solidFill>
                      <a:srgbClr val="FF0000"/>
                    </a:solidFill>
                  </a:rPr>
                  <a:t>Expectation and Variance</a:t>
                </a:r>
              </a:p>
              <a:p>
                <a:pPr>
                  <a:buNone/>
                </a:pPr>
                <a:r>
                  <a:rPr lang="en-IN" b="1" dirty="0"/>
                  <a:t>Expected Value (Mean)</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𝐸</m:t>
                      </m:r>
                      <m:d>
                        <m:dPr>
                          <m:ctrlPr>
                            <a:rPr lang="ar-AE" i="1">
                              <a:latin typeface="Cambria Math" panose="02040503050406030204" pitchFamily="18" charset="0"/>
                            </a:rPr>
                          </m:ctrlPr>
                        </m:dPr>
                        <m:e>
                          <m:r>
                            <a:rPr lang="ar-AE" i="1">
                              <a:latin typeface="Cambria Math" panose="02040503050406030204" pitchFamily="18" charset="0"/>
                            </a:rPr>
                            <m:t>𝑋</m:t>
                          </m:r>
                        </m:e>
                      </m:d>
                      <m:r>
                        <a:rPr lang="ar-AE" i="0">
                          <a:latin typeface="Cambria Math" panose="02040503050406030204" pitchFamily="18" charset="0"/>
                        </a:rPr>
                        <m:t>=</m:t>
                      </m:r>
                      <m:nary>
                        <m:naryPr>
                          <m:chr m:val="∑"/>
                          <m:grow m:val="on"/>
                          <m:subHide m:val="on"/>
                          <m:supHide m:val="on"/>
                          <m:ctrlPr>
                            <a:rPr lang="ar-AE" i="1">
                              <a:latin typeface="Cambria Math" panose="02040503050406030204" pitchFamily="18" charset="0"/>
                            </a:rPr>
                          </m:ctrlPr>
                        </m:naryPr>
                        <m:sub/>
                        <m:sup/>
                        <m:e>
                          <m:r>
                            <a:rPr lang="ar-AE" i="1">
                              <a:latin typeface="Cambria Math" panose="02040503050406030204" pitchFamily="18" charset="0"/>
                            </a:rPr>
                            <m:t>𝑥</m:t>
                          </m:r>
                        </m:e>
                      </m:nary>
                      <m:r>
                        <a:rPr lang="ar-AE" i="0">
                          <a:latin typeface="Cambria Math" panose="02040503050406030204" pitchFamily="18" charset="0"/>
                        </a:rPr>
                        <m:t>⋅</m:t>
                      </m:r>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𝑥</m:t>
                          </m:r>
                        </m:e>
                      </m:d>
                    </m:oMath>
                  </m:oMathPara>
                </a14:m>
                <a:endParaRPr lang="ar-AE" dirty="0"/>
              </a:p>
              <a:p>
                <a:pPr>
                  <a:buNone/>
                </a:pPr>
                <a:r>
                  <a:rPr lang="en-IN" b="1" dirty="0"/>
                  <a:t>Variance</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𝑉𝑎𝑟</m:t>
                      </m:r>
                      <m:d>
                        <m:dPr>
                          <m:ctrlPr>
                            <a:rPr lang="ar-AE" i="1">
                              <a:latin typeface="Cambria Math" panose="02040503050406030204" pitchFamily="18" charset="0"/>
                            </a:rPr>
                          </m:ctrlPr>
                        </m:dPr>
                        <m:e>
                          <m:r>
                            <a:rPr lang="ar-AE" i="1">
                              <a:latin typeface="Cambria Math" panose="02040503050406030204" pitchFamily="18" charset="0"/>
                            </a:rPr>
                            <m:t>𝑋</m:t>
                          </m:r>
                        </m:e>
                      </m:d>
                      <m:r>
                        <a:rPr lang="ar-AE" i="0">
                          <a:latin typeface="Cambria Math" panose="02040503050406030204" pitchFamily="18" charset="0"/>
                        </a:rPr>
                        <m:t>=</m:t>
                      </m:r>
                      <m:r>
                        <a:rPr lang="ar-AE" i="1">
                          <a:latin typeface="Cambria Math" panose="02040503050406030204" pitchFamily="18" charset="0"/>
                        </a:rPr>
                        <m:t>𝐸</m:t>
                      </m:r>
                      <m:d>
                        <m:dPr>
                          <m:begChr m:val="["/>
                          <m:endChr m:val=""/>
                          <m:ctrlPr>
                            <a:rPr lang="ar-AE" i="1">
                              <a:latin typeface="Cambria Math" panose="02040503050406030204" pitchFamily="18" charset="0"/>
                            </a:rPr>
                          </m:ctrlPr>
                        </m:dPr>
                        <m:e>
                          <m:d>
                            <m:dPr>
                              <m:endChr m:val="]"/>
                              <m:ctrlPr>
                                <a:rPr lang="ar-AE" i="1">
                                  <a:latin typeface="Cambria Math" panose="02040503050406030204" pitchFamily="18" charset="0"/>
                                </a:rPr>
                              </m:ctrlPr>
                            </m:dPr>
                            <m:e>
                              <m:r>
                                <a:rPr lang="ar-AE" i="1">
                                  <a:latin typeface="Cambria Math" panose="02040503050406030204" pitchFamily="18" charset="0"/>
                                </a:rPr>
                                <m:t>𝑋</m:t>
                              </m:r>
                              <m:r>
                                <a:rPr lang="ar-AE" i="0">
                                  <a:latin typeface="Cambria Math" panose="02040503050406030204" pitchFamily="18" charset="0"/>
                                </a:rPr>
                                <m:t>−</m:t>
                              </m:r>
                              <m:r>
                                <a:rPr lang="ar-AE" i="1">
                                  <a:latin typeface="Cambria Math" panose="02040503050406030204" pitchFamily="18" charset="0"/>
                                </a:rPr>
                                <m:t>𝜇</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i="0">
                                          <a:latin typeface="Cambria Math" panose="02040503050406030204" pitchFamily="18" charset="0"/>
                                        </a:rPr>
                                        <m:t>)</m:t>
                                      </m:r>
                                    </m:e>
                                  </m:d>
                                </m:e>
                                <m:sup>
                                  <m:r>
                                    <a:rPr lang="ar-AE" i="0">
                                      <a:latin typeface="Cambria Math" panose="02040503050406030204" pitchFamily="18" charset="0"/>
                                    </a:rPr>
                                    <m:t>2</m:t>
                                  </m:r>
                                </m:sup>
                              </m:sSup>
                            </m:e>
                          </m:d>
                        </m:e>
                      </m:d>
                    </m:oMath>
                  </m:oMathPara>
                </a14:m>
                <a:endParaRPr lang="ar-AE" dirty="0"/>
              </a:p>
              <a:p>
                <a:pPr>
                  <a:buNone/>
                </a:pPr>
                <a:r>
                  <a:rPr lang="en-IN" b="1" dirty="0"/>
                  <a:t>Standard Deviation</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𝜎</m:t>
                      </m:r>
                      <m:r>
                        <a:rPr lang="en-IN" i="0">
                          <a:latin typeface="Cambria Math" panose="02040503050406030204" pitchFamily="18" charset="0"/>
                        </a:rPr>
                        <m:t>=</m:t>
                      </m:r>
                      <m:rad>
                        <m:radPr>
                          <m:degHide m:val="on"/>
                          <m:ctrlPr>
                            <a:rPr lang="ar-AE" i="1">
                              <a:latin typeface="Cambria Math" panose="02040503050406030204" pitchFamily="18" charset="0"/>
                            </a:rPr>
                          </m:ctrlPr>
                        </m:radPr>
                        <m:deg/>
                        <m:e>
                          <m:r>
                            <a:rPr lang="ar-AE" i="1">
                              <a:latin typeface="Cambria Math" panose="02040503050406030204" pitchFamily="18" charset="0"/>
                            </a:rPr>
                            <m:t>𝑉𝑎𝑟</m:t>
                          </m:r>
                          <m:d>
                            <m:dPr>
                              <m:ctrlPr>
                                <a:rPr lang="ar-AE" i="1">
                                  <a:latin typeface="Cambria Math" panose="02040503050406030204" pitchFamily="18" charset="0"/>
                                </a:rPr>
                              </m:ctrlPr>
                            </m:dPr>
                            <m:e>
                              <m:r>
                                <a:rPr lang="ar-AE" i="1">
                                  <a:latin typeface="Cambria Math" panose="02040503050406030204" pitchFamily="18" charset="0"/>
                                </a:rPr>
                                <m:t>𝑋</m:t>
                              </m:r>
                            </m:e>
                          </m:d>
                        </m:e>
                      </m:rad>
                    </m:oMath>
                  </m:oMathPara>
                </a14:m>
                <a:endParaRPr lang="ar-AE" dirty="0"/>
              </a:p>
              <a:p>
                <a:pPr>
                  <a:buNone/>
                </a:pPr>
                <a:r>
                  <a:rPr lang="en-IN" dirty="0"/>
                  <a:t>These measures help quantify uncertainty and spread in data.</a:t>
                </a:r>
              </a:p>
              <a:p>
                <a:pPr>
                  <a:buNone/>
                </a:pPr>
                <a:endParaRPr lang="en-IN" dirty="0"/>
              </a:p>
              <a:p>
                <a:r>
                  <a:rPr lang="en-US" b="1" dirty="0">
                    <a:solidFill>
                      <a:srgbClr val="FF0000"/>
                    </a:solidFill>
                  </a:rPr>
                  <a:t>Law of Large Numbers</a:t>
                </a:r>
              </a:p>
              <a:p>
                <a:r>
                  <a:rPr lang="en-US" dirty="0"/>
                  <a:t>As the number of trials increases, the sample mean approaches the expected value.</a:t>
                </a:r>
              </a:p>
              <a:p>
                <a:r>
                  <a:rPr lang="en-US" b="1" dirty="0"/>
                  <a:t>Example:</a:t>
                </a:r>
                <a:br>
                  <a:rPr lang="en-US" dirty="0"/>
                </a:br>
                <a:r>
                  <a:rPr lang="en-US" dirty="0"/>
                  <a:t>As a coin is tossed many times, the proportion of heads approaches 0.5.</a:t>
                </a:r>
              </a:p>
              <a:p>
                <a:pPr>
                  <a:buNone/>
                </a:pPr>
                <a:endParaRPr lang="en-IN" dirty="0"/>
              </a:p>
            </p:txBody>
          </p:sp>
        </mc:Choice>
        <mc:Fallback>
          <p:sp>
            <p:nvSpPr>
              <p:cNvPr id="3" name="TextBox 2">
                <a:extLst>
                  <a:ext uri="{FF2B5EF4-FFF2-40B4-BE49-F238E27FC236}">
                    <a16:creationId xmlns:a16="http://schemas.microsoft.com/office/drawing/2014/main" id="{D81D97AB-F8A0-CC76-87E9-05AE7D1E4F4B}"/>
                  </a:ext>
                </a:extLst>
              </p:cNvPr>
              <p:cNvSpPr txBox="1">
                <a:spLocks noRot="1" noChangeAspect="1" noMove="1" noResize="1" noEditPoints="1" noAdjustHandles="1" noChangeArrowheads="1" noChangeShapeType="1" noTextEdit="1"/>
              </p:cNvSpPr>
              <p:nvPr/>
            </p:nvSpPr>
            <p:spPr>
              <a:xfrm>
                <a:off x="422786" y="343604"/>
                <a:ext cx="11326761" cy="4470391"/>
              </a:xfrm>
              <a:prstGeom prst="rect">
                <a:avLst/>
              </a:prstGeom>
              <a:blipFill>
                <a:blip r:embed="rId2"/>
                <a:stretch>
                  <a:fillRect l="-431" t="-545"/>
                </a:stretch>
              </a:blipFill>
            </p:spPr>
            <p:txBody>
              <a:bodyPr/>
              <a:lstStyle/>
              <a:p>
                <a:r>
                  <a:rPr lang="en-IN">
                    <a:noFill/>
                  </a:rPr>
                  <a:t> </a:t>
                </a:r>
              </a:p>
            </p:txBody>
          </p:sp>
        </mc:Fallback>
      </mc:AlternateContent>
    </p:spTree>
    <p:extLst>
      <p:ext uri="{BB962C8B-B14F-4D97-AF65-F5344CB8AC3E}">
        <p14:creationId xmlns:p14="http://schemas.microsoft.com/office/powerpoint/2010/main" val="284314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097B17-8BF0-E2F5-96EF-209C10F27DA4}"/>
              </a:ext>
            </a:extLst>
          </p:cNvPr>
          <p:cNvSpPr txBox="1"/>
          <p:nvPr/>
        </p:nvSpPr>
        <p:spPr>
          <a:xfrm>
            <a:off x="452283" y="409167"/>
            <a:ext cx="11208775" cy="4247317"/>
          </a:xfrm>
          <a:prstGeom prst="rect">
            <a:avLst/>
          </a:prstGeom>
          <a:noFill/>
        </p:spPr>
        <p:txBody>
          <a:bodyPr wrap="square">
            <a:spAutoFit/>
          </a:bodyPr>
          <a:lstStyle/>
          <a:p>
            <a:pPr>
              <a:buNone/>
            </a:pPr>
            <a:r>
              <a:rPr lang="en-US" b="1" dirty="0">
                <a:solidFill>
                  <a:srgbClr val="FF0000"/>
                </a:solidFill>
              </a:rPr>
              <a:t>Central Limit Theorem (CLT)</a:t>
            </a:r>
          </a:p>
          <a:p>
            <a:pPr>
              <a:buNone/>
            </a:pPr>
            <a:r>
              <a:rPr lang="en-US" dirty="0"/>
              <a:t>The CLT states that the distribution of sample means tends toward a normal distribution as sample size increases, regardless of the original distribution.</a:t>
            </a:r>
          </a:p>
          <a:p>
            <a:pPr>
              <a:buNone/>
            </a:pPr>
            <a:r>
              <a:rPr lang="en-US" b="1" dirty="0"/>
              <a:t>Importance in Data Science</a:t>
            </a:r>
            <a:endParaRPr lang="en-US" dirty="0"/>
          </a:p>
          <a:p>
            <a:pPr>
              <a:buFont typeface="Arial" panose="020B0604020202020204" pitchFamily="34" charset="0"/>
              <a:buChar char="•"/>
            </a:pPr>
            <a:r>
              <a:rPr lang="en-US" dirty="0"/>
              <a:t>Enables hypothesis testing</a:t>
            </a:r>
          </a:p>
          <a:p>
            <a:pPr>
              <a:buFont typeface="Arial" panose="020B0604020202020204" pitchFamily="34" charset="0"/>
              <a:buChar char="•"/>
            </a:pPr>
            <a:r>
              <a:rPr lang="en-US" dirty="0"/>
              <a:t>Supports confidence interval estimation</a:t>
            </a:r>
          </a:p>
          <a:p>
            <a:pPr>
              <a:buFont typeface="Arial" panose="020B0604020202020204" pitchFamily="34" charset="0"/>
              <a:buChar char="•"/>
            </a:pPr>
            <a:r>
              <a:rPr lang="en-US" dirty="0"/>
              <a:t>Foundation of many ML algorithms</a:t>
            </a:r>
          </a:p>
          <a:p>
            <a:pPr>
              <a:buFont typeface="Arial" panose="020B0604020202020204" pitchFamily="34" charset="0"/>
              <a:buChar char="•"/>
            </a:pPr>
            <a:endParaRPr lang="en-US" dirty="0"/>
          </a:p>
          <a:p>
            <a:r>
              <a:rPr lang="en-US" b="1" dirty="0">
                <a:solidFill>
                  <a:srgbClr val="FF0000"/>
                </a:solidFill>
              </a:rPr>
              <a:t>Applications of Probability in Data Science</a:t>
            </a:r>
          </a:p>
          <a:p>
            <a:r>
              <a:rPr lang="en-US" b="1" dirty="0"/>
              <a:t>Machine Learning:</a:t>
            </a:r>
            <a:r>
              <a:rPr lang="en-US" dirty="0"/>
              <a:t> Model uncertainty and predictions</a:t>
            </a:r>
          </a:p>
          <a:p>
            <a:r>
              <a:rPr lang="en-US" b="1" dirty="0"/>
              <a:t>Risk Analysis:</a:t>
            </a:r>
            <a:r>
              <a:rPr lang="en-US" dirty="0"/>
              <a:t> Financial and insurance modeling</a:t>
            </a:r>
          </a:p>
          <a:p>
            <a:r>
              <a:rPr lang="en-US" b="1" dirty="0"/>
              <a:t>A/B Testing:</a:t>
            </a:r>
            <a:r>
              <a:rPr lang="en-US" dirty="0"/>
              <a:t> Comparing user behavior</a:t>
            </a:r>
          </a:p>
          <a:p>
            <a:r>
              <a:rPr lang="en-US" b="1" dirty="0"/>
              <a:t>Natural Language Processing:</a:t>
            </a:r>
            <a:r>
              <a:rPr lang="en-US" dirty="0"/>
              <a:t> Language modeling</a:t>
            </a:r>
          </a:p>
          <a:p>
            <a:r>
              <a:rPr lang="en-US" b="1" dirty="0"/>
              <a:t>Computer Vision:</a:t>
            </a:r>
            <a:r>
              <a:rPr lang="en-US" dirty="0"/>
              <a:t> Object detection probabilities</a:t>
            </a:r>
          </a:p>
          <a:p>
            <a:endParaRPr lang="en-US" dirty="0"/>
          </a:p>
        </p:txBody>
      </p:sp>
      <p:sp>
        <p:nvSpPr>
          <p:cNvPr id="5" name="TextBox 4">
            <a:extLst>
              <a:ext uri="{FF2B5EF4-FFF2-40B4-BE49-F238E27FC236}">
                <a16:creationId xmlns:a16="http://schemas.microsoft.com/office/drawing/2014/main" id="{87DCDF5F-6E0B-D63A-9080-1A63699D5204}"/>
              </a:ext>
            </a:extLst>
          </p:cNvPr>
          <p:cNvSpPr txBox="1"/>
          <p:nvPr/>
        </p:nvSpPr>
        <p:spPr>
          <a:xfrm>
            <a:off x="452283" y="4813452"/>
            <a:ext cx="11208774" cy="1477328"/>
          </a:xfrm>
          <a:prstGeom prst="rect">
            <a:avLst/>
          </a:prstGeom>
          <a:solidFill>
            <a:schemeClr val="accent4">
              <a:lumMod val="20000"/>
              <a:lumOff val="80000"/>
            </a:schemeClr>
          </a:solidFill>
          <a:ln>
            <a:solidFill>
              <a:schemeClr val="accent1"/>
            </a:solidFill>
          </a:ln>
        </p:spPr>
        <p:txBody>
          <a:bodyPr wrap="square">
            <a:spAutoFit/>
          </a:bodyPr>
          <a:lstStyle/>
          <a:p>
            <a:r>
              <a:rPr lang="en-US" dirty="0"/>
              <a:t>Probability forms the mathematical foundation of data science. It helps quantify uncertainty, make predictions, and model real-world phenomena. Concepts such as random variables, distributions, Bayes’ theorem, and conditional probability are essential tools used across machine learning, artificial intelligence, statistics, and data analytics. A strong understanding of probability enables data scientists to build accurate, reliable, and interpretable models.</a:t>
            </a:r>
            <a:endParaRPr lang="en-IN" dirty="0"/>
          </a:p>
        </p:txBody>
      </p:sp>
    </p:spTree>
    <p:extLst>
      <p:ext uri="{BB962C8B-B14F-4D97-AF65-F5344CB8AC3E}">
        <p14:creationId xmlns:p14="http://schemas.microsoft.com/office/powerpoint/2010/main" val="3635770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A6E3EFAC-8FD4-D16B-847B-69FA231E304A}"/>
                  </a:ext>
                </a:extLst>
              </p:cNvPr>
              <p:cNvSpPr txBox="1"/>
              <p:nvPr/>
            </p:nvSpPr>
            <p:spPr>
              <a:xfrm>
                <a:off x="511277" y="453768"/>
                <a:ext cx="11198942" cy="6119176"/>
              </a:xfrm>
              <a:prstGeom prst="rect">
                <a:avLst/>
              </a:prstGeom>
              <a:noFill/>
            </p:spPr>
            <p:txBody>
              <a:bodyPr wrap="square">
                <a:spAutoFit/>
              </a:bodyPr>
              <a:lstStyle/>
              <a:p>
                <a:pPr algn="ctr">
                  <a:buNone/>
                </a:pPr>
                <a:r>
                  <a:rPr lang="en-IN" b="1" dirty="0">
                    <a:solidFill>
                      <a:srgbClr val="FF0000"/>
                    </a:solidFill>
                  </a:rPr>
                  <a:t>Examples</a:t>
                </a:r>
              </a:p>
              <a:p>
                <a:pPr>
                  <a:buNone/>
                </a:pPr>
                <a:endParaRPr lang="en-IN" b="1" dirty="0"/>
              </a:p>
              <a:p>
                <a:pPr>
                  <a:buNone/>
                </a:pPr>
                <a:r>
                  <a:rPr lang="en-IN" b="1" dirty="0">
                    <a:solidFill>
                      <a:srgbClr val="FF0000"/>
                    </a:solidFill>
                  </a:rPr>
                  <a:t>Simple Probability</a:t>
                </a:r>
              </a:p>
              <a:p>
                <a:pPr>
                  <a:buNone/>
                </a:pPr>
                <a:r>
                  <a:rPr lang="en-IN" b="1" dirty="0"/>
                  <a:t>Problem:</a:t>
                </a:r>
                <a:br>
                  <a:rPr lang="en-IN" dirty="0"/>
                </a:br>
                <a:r>
                  <a:rPr lang="en-IN" dirty="0"/>
                  <a:t>A die is thrown once. What is the probability of getting an even number?</a:t>
                </a:r>
              </a:p>
              <a:p>
                <a:pPr>
                  <a:buNone/>
                </a:pPr>
                <a:r>
                  <a:rPr lang="en-IN" b="1" dirty="0"/>
                  <a:t>Solution:</a:t>
                </a:r>
                <a:br>
                  <a:rPr lang="en-IN" dirty="0"/>
                </a:br>
                <a:r>
                  <a:rPr lang="en-IN" dirty="0"/>
                  <a:t>Possible outcomes = {1, 2, 3, 4, 5, 6}</a:t>
                </a:r>
                <a:br>
                  <a:rPr lang="en-IN" dirty="0"/>
                </a:br>
                <a:r>
                  <a:rPr lang="en-IN" dirty="0"/>
                  <a:t>Even numbers = {2, 4, 6}</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ar-AE" i="1">
                              <a:latin typeface="Cambria Math" panose="02040503050406030204" pitchFamily="18" charset="0"/>
                            </a:rPr>
                          </m:ctrlPr>
                        </m:dPr>
                        <m:e>
                          <m:r>
                            <m:rPr>
                              <m:nor/>
                            </m:rPr>
                            <a:rPr lang="en-IN" b="0" i="1">
                              <a:latin typeface="Cambria Math" panose="02040503050406030204" pitchFamily="18" charset="0"/>
                            </a:rPr>
                            <m:t>Even</m:t>
                          </m:r>
                        </m:e>
                      </m:d>
                      <m:r>
                        <a:rPr lang="ar-AE"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3</m:t>
                          </m:r>
                        </m:num>
                        <m:den>
                          <m:r>
                            <a:rPr lang="ar-AE" b="0" i="0">
                              <a:latin typeface="Cambria Math" panose="02040503050406030204" pitchFamily="18" charset="0"/>
                            </a:rPr>
                            <m:t>6</m:t>
                          </m:r>
                        </m:den>
                      </m:f>
                      <m:r>
                        <a:rPr lang="ar-AE"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1</m:t>
                          </m:r>
                        </m:num>
                        <m:den>
                          <m:r>
                            <a:rPr lang="ar-AE" b="0" i="0">
                              <a:latin typeface="Cambria Math" panose="02040503050406030204" pitchFamily="18" charset="0"/>
                            </a:rPr>
                            <m:t>2</m:t>
                          </m:r>
                        </m:den>
                      </m:f>
                    </m:oMath>
                  </m:oMathPara>
                </a14:m>
                <a:endParaRPr lang="ar-AE" b="0" dirty="0"/>
              </a:p>
              <a:p>
                <a:pPr>
                  <a:buNone/>
                </a:pPr>
                <a:r>
                  <a:rPr lang="en-IN" b="1" dirty="0"/>
                  <a:t>Answer:</a:t>
                </a:r>
                <a:r>
                  <a:rPr lang="en-IN" dirty="0"/>
                  <a:t> ½</a:t>
                </a:r>
              </a:p>
              <a:p>
                <a:pPr>
                  <a:buNone/>
                </a:pPr>
                <a:endParaRPr lang="en-IN" dirty="0"/>
              </a:p>
              <a:p>
                <a:r>
                  <a:rPr lang="en-IN" b="1" dirty="0">
                    <a:solidFill>
                      <a:srgbClr val="FF0000"/>
                    </a:solidFill>
                  </a:rPr>
                  <a:t>Probability of Drawing a Card</a:t>
                </a:r>
              </a:p>
              <a:p>
                <a:r>
                  <a:rPr lang="en-IN" b="1" dirty="0"/>
                  <a:t>Problem:</a:t>
                </a:r>
                <a:br>
                  <a:rPr lang="en-IN" dirty="0"/>
                </a:br>
                <a:r>
                  <a:rPr lang="en-IN" dirty="0"/>
                  <a:t>A card is drawn from a standard deck of 52 cards. What is the probability of getting a red card?</a:t>
                </a:r>
              </a:p>
              <a:p>
                <a:r>
                  <a:rPr lang="en-IN" b="1" dirty="0"/>
                  <a:t>Solution:</a:t>
                </a:r>
                <a:br>
                  <a:rPr lang="en-IN" dirty="0"/>
                </a:br>
                <a:r>
                  <a:rPr lang="en-IN" dirty="0"/>
                  <a:t>Red cards = 26</a:t>
                </a:r>
                <a:br>
                  <a:rPr lang="en-IN" dirty="0"/>
                </a:br>
                <a:r>
                  <a:rPr lang="en-IN" dirty="0"/>
                  <a:t>Total cards = 52</a:t>
                </a:r>
              </a:p>
              <a:p>
                <a14:m>
                  <m:oMathPara xmlns:m="http://schemas.openxmlformats.org/officeDocument/2006/math">
                    <m:oMathParaPr>
                      <m:jc m:val="centerGroup"/>
                    </m:oMathParaPr>
                    <m:oMath xmlns:m="http://schemas.openxmlformats.org/officeDocument/2006/math">
                      <m:r>
                        <a:rPr lang="en-IN" i="1"/>
                        <m:t>𝑃</m:t>
                      </m:r>
                      <m:d>
                        <m:dPr>
                          <m:ctrlPr>
                            <a:rPr lang="ar-AE" i="1"/>
                          </m:ctrlPr>
                        </m:dPr>
                        <m:e>
                          <m:r>
                            <m:rPr>
                              <m:nor/>
                            </m:rPr>
                            <a:rPr lang="en-IN" i="1"/>
                            <m:t>Red</m:t>
                          </m:r>
                        </m:e>
                      </m:d>
                      <m:r>
                        <a:rPr lang="ar-AE"/>
                        <m:t>=</m:t>
                      </m:r>
                      <m:f>
                        <m:fPr>
                          <m:ctrlPr>
                            <a:rPr lang="ar-AE" i="1"/>
                          </m:ctrlPr>
                        </m:fPr>
                        <m:num>
                          <m:r>
                            <a:rPr lang="ar-AE"/>
                            <m:t>26</m:t>
                          </m:r>
                        </m:num>
                        <m:den>
                          <m:r>
                            <a:rPr lang="ar-AE"/>
                            <m:t>52</m:t>
                          </m:r>
                        </m:den>
                      </m:f>
                      <m:r>
                        <a:rPr lang="ar-AE"/>
                        <m:t>=</m:t>
                      </m:r>
                      <m:f>
                        <m:fPr>
                          <m:ctrlPr>
                            <a:rPr lang="ar-AE" i="1"/>
                          </m:ctrlPr>
                        </m:fPr>
                        <m:num>
                          <m:r>
                            <a:rPr lang="ar-AE"/>
                            <m:t>1</m:t>
                          </m:r>
                        </m:num>
                        <m:den>
                          <m:r>
                            <a:rPr lang="ar-AE"/>
                            <m:t>2</m:t>
                          </m:r>
                        </m:den>
                      </m:f>
                    </m:oMath>
                  </m:oMathPara>
                </a14:m>
                <a:endParaRPr lang="ar-AE" b="0" dirty="0"/>
              </a:p>
              <a:p>
                <a:r>
                  <a:rPr lang="en-IN" b="1" dirty="0"/>
                  <a:t>Answer:</a:t>
                </a:r>
                <a:r>
                  <a:rPr lang="en-IN" dirty="0"/>
                  <a:t> 1/2</a:t>
                </a:r>
              </a:p>
              <a:p>
                <a:pPr>
                  <a:buNone/>
                </a:pPr>
                <a:endParaRPr lang="en-IN" dirty="0"/>
              </a:p>
            </p:txBody>
          </p:sp>
        </mc:Choice>
        <mc:Fallback>
          <p:sp>
            <p:nvSpPr>
              <p:cNvPr id="3" name="TextBox 2">
                <a:extLst>
                  <a:ext uri="{FF2B5EF4-FFF2-40B4-BE49-F238E27FC236}">
                    <a16:creationId xmlns:a16="http://schemas.microsoft.com/office/drawing/2014/main" id="{A6E3EFAC-8FD4-D16B-847B-69FA231E304A}"/>
                  </a:ext>
                </a:extLst>
              </p:cNvPr>
              <p:cNvSpPr txBox="1">
                <a:spLocks noRot="1" noChangeAspect="1" noMove="1" noResize="1" noEditPoints="1" noAdjustHandles="1" noChangeArrowheads="1" noChangeShapeType="1" noTextEdit="1"/>
              </p:cNvSpPr>
              <p:nvPr/>
            </p:nvSpPr>
            <p:spPr>
              <a:xfrm>
                <a:off x="511277" y="453768"/>
                <a:ext cx="11198942" cy="6119176"/>
              </a:xfrm>
              <a:prstGeom prst="rect">
                <a:avLst/>
              </a:prstGeom>
              <a:blipFill>
                <a:blip r:embed="rId2"/>
                <a:stretch>
                  <a:fillRect l="-490" t="-398"/>
                </a:stretch>
              </a:blipFill>
            </p:spPr>
            <p:txBody>
              <a:bodyPr/>
              <a:lstStyle/>
              <a:p>
                <a:r>
                  <a:rPr lang="en-IN">
                    <a:noFill/>
                  </a:rPr>
                  <a:t> </a:t>
                </a:r>
              </a:p>
            </p:txBody>
          </p:sp>
        </mc:Fallback>
      </mc:AlternateContent>
    </p:spTree>
    <p:extLst>
      <p:ext uri="{BB962C8B-B14F-4D97-AF65-F5344CB8AC3E}">
        <p14:creationId xmlns:p14="http://schemas.microsoft.com/office/powerpoint/2010/main" val="3417582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47B232D-9AA4-834F-D9BF-CD0DF8DF1E3D}"/>
                  </a:ext>
                </a:extLst>
              </p:cNvPr>
              <p:cNvSpPr txBox="1"/>
              <p:nvPr/>
            </p:nvSpPr>
            <p:spPr>
              <a:xfrm>
                <a:off x="442452" y="332959"/>
                <a:ext cx="11297264" cy="5881354"/>
              </a:xfrm>
              <a:prstGeom prst="rect">
                <a:avLst/>
              </a:prstGeom>
              <a:noFill/>
            </p:spPr>
            <p:txBody>
              <a:bodyPr wrap="square">
                <a:spAutoFit/>
              </a:bodyPr>
              <a:lstStyle/>
              <a:p>
                <a:pPr>
                  <a:buNone/>
                </a:pPr>
                <a:r>
                  <a:rPr lang="en-IN" b="1" dirty="0">
                    <a:solidFill>
                      <a:srgbClr val="FF0000"/>
                    </a:solidFill>
                  </a:rPr>
                  <a:t>Conditional Probability</a:t>
                </a:r>
              </a:p>
              <a:p>
                <a:pPr>
                  <a:buNone/>
                </a:pPr>
                <a:r>
                  <a:rPr lang="en-IN" b="1" dirty="0"/>
                  <a:t>Problem:</a:t>
                </a:r>
                <a:br>
                  <a:rPr lang="en-IN" dirty="0"/>
                </a:br>
                <a:r>
                  <a:rPr lang="en-IN" dirty="0"/>
                  <a:t>A bag contains 5 red and 3 blue balls. One ball is drawn at random. What is the probability that the ball is red, given that it is not blue?</a:t>
                </a:r>
              </a:p>
              <a:p>
                <a:pPr>
                  <a:buNone/>
                </a:pPr>
                <a:r>
                  <a:rPr lang="en-IN" b="1" dirty="0"/>
                  <a:t>Solution:</a:t>
                </a:r>
                <a:br>
                  <a:rPr lang="en-IN" dirty="0"/>
                </a:br>
                <a:r>
                  <a:rPr lang="en-IN" dirty="0"/>
                  <a:t>If the ball is not blue, it must be red.</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ar-AE" i="1">
                              <a:latin typeface="Cambria Math" panose="02040503050406030204" pitchFamily="18" charset="0"/>
                            </a:rPr>
                          </m:ctrlPr>
                        </m:dPr>
                        <m:e>
                          <m:r>
                            <m:rPr>
                              <m:nor/>
                            </m:rPr>
                            <a:rPr lang="en-IN" b="0" i="1">
                              <a:latin typeface="Cambria Math" panose="02040503050406030204" pitchFamily="18" charset="0"/>
                            </a:rPr>
                            <m:t>Red</m:t>
                          </m:r>
                          <m:r>
                            <a:rPr lang="en-IN" b="0" i="0">
                              <a:latin typeface="Cambria Math" panose="02040503050406030204" pitchFamily="18" charset="0"/>
                            </a:rPr>
                            <m:t>∣</m:t>
                          </m:r>
                          <m:r>
                            <m:rPr>
                              <m:nor/>
                            </m:rPr>
                            <a:rPr lang="en-IN" b="0" i="1">
                              <a:latin typeface="Cambria Math" panose="02040503050406030204" pitchFamily="18" charset="0"/>
                            </a:rPr>
                            <m:t>Not</m:t>
                          </m:r>
                          <m:r>
                            <m:rPr>
                              <m:nor/>
                            </m:rPr>
                            <a:rPr lang="en-IN" b="0" i="1">
                              <a:latin typeface="Cambria Math" panose="02040503050406030204" pitchFamily="18" charset="0"/>
                            </a:rPr>
                            <m:t> </m:t>
                          </m:r>
                          <m:r>
                            <m:rPr>
                              <m:nor/>
                            </m:rPr>
                            <a:rPr lang="en-IN" b="0" i="1">
                              <a:latin typeface="Cambria Math" panose="02040503050406030204" pitchFamily="18" charset="0"/>
                            </a:rPr>
                            <m:t>Blue</m:t>
                          </m:r>
                        </m:e>
                      </m:d>
                      <m:r>
                        <a:rPr lang="ar-AE"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5</m:t>
                          </m:r>
                        </m:num>
                        <m:den>
                          <m:r>
                            <a:rPr lang="ar-AE" b="0" i="0">
                              <a:latin typeface="Cambria Math" panose="02040503050406030204" pitchFamily="18" charset="0"/>
                            </a:rPr>
                            <m:t>5</m:t>
                          </m:r>
                        </m:den>
                      </m:f>
                      <m:r>
                        <a:rPr lang="ar-AE" b="0" i="0">
                          <a:latin typeface="Cambria Math" panose="02040503050406030204" pitchFamily="18" charset="0"/>
                        </a:rPr>
                        <m:t>=</m:t>
                      </m:r>
                      <m:r>
                        <a:rPr lang="ar-AE" b="0" i="0">
                          <a:latin typeface="Cambria Math" panose="02040503050406030204" pitchFamily="18" charset="0"/>
                        </a:rPr>
                        <m:t>1</m:t>
                      </m:r>
                    </m:oMath>
                  </m:oMathPara>
                </a14:m>
                <a:endParaRPr lang="ar-AE" b="0" dirty="0"/>
              </a:p>
              <a:p>
                <a:pPr>
                  <a:buNone/>
                </a:pPr>
                <a:r>
                  <a:rPr lang="en-IN" b="1" dirty="0"/>
                  <a:t>Answer:</a:t>
                </a:r>
                <a:r>
                  <a:rPr lang="en-IN" dirty="0"/>
                  <a:t> 1</a:t>
                </a:r>
              </a:p>
              <a:p>
                <a:pPr>
                  <a:buNone/>
                </a:pPr>
                <a:endParaRPr lang="en-IN" dirty="0"/>
              </a:p>
              <a:p>
                <a:r>
                  <a:rPr lang="en-IN" b="1" dirty="0">
                    <a:solidFill>
                      <a:srgbClr val="FF0000"/>
                    </a:solidFill>
                  </a:rPr>
                  <a:t>Bayes’ Theorem</a:t>
                </a:r>
              </a:p>
              <a:p>
                <a:r>
                  <a:rPr lang="en-IN" b="1" dirty="0"/>
                  <a:t>Problem:</a:t>
                </a:r>
                <a:br>
                  <a:rPr lang="en-IN" dirty="0"/>
                </a:br>
                <a:r>
                  <a:rPr lang="en-IN" dirty="0"/>
                  <a:t>A factory has two machines:</a:t>
                </a:r>
              </a:p>
              <a:p>
                <a:r>
                  <a:rPr lang="en-IN" dirty="0"/>
                  <a:t>Machine A produces 60% of items, with 2% defective</a:t>
                </a:r>
              </a:p>
              <a:p>
                <a:r>
                  <a:rPr lang="en-IN" dirty="0"/>
                  <a:t>Machine B produces 40% of items, with 5% defective</a:t>
                </a:r>
              </a:p>
              <a:p>
                <a:r>
                  <a:rPr lang="en-IN" dirty="0"/>
                  <a:t>If a product is defective, find the probability that it was made by Machine A.</a:t>
                </a:r>
              </a:p>
              <a:p>
                <a:r>
                  <a:rPr lang="en-IN" b="1" dirty="0"/>
                  <a:t>Solution:</a:t>
                </a:r>
                <a:endParaRPr lang="en-IN" dirty="0"/>
              </a:p>
              <a:p>
                <a:r>
                  <a:rPr lang="en-IN" dirty="0"/>
                  <a:t>Let</a:t>
                </a:r>
                <a:br>
                  <a:rPr lang="en-IN" dirty="0"/>
                </a:br>
                <a:r>
                  <a:rPr lang="en-IN" dirty="0"/>
                  <a:t>A = Machine A</a:t>
                </a:r>
                <a:br>
                  <a:rPr lang="en-IN" dirty="0"/>
                </a:br>
                <a:r>
                  <a:rPr lang="en-IN" dirty="0"/>
                  <a:t>B = Machine B</a:t>
                </a:r>
                <a:br>
                  <a:rPr lang="en-IN" dirty="0"/>
                </a:br>
                <a:r>
                  <a:rPr lang="en-IN" dirty="0"/>
                  <a:t>D = Defective</a:t>
                </a:r>
              </a:p>
            </p:txBody>
          </p:sp>
        </mc:Choice>
        <mc:Fallback>
          <p:sp>
            <p:nvSpPr>
              <p:cNvPr id="3" name="TextBox 2">
                <a:extLst>
                  <a:ext uri="{FF2B5EF4-FFF2-40B4-BE49-F238E27FC236}">
                    <a16:creationId xmlns:a16="http://schemas.microsoft.com/office/drawing/2014/main" id="{447B232D-9AA4-834F-D9BF-CD0DF8DF1E3D}"/>
                  </a:ext>
                </a:extLst>
              </p:cNvPr>
              <p:cNvSpPr txBox="1">
                <a:spLocks noRot="1" noChangeAspect="1" noMove="1" noResize="1" noEditPoints="1" noAdjustHandles="1" noChangeArrowheads="1" noChangeShapeType="1" noTextEdit="1"/>
              </p:cNvSpPr>
              <p:nvPr/>
            </p:nvSpPr>
            <p:spPr>
              <a:xfrm>
                <a:off x="442452" y="332959"/>
                <a:ext cx="11297264" cy="5881354"/>
              </a:xfrm>
              <a:prstGeom prst="rect">
                <a:avLst/>
              </a:prstGeom>
              <a:blipFill>
                <a:blip r:embed="rId2"/>
                <a:stretch>
                  <a:fillRect l="-486" t="-519" b="-830"/>
                </a:stretch>
              </a:blipFill>
            </p:spPr>
            <p:txBody>
              <a:bodyPr/>
              <a:lstStyle/>
              <a:p>
                <a:r>
                  <a:rPr lang="en-IN">
                    <a:noFill/>
                  </a:rPr>
                  <a:t> </a:t>
                </a:r>
              </a:p>
            </p:txBody>
          </p:sp>
        </mc:Fallback>
      </mc:AlternateContent>
    </p:spTree>
    <p:extLst>
      <p:ext uri="{BB962C8B-B14F-4D97-AF65-F5344CB8AC3E}">
        <p14:creationId xmlns:p14="http://schemas.microsoft.com/office/powerpoint/2010/main" val="3422788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87A5D89-CCE8-D29D-C65C-1CD2EDB93654}"/>
                  </a:ext>
                </a:extLst>
              </p:cNvPr>
              <p:cNvSpPr txBox="1"/>
              <p:nvPr/>
            </p:nvSpPr>
            <p:spPr>
              <a:xfrm>
                <a:off x="526026" y="0"/>
                <a:ext cx="11139948" cy="6837064"/>
              </a:xfrm>
              <a:prstGeom prst="rect">
                <a:avLst/>
              </a:prstGeom>
              <a:noFill/>
            </p:spPr>
            <p:txBody>
              <a:bodyPr wrap="square">
                <a:spAutoFit/>
              </a:bodyPr>
              <a:lstStyle/>
              <a:p>
                <a:endParaRPr lang="en-IN" dirty="0"/>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𝐴</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r>
                        <a:rPr lang="ar-AE">
                          <a:latin typeface="Cambria Math" panose="02040503050406030204" pitchFamily="18" charset="0"/>
                        </a:rPr>
                        <m:t>, </m:t>
                      </m:r>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𝐵</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oMath>
                  </m:oMathPara>
                </a14:m>
                <a:endParaRPr lang="ar-AE" dirty="0"/>
              </a:p>
              <a:p>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𝐷</m:t>
                          </m:r>
                          <m:r>
                            <a:rPr lang="ar-AE">
                              <a:latin typeface="Cambria Math" panose="02040503050406030204" pitchFamily="18" charset="0"/>
                            </a:rPr>
                            <m:t>∣</m:t>
                          </m:r>
                          <m:r>
                            <a:rPr lang="ar-AE" i="1">
                              <a:latin typeface="Cambria Math" panose="02040503050406030204" pitchFamily="18" charset="0"/>
                            </a:rPr>
                            <m:t>𝐴</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02</m:t>
                      </m:r>
                      <m:r>
                        <a:rPr lang="ar-AE">
                          <a:latin typeface="Cambria Math" panose="02040503050406030204" pitchFamily="18" charset="0"/>
                        </a:rPr>
                        <m:t>, </m:t>
                      </m:r>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𝐷</m:t>
                          </m:r>
                          <m:r>
                            <a:rPr lang="ar-AE">
                              <a:latin typeface="Cambria Math" panose="02040503050406030204" pitchFamily="18" charset="0"/>
                            </a:rPr>
                            <m:t>∣</m:t>
                          </m:r>
                          <m:r>
                            <a:rPr lang="ar-AE" i="1">
                              <a:latin typeface="Cambria Math" panose="02040503050406030204" pitchFamily="18" charset="0"/>
                            </a:rPr>
                            <m:t>𝐵</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oMath>
                  </m:oMathPara>
                </a14:m>
                <a:endParaRPr lang="ar-AE" dirty="0"/>
              </a:p>
              <a:p>
                <a:r>
                  <a:rPr lang="en-IN" dirty="0"/>
                  <a:t>Using Bayes' theorem:</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𝐴</m:t>
                          </m:r>
                          <m:r>
                            <a:rPr lang="ar-AE">
                              <a:latin typeface="Cambria Math" panose="02040503050406030204" pitchFamily="18" charset="0"/>
                            </a:rPr>
                            <m:t>∣</m:t>
                          </m:r>
                          <m:r>
                            <a:rPr lang="ar-AE" i="1">
                              <a:latin typeface="Cambria Math" panose="02040503050406030204" pitchFamily="18" charset="0"/>
                            </a:rPr>
                            <m:t>𝐷</m:t>
                          </m:r>
                        </m:e>
                      </m:d>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𝐷</m:t>
                              </m:r>
                              <m:r>
                                <a:rPr lang="ar-AE">
                                  <a:latin typeface="Cambria Math" panose="02040503050406030204" pitchFamily="18" charset="0"/>
                                </a:rPr>
                                <m:t>∣</m:t>
                              </m:r>
                              <m:r>
                                <a:rPr lang="ar-AE" i="1">
                                  <a:latin typeface="Cambria Math" panose="02040503050406030204" pitchFamily="18" charset="0"/>
                                </a:rPr>
                                <m:t>𝐴</m:t>
                              </m:r>
                            </m:e>
                          </m:d>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𝐴</m:t>
                              </m:r>
                            </m:e>
                          </m:d>
                        </m:num>
                        <m:den>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𝐷</m:t>
                              </m:r>
                              <m:r>
                                <a:rPr lang="ar-AE">
                                  <a:latin typeface="Cambria Math" panose="02040503050406030204" pitchFamily="18" charset="0"/>
                                </a:rPr>
                                <m:t>∣</m:t>
                              </m:r>
                              <m:r>
                                <a:rPr lang="ar-AE" i="1">
                                  <a:latin typeface="Cambria Math" panose="02040503050406030204" pitchFamily="18" charset="0"/>
                                </a:rPr>
                                <m:t>𝐴</m:t>
                              </m:r>
                            </m:e>
                          </m:d>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𝐴</m:t>
                              </m:r>
                            </m:e>
                          </m:d>
                          <m:r>
                            <a:rPr lang="ar-AE">
                              <a:latin typeface="Cambria Math" panose="02040503050406030204" pitchFamily="18" charset="0"/>
                            </a:rPr>
                            <m:t>+</m:t>
                          </m:r>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𝐷</m:t>
                              </m:r>
                              <m:r>
                                <a:rPr lang="ar-AE">
                                  <a:latin typeface="Cambria Math" panose="02040503050406030204" pitchFamily="18" charset="0"/>
                                </a:rPr>
                                <m:t>∣</m:t>
                              </m:r>
                              <m:r>
                                <a:rPr lang="ar-AE" i="1">
                                  <a:latin typeface="Cambria Math" panose="02040503050406030204" pitchFamily="18" charset="0"/>
                                </a:rPr>
                                <m:t>𝐵</m:t>
                              </m:r>
                            </m:e>
                          </m:d>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𝐵</m:t>
                              </m:r>
                            </m:e>
                          </m:d>
                        </m:den>
                      </m:f>
                    </m:oMath>
                  </m:oMathPara>
                </a14:m>
                <a:endParaRPr lang="ar-AE" dirty="0"/>
              </a:p>
              <a:p>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num>
                        <m:den>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d>
                        </m:den>
                      </m:f>
                    </m:oMath>
                  </m:oMathPara>
                </a14:m>
                <a:endParaRPr lang="en-US" dirty="0"/>
              </a:p>
              <a:p>
                <a:r>
                  <a:rPr lang="en-US" dirty="0"/>
                  <a:t>				        =0.012+0.020.012​=0.0320.012​=0.375 </a:t>
                </a:r>
              </a:p>
              <a:p>
                <a:endParaRPr lang="en-US" b="1" dirty="0"/>
              </a:p>
              <a:p>
                <a:r>
                  <a:rPr lang="en-US" b="1" dirty="0"/>
                  <a:t>Answer:</a:t>
                </a:r>
                <a:r>
                  <a:rPr lang="en-US" dirty="0"/>
                  <a:t> 0.375 (or 37.5%)</a:t>
                </a:r>
              </a:p>
              <a:p>
                <a:pPr/>
                <a:endParaRPr lang="en-US" dirty="0"/>
              </a:p>
              <a:p>
                <a:r>
                  <a:rPr lang="en-IN" b="1" dirty="0"/>
                  <a:t>Binomial Distribution</a:t>
                </a:r>
              </a:p>
              <a:p>
                <a:r>
                  <a:rPr lang="en-IN" b="1" dirty="0"/>
                  <a:t>Problem:</a:t>
                </a:r>
                <a:br>
                  <a:rPr lang="en-IN" dirty="0"/>
                </a:br>
                <a:r>
                  <a:rPr lang="en-IN" dirty="0"/>
                  <a:t>A coin is tossed 5 times. Find the probability of getting exactly 3 heads.</a:t>
                </a:r>
              </a:p>
              <a:p>
                <a:r>
                  <a:rPr lang="en-IN" b="1" dirty="0"/>
                  <a:t>Solution:</a:t>
                </a:r>
                <a:br>
                  <a:rPr lang="en-IN" dirty="0"/>
                </a:br>
                <a:r>
                  <a:rPr lang="en-IN" dirty="0"/>
                  <a:t>Here,</a:t>
                </a:r>
                <a:br>
                  <a:rPr lang="en-IN" dirty="0"/>
                </a:br>
                <a:r>
                  <a:rPr lang="en-IN" dirty="0"/>
                  <a:t>n = 5,</a:t>
                </a:r>
                <a:br>
                  <a:rPr lang="en-IN" dirty="0"/>
                </a:br>
                <a:r>
                  <a:rPr lang="en-IN" dirty="0"/>
                  <a:t>x = 3,</a:t>
                </a:r>
                <a:br>
                  <a:rPr lang="en-IN" dirty="0"/>
                </a:br>
                <a:r>
                  <a:rPr lang="en-IN" dirty="0"/>
                  <a:t>p = 0.5</a:t>
                </a:r>
              </a:p>
              <a:p>
                <a14:m>
                  <m:oMathPara xmlns:m="http://schemas.openxmlformats.org/officeDocument/2006/math">
                    <m:oMathParaPr>
                      <m:jc m:val="centerGroup"/>
                    </m:oMathParaPr>
                    <m:oMath xmlns:m="http://schemas.openxmlformats.org/officeDocument/2006/math">
                      <m:r>
                        <a:rPr lang="en-IN" i="1"/>
                        <m:t>𝑃</m:t>
                      </m:r>
                      <m:d>
                        <m:dPr>
                          <m:ctrlPr>
                            <a:rPr lang="ar-AE" i="1"/>
                          </m:ctrlPr>
                        </m:dPr>
                        <m:e>
                          <m:r>
                            <a:rPr lang="ar-AE" i="1"/>
                            <m:t>𝑋</m:t>
                          </m:r>
                          <m:r>
                            <a:rPr lang="ar-AE"/>
                            <m:t>=</m:t>
                          </m:r>
                          <m:r>
                            <a:rPr lang="ar-AE"/>
                            <m:t>3</m:t>
                          </m:r>
                        </m:e>
                      </m:d>
                      <m:r>
                        <a:rPr lang="ar-AE"/>
                        <m:t>=</m:t>
                      </m:r>
                      <m:d>
                        <m:dPr>
                          <m:ctrlPr>
                            <a:rPr lang="ar-AE" i="1"/>
                          </m:ctrlPr>
                        </m:dPr>
                        <m:e>
                          <m:f>
                            <m:fPr>
                              <m:type m:val="noBar"/>
                              <m:ctrlPr>
                                <a:rPr lang="ar-AE" i="1"/>
                              </m:ctrlPr>
                            </m:fPr>
                            <m:num>
                              <m:r>
                                <a:rPr lang="ar-AE"/>
                                <m:t>5</m:t>
                              </m:r>
                            </m:num>
                            <m:den>
                              <m:r>
                                <a:rPr lang="ar-AE"/>
                                <m:t>3</m:t>
                              </m:r>
                            </m:den>
                          </m:f>
                        </m:e>
                      </m:d>
                      <m:d>
                        <m:dPr>
                          <m:endChr m:val=""/>
                          <m:ctrlPr>
                            <a:rPr lang="ar-AE" i="1"/>
                          </m:ctrlPr>
                        </m:dPr>
                        <m:e>
                          <m:r>
                            <a:rPr lang="ar-AE"/>
                            <m:t>0</m:t>
                          </m:r>
                          <m:r>
                            <a:rPr lang="ar-AE"/>
                            <m:t>.</m:t>
                          </m:r>
                          <m:r>
                            <a:rPr lang="ar-AE"/>
                            <m:t>5</m:t>
                          </m:r>
                          <m:sSup>
                            <m:sSupPr>
                              <m:ctrlPr>
                                <a:rPr lang="ar-AE" i="1"/>
                              </m:ctrlPr>
                            </m:sSupPr>
                            <m:e>
                              <m:d>
                                <m:dPr>
                                  <m:begChr m:val=""/>
                                  <m:endChr m:val=""/>
                                  <m:ctrlPr>
                                    <a:rPr lang="ar-AE" i="1"/>
                                  </m:ctrlPr>
                                </m:dPr>
                                <m:e>
                                  <m:r>
                                    <a:rPr lang="ar-AE"/>
                                    <m:t>)</m:t>
                                  </m:r>
                                </m:e>
                              </m:d>
                            </m:e>
                            <m:sup>
                              <m:r>
                                <a:rPr lang="ar-AE"/>
                                <m:t>3</m:t>
                              </m:r>
                            </m:sup>
                          </m:sSup>
                          <m:d>
                            <m:dPr>
                              <m:endChr m:val=""/>
                              <m:ctrlPr>
                                <a:rPr lang="ar-AE" i="1"/>
                              </m:ctrlPr>
                            </m:dPr>
                            <m:e>
                              <m:r>
                                <a:rPr lang="ar-AE"/>
                                <m:t>0</m:t>
                              </m:r>
                              <m:r>
                                <a:rPr lang="ar-AE"/>
                                <m:t>.</m:t>
                              </m:r>
                              <m:r>
                                <a:rPr lang="ar-AE"/>
                                <m:t>5</m:t>
                              </m:r>
                              <m:sSup>
                                <m:sSupPr>
                                  <m:ctrlPr>
                                    <a:rPr lang="ar-AE" i="1"/>
                                  </m:ctrlPr>
                                </m:sSupPr>
                                <m:e>
                                  <m:d>
                                    <m:dPr>
                                      <m:begChr m:val=""/>
                                      <m:endChr m:val=""/>
                                      <m:ctrlPr>
                                        <a:rPr lang="ar-AE" i="1"/>
                                      </m:ctrlPr>
                                    </m:dPr>
                                    <m:e>
                                      <m:r>
                                        <a:rPr lang="ar-AE"/>
                                        <m:t>)</m:t>
                                      </m:r>
                                    </m:e>
                                  </m:d>
                                </m:e>
                                <m:sup>
                                  <m:r>
                                    <a:rPr lang="ar-AE"/>
                                    <m:t>2</m:t>
                                  </m:r>
                                </m:sup>
                              </m:sSup>
                            </m:e>
                          </m:d>
                        </m:e>
                      </m:d>
                    </m:oMath>
                  </m:oMathPara>
                </a14:m>
                <a:endParaRPr lang="ar-AE" dirty="0"/>
              </a:p>
              <a:p>
                <a14:m>
                  <m:oMathPara xmlns:m="http://schemas.openxmlformats.org/officeDocument/2006/math">
                    <m:oMathParaPr>
                      <m:jc m:val="centerGroup"/>
                    </m:oMathParaPr>
                    <m:oMath xmlns:m="http://schemas.openxmlformats.org/officeDocument/2006/math">
                      <m:r>
                        <a:rPr lang="ar-AE"/>
                        <m:t>=</m:t>
                      </m:r>
                      <m:r>
                        <a:rPr lang="ar-AE"/>
                        <m:t>10</m:t>
                      </m:r>
                      <m:r>
                        <a:rPr lang="ar-AE"/>
                        <m:t>×</m:t>
                      </m:r>
                      <m:r>
                        <a:rPr lang="ar-AE"/>
                        <m:t>0</m:t>
                      </m:r>
                      <m:r>
                        <a:rPr lang="ar-AE"/>
                        <m:t>.</m:t>
                      </m:r>
                      <m:r>
                        <a:rPr lang="ar-AE"/>
                        <m:t>125</m:t>
                      </m:r>
                      <m:r>
                        <a:rPr lang="ar-AE"/>
                        <m:t>×</m:t>
                      </m:r>
                      <m:r>
                        <a:rPr lang="ar-AE"/>
                        <m:t>0</m:t>
                      </m:r>
                      <m:r>
                        <a:rPr lang="ar-AE"/>
                        <m:t>.</m:t>
                      </m:r>
                      <m:r>
                        <a:rPr lang="ar-AE"/>
                        <m:t>25</m:t>
                      </m:r>
                      <m:r>
                        <a:rPr lang="ar-AE"/>
                        <m:t>=</m:t>
                      </m:r>
                      <m:r>
                        <a:rPr lang="ar-AE"/>
                        <m:t>0</m:t>
                      </m:r>
                      <m:r>
                        <a:rPr lang="ar-AE"/>
                        <m:t>.</m:t>
                      </m:r>
                      <m:r>
                        <a:rPr lang="ar-AE"/>
                        <m:t>3125</m:t>
                      </m:r>
                    </m:oMath>
                  </m:oMathPara>
                </a14:m>
                <a:endParaRPr lang="ar-AE" dirty="0"/>
              </a:p>
              <a:p>
                <a:r>
                  <a:rPr lang="en-IN" b="1" dirty="0"/>
                  <a:t>Answer:</a:t>
                </a:r>
                <a:r>
                  <a:rPr lang="en-IN" dirty="0"/>
                  <a:t> 0.3125</a:t>
                </a:r>
              </a:p>
            </p:txBody>
          </p:sp>
        </mc:Choice>
        <mc:Fallback>
          <p:sp>
            <p:nvSpPr>
              <p:cNvPr id="3" name="TextBox 2">
                <a:extLst>
                  <a:ext uri="{FF2B5EF4-FFF2-40B4-BE49-F238E27FC236}">
                    <a16:creationId xmlns:a16="http://schemas.microsoft.com/office/drawing/2014/main" id="{F87A5D89-CCE8-D29D-C65C-1CD2EDB93654}"/>
                  </a:ext>
                </a:extLst>
              </p:cNvPr>
              <p:cNvSpPr txBox="1">
                <a:spLocks noRot="1" noChangeAspect="1" noMove="1" noResize="1" noEditPoints="1" noAdjustHandles="1" noChangeArrowheads="1" noChangeShapeType="1" noTextEdit="1"/>
              </p:cNvSpPr>
              <p:nvPr/>
            </p:nvSpPr>
            <p:spPr>
              <a:xfrm>
                <a:off x="526026" y="0"/>
                <a:ext cx="11139948" cy="6837064"/>
              </a:xfrm>
              <a:prstGeom prst="rect">
                <a:avLst/>
              </a:prstGeom>
              <a:blipFill>
                <a:blip r:embed="rId2"/>
                <a:stretch>
                  <a:fillRect l="-438" b="-446"/>
                </a:stretch>
              </a:blipFill>
            </p:spPr>
            <p:txBody>
              <a:bodyPr/>
              <a:lstStyle/>
              <a:p>
                <a:r>
                  <a:rPr lang="en-IN">
                    <a:noFill/>
                  </a:rPr>
                  <a:t> </a:t>
                </a:r>
              </a:p>
            </p:txBody>
          </p:sp>
        </mc:Fallback>
      </mc:AlternateContent>
    </p:spTree>
    <p:extLst>
      <p:ext uri="{BB962C8B-B14F-4D97-AF65-F5344CB8AC3E}">
        <p14:creationId xmlns:p14="http://schemas.microsoft.com/office/powerpoint/2010/main" val="3891443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53006115-3442-5D9D-117E-6DC6D508937F}"/>
                  </a:ext>
                </a:extLst>
              </p:cNvPr>
              <p:cNvSpPr txBox="1"/>
              <p:nvPr/>
            </p:nvSpPr>
            <p:spPr>
              <a:xfrm>
                <a:off x="422787" y="448496"/>
                <a:ext cx="11287432" cy="4969437"/>
              </a:xfrm>
              <a:prstGeom prst="rect">
                <a:avLst/>
              </a:prstGeom>
              <a:noFill/>
            </p:spPr>
            <p:txBody>
              <a:bodyPr wrap="square">
                <a:spAutoFit/>
              </a:bodyPr>
              <a:lstStyle/>
              <a:p>
                <a:pPr>
                  <a:buNone/>
                </a:pPr>
                <a:r>
                  <a:rPr lang="en-IN" b="1" dirty="0">
                    <a:solidFill>
                      <a:srgbClr val="FF0000"/>
                    </a:solidFill>
                  </a:rPr>
                  <a:t>Expected Value</a:t>
                </a:r>
              </a:p>
              <a:p>
                <a:pPr>
                  <a:buNone/>
                </a:pPr>
                <a:r>
                  <a:rPr lang="en-IN" b="1" dirty="0"/>
                  <a:t>Problem:</a:t>
                </a:r>
                <a:br>
                  <a:rPr lang="en-IN" dirty="0"/>
                </a:br>
                <a:r>
                  <a:rPr lang="en-IN" dirty="0"/>
                  <a:t>A random variable X takes values 1, 2, and 3 with probabilities 0.2, 0.5, and 0.3 respectively. Find E(X).</a:t>
                </a:r>
              </a:p>
              <a:p>
                <a:pPr>
                  <a:buNone/>
                </a:pPr>
                <a:r>
                  <a:rPr lang="en-IN" b="1" dirty="0"/>
                  <a:t>Solution:</a:t>
                </a:r>
                <a:endParaRPr lang="en-IN" dirty="0"/>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𝐸</m:t>
                      </m:r>
                      <m:d>
                        <m:dPr>
                          <m:ctrlPr>
                            <a:rPr lang="ar-AE" i="1">
                              <a:latin typeface="Cambria Math" panose="02040503050406030204" pitchFamily="18" charset="0"/>
                            </a:rPr>
                          </m:ctrlPr>
                        </m:dPr>
                        <m:e>
                          <m:r>
                            <a:rPr lang="ar-AE" i="1">
                              <a:latin typeface="Cambria Math" panose="02040503050406030204" pitchFamily="18" charset="0"/>
                            </a:rPr>
                            <m:t>𝑋</m:t>
                          </m:r>
                        </m:e>
                      </m:d>
                      <m:r>
                        <a:rPr lang="ar-AE" i="0">
                          <a:latin typeface="Cambria Math" panose="02040503050406030204" pitchFamily="18" charset="0"/>
                        </a:rPr>
                        <m:t>=</m:t>
                      </m:r>
                      <m:r>
                        <a:rPr lang="ar-AE" i="0">
                          <a:latin typeface="Cambria Math" panose="02040503050406030204" pitchFamily="18" charset="0"/>
                        </a:rPr>
                        <m:t>1</m:t>
                      </m:r>
                      <m:d>
                        <m:dPr>
                          <m:ctrlPr>
                            <a:rPr lang="ar-AE" i="1">
                              <a:latin typeface="Cambria Math" panose="02040503050406030204" pitchFamily="18" charset="0"/>
                            </a:rPr>
                          </m:ctrlPr>
                        </m:dPr>
                        <m:e>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2</m:t>
                          </m:r>
                        </m:e>
                      </m:d>
                      <m:r>
                        <a:rPr lang="ar-AE" i="0">
                          <a:latin typeface="Cambria Math" panose="02040503050406030204" pitchFamily="18" charset="0"/>
                        </a:rPr>
                        <m:t>+</m:t>
                      </m:r>
                      <m:r>
                        <a:rPr lang="ar-AE" i="0">
                          <a:latin typeface="Cambria Math" panose="02040503050406030204" pitchFamily="18" charset="0"/>
                        </a:rPr>
                        <m:t>2</m:t>
                      </m:r>
                      <m:d>
                        <m:dPr>
                          <m:ctrlPr>
                            <a:rPr lang="ar-AE" i="1">
                              <a:latin typeface="Cambria Math" panose="02040503050406030204" pitchFamily="18" charset="0"/>
                            </a:rPr>
                          </m:ctrlPr>
                        </m:dPr>
                        <m:e>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m:t>
                          </m:r>
                        </m:e>
                      </m:d>
                      <m:r>
                        <a:rPr lang="ar-AE" i="0">
                          <a:latin typeface="Cambria Math" panose="02040503050406030204" pitchFamily="18" charset="0"/>
                        </a:rPr>
                        <m:t>+</m:t>
                      </m:r>
                      <m:r>
                        <a:rPr lang="ar-AE" i="0">
                          <a:latin typeface="Cambria Math" panose="02040503050406030204" pitchFamily="18" charset="0"/>
                        </a:rPr>
                        <m:t>3</m:t>
                      </m:r>
                      <m:d>
                        <m:dPr>
                          <m:ctrlPr>
                            <a:rPr lang="ar-AE" i="1">
                              <a:latin typeface="Cambria Math" panose="02040503050406030204" pitchFamily="18" charset="0"/>
                            </a:rPr>
                          </m:ctrlPr>
                        </m:dPr>
                        <m:e>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3</m:t>
                          </m:r>
                        </m:e>
                      </m:d>
                    </m:oMath>
                  </m:oMathPara>
                </a14:m>
                <a:endParaRPr lang="ar-AE" dirty="0"/>
              </a:p>
              <a:p>
                <a:pPr>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𝐸</m:t>
                      </m:r>
                      <m:d>
                        <m:dPr>
                          <m:ctrlPr>
                            <a:rPr lang="ar-AE" i="1">
                              <a:latin typeface="Cambria Math" panose="02040503050406030204" pitchFamily="18" charset="0"/>
                            </a:rPr>
                          </m:ctrlPr>
                        </m:dPr>
                        <m:e>
                          <m:r>
                            <a:rPr lang="ar-AE" i="1">
                              <a:latin typeface="Cambria Math" panose="02040503050406030204" pitchFamily="18" charset="0"/>
                            </a:rPr>
                            <m:t>𝑋</m:t>
                          </m:r>
                        </m:e>
                      </m:d>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2</m:t>
                      </m:r>
                      <m:r>
                        <a:rPr lang="ar-AE" i="0">
                          <a:latin typeface="Cambria Math" panose="02040503050406030204" pitchFamily="18" charset="0"/>
                        </a:rPr>
                        <m:t>+</m:t>
                      </m:r>
                      <m:r>
                        <a:rPr lang="ar-AE" i="0">
                          <a:latin typeface="Cambria Math" panose="02040503050406030204" pitchFamily="18" charset="0"/>
                        </a:rPr>
                        <m:t>1</m:t>
                      </m:r>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9</m:t>
                      </m:r>
                      <m:r>
                        <a:rPr lang="ar-AE" i="0">
                          <a:latin typeface="Cambria Math" panose="02040503050406030204" pitchFamily="18" charset="0"/>
                        </a:rPr>
                        <m:t>=</m:t>
                      </m:r>
                      <m:r>
                        <a:rPr lang="ar-AE" i="0">
                          <a:latin typeface="Cambria Math" panose="02040503050406030204" pitchFamily="18" charset="0"/>
                        </a:rPr>
                        <m:t>2</m:t>
                      </m:r>
                      <m:r>
                        <a:rPr lang="ar-AE" i="0">
                          <a:latin typeface="Cambria Math" panose="02040503050406030204" pitchFamily="18" charset="0"/>
                        </a:rPr>
                        <m:t>.</m:t>
                      </m:r>
                      <m:r>
                        <a:rPr lang="ar-AE" i="0">
                          <a:latin typeface="Cambria Math" panose="02040503050406030204" pitchFamily="18" charset="0"/>
                        </a:rPr>
                        <m:t>1</m:t>
                      </m:r>
                    </m:oMath>
                  </m:oMathPara>
                </a14:m>
                <a:endParaRPr lang="ar-AE" dirty="0"/>
              </a:p>
              <a:p>
                <a:pPr>
                  <a:buNone/>
                </a:pPr>
                <a:r>
                  <a:rPr lang="en-IN" b="1" dirty="0"/>
                  <a:t>Answer:</a:t>
                </a:r>
                <a:r>
                  <a:rPr lang="en-IN" dirty="0"/>
                  <a:t> 2.1</a:t>
                </a:r>
              </a:p>
              <a:p>
                <a:pPr>
                  <a:buNone/>
                </a:pPr>
                <a:endParaRPr lang="en-IN" dirty="0"/>
              </a:p>
              <a:p>
                <a:r>
                  <a:rPr lang="en-IN" b="1" dirty="0">
                    <a:solidFill>
                      <a:srgbClr val="FF0000"/>
                    </a:solidFill>
                  </a:rPr>
                  <a:t>Variance and Standard Deviation</a:t>
                </a:r>
              </a:p>
              <a:p>
                <a:r>
                  <a:rPr lang="en-IN" b="1" dirty="0"/>
                  <a:t>Problem:</a:t>
                </a:r>
                <a:br>
                  <a:rPr lang="en-IN" dirty="0"/>
                </a:br>
                <a:r>
                  <a:rPr lang="en-IN" dirty="0"/>
                  <a:t>Using the above distribution, find the variance.</a:t>
                </a:r>
              </a:p>
              <a:p>
                <a14:m>
                  <m:oMathPara xmlns:m="http://schemas.openxmlformats.org/officeDocument/2006/math">
                    <m:oMathParaPr>
                      <m:jc m:val="centerGroup"/>
                    </m:oMathParaPr>
                    <m:oMath xmlns:m="http://schemas.openxmlformats.org/officeDocument/2006/math">
                      <m:r>
                        <a:rPr lang="en-IN" i="1"/>
                        <m:t>𝐸</m:t>
                      </m:r>
                      <m:d>
                        <m:dPr>
                          <m:ctrlPr>
                            <a:rPr lang="ar-AE" i="1"/>
                          </m:ctrlPr>
                        </m:dPr>
                        <m:e>
                          <m:sSup>
                            <m:sSupPr>
                              <m:ctrlPr>
                                <a:rPr lang="ar-AE" i="1"/>
                              </m:ctrlPr>
                            </m:sSupPr>
                            <m:e>
                              <m:r>
                                <a:rPr lang="ar-AE" i="1"/>
                                <m:t>𝑋</m:t>
                              </m:r>
                            </m:e>
                            <m:sup>
                              <m:r>
                                <a:rPr lang="ar-AE"/>
                                <m:t>2</m:t>
                              </m:r>
                            </m:sup>
                          </m:sSup>
                        </m:e>
                      </m:d>
                      <m:r>
                        <a:rPr lang="ar-AE"/>
                        <m:t>=</m:t>
                      </m:r>
                      <m:sSup>
                        <m:sSupPr>
                          <m:ctrlPr>
                            <a:rPr lang="ar-AE" i="1"/>
                          </m:ctrlPr>
                        </m:sSupPr>
                        <m:e>
                          <m:r>
                            <a:rPr lang="ar-AE"/>
                            <m:t>1</m:t>
                          </m:r>
                        </m:e>
                        <m:sup>
                          <m:r>
                            <a:rPr lang="ar-AE"/>
                            <m:t>2</m:t>
                          </m:r>
                        </m:sup>
                      </m:sSup>
                      <m:d>
                        <m:dPr>
                          <m:ctrlPr>
                            <a:rPr lang="ar-AE" i="1"/>
                          </m:ctrlPr>
                        </m:dPr>
                        <m:e>
                          <m:r>
                            <a:rPr lang="ar-AE"/>
                            <m:t>0</m:t>
                          </m:r>
                          <m:r>
                            <a:rPr lang="ar-AE"/>
                            <m:t>.</m:t>
                          </m:r>
                          <m:r>
                            <a:rPr lang="ar-AE"/>
                            <m:t>2</m:t>
                          </m:r>
                        </m:e>
                      </m:d>
                      <m:r>
                        <a:rPr lang="ar-AE"/>
                        <m:t>+</m:t>
                      </m:r>
                      <m:sSup>
                        <m:sSupPr>
                          <m:ctrlPr>
                            <a:rPr lang="ar-AE" i="1"/>
                          </m:ctrlPr>
                        </m:sSupPr>
                        <m:e>
                          <m:r>
                            <a:rPr lang="ar-AE"/>
                            <m:t>2</m:t>
                          </m:r>
                        </m:e>
                        <m:sup>
                          <m:r>
                            <a:rPr lang="ar-AE"/>
                            <m:t>2</m:t>
                          </m:r>
                        </m:sup>
                      </m:sSup>
                      <m:d>
                        <m:dPr>
                          <m:ctrlPr>
                            <a:rPr lang="ar-AE" i="1"/>
                          </m:ctrlPr>
                        </m:dPr>
                        <m:e>
                          <m:r>
                            <a:rPr lang="ar-AE"/>
                            <m:t>0</m:t>
                          </m:r>
                          <m:r>
                            <a:rPr lang="ar-AE"/>
                            <m:t>.</m:t>
                          </m:r>
                          <m:r>
                            <a:rPr lang="ar-AE"/>
                            <m:t>5</m:t>
                          </m:r>
                        </m:e>
                      </m:d>
                      <m:r>
                        <a:rPr lang="ar-AE"/>
                        <m:t>+</m:t>
                      </m:r>
                      <m:sSup>
                        <m:sSupPr>
                          <m:ctrlPr>
                            <a:rPr lang="ar-AE" i="1"/>
                          </m:ctrlPr>
                        </m:sSupPr>
                        <m:e>
                          <m:r>
                            <a:rPr lang="ar-AE"/>
                            <m:t>3</m:t>
                          </m:r>
                        </m:e>
                        <m:sup>
                          <m:r>
                            <a:rPr lang="ar-AE"/>
                            <m:t>2</m:t>
                          </m:r>
                        </m:sup>
                      </m:sSup>
                      <m:d>
                        <m:dPr>
                          <m:ctrlPr>
                            <a:rPr lang="ar-AE" i="1"/>
                          </m:ctrlPr>
                        </m:dPr>
                        <m:e>
                          <m:r>
                            <a:rPr lang="ar-AE"/>
                            <m:t>0</m:t>
                          </m:r>
                          <m:r>
                            <a:rPr lang="ar-AE"/>
                            <m:t>.</m:t>
                          </m:r>
                          <m:r>
                            <a:rPr lang="ar-AE"/>
                            <m:t>3</m:t>
                          </m:r>
                        </m:e>
                      </m:d>
                    </m:oMath>
                  </m:oMathPara>
                </a14:m>
                <a:endParaRPr lang="ar-AE" dirty="0"/>
              </a:p>
              <a:p>
                <a14:m>
                  <m:oMathPara xmlns:m="http://schemas.openxmlformats.org/officeDocument/2006/math">
                    <m:oMathParaPr>
                      <m:jc m:val="centerGroup"/>
                    </m:oMathParaPr>
                    <m:oMath xmlns:m="http://schemas.openxmlformats.org/officeDocument/2006/math">
                      <m:r>
                        <a:rPr lang="ar-AE"/>
                        <m:t>=</m:t>
                      </m:r>
                      <m:r>
                        <a:rPr lang="ar-AE"/>
                        <m:t>0</m:t>
                      </m:r>
                      <m:r>
                        <a:rPr lang="ar-AE"/>
                        <m:t>.</m:t>
                      </m:r>
                      <m:r>
                        <a:rPr lang="ar-AE"/>
                        <m:t>2</m:t>
                      </m:r>
                      <m:r>
                        <a:rPr lang="ar-AE"/>
                        <m:t>+</m:t>
                      </m:r>
                      <m:r>
                        <a:rPr lang="ar-AE"/>
                        <m:t>2</m:t>
                      </m:r>
                      <m:r>
                        <a:rPr lang="ar-AE"/>
                        <m:t>+</m:t>
                      </m:r>
                      <m:r>
                        <a:rPr lang="ar-AE"/>
                        <m:t>2</m:t>
                      </m:r>
                      <m:r>
                        <a:rPr lang="ar-AE"/>
                        <m:t>.</m:t>
                      </m:r>
                      <m:r>
                        <a:rPr lang="ar-AE"/>
                        <m:t>7</m:t>
                      </m:r>
                      <m:r>
                        <a:rPr lang="ar-AE"/>
                        <m:t>=</m:t>
                      </m:r>
                      <m:r>
                        <a:rPr lang="ar-AE"/>
                        <m:t>4</m:t>
                      </m:r>
                      <m:r>
                        <a:rPr lang="ar-AE"/>
                        <m:t>.</m:t>
                      </m:r>
                      <m:r>
                        <a:rPr lang="ar-AE"/>
                        <m:t>9</m:t>
                      </m:r>
                    </m:oMath>
                  </m:oMathPara>
                </a14:m>
                <a:endParaRPr lang="ar-AE" dirty="0"/>
              </a:p>
              <a:p>
                <a14:m>
                  <m:oMathPara xmlns:m="http://schemas.openxmlformats.org/officeDocument/2006/math">
                    <m:oMathParaPr>
                      <m:jc m:val="centerGroup"/>
                    </m:oMathParaPr>
                    <m:oMath xmlns:m="http://schemas.openxmlformats.org/officeDocument/2006/math">
                      <m:r>
                        <a:rPr lang="ar-AE" i="1"/>
                        <m:t>𝑉𝑎𝑟</m:t>
                      </m:r>
                      <m:d>
                        <m:dPr>
                          <m:ctrlPr>
                            <a:rPr lang="ar-AE" i="1"/>
                          </m:ctrlPr>
                        </m:dPr>
                        <m:e>
                          <m:r>
                            <a:rPr lang="ar-AE" i="1"/>
                            <m:t>𝑋</m:t>
                          </m:r>
                        </m:e>
                      </m:d>
                      <m:r>
                        <a:rPr lang="ar-AE"/>
                        <m:t>=</m:t>
                      </m:r>
                      <m:r>
                        <a:rPr lang="ar-AE" i="1"/>
                        <m:t>𝐸</m:t>
                      </m:r>
                      <m:d>
                        <m:dPr>
                          <m:ctrlPr>
                            <a:rPr lang="ar-AE" i="1"/>
                          </m:ctrlPr>
                        </m:dPr>
                        <m:e>
                          <m:sSup>
                            <m:sSupPr>
                              <m:ctrlPr>
                                <a:rPr lang="ar-AE" i="1"/>
                              </m:ctrlPr>
                            </m:sSupPr>
                            <m:e>
                              <m:r>
                                <a:rPr lang="ar-AE" i="1"/>
                                <m:t>𝑋</m:t>
                              </m:r>
                            </m:e>
                            <m:sup>
                              <m:r>
                                <a:rPr lang="ar-AE"/>
                                <m:t>2</m:t>
                              </m:r>
                            </m:sup>
                          </m:sSup>
                        </m:e>
                      </m:d>
                      <m:r>
                        <a:rPr lang="ar-AE"/>
                        <m:t>−</m:t>
                      </m:r>
                      <m:d>
                        <m:dPr>
                          <m:begChr m:val="["/>
                          <m:endChr m:val=""/>
                          <m:ctrlPr>
                            <a:rPr lang="ar-AE" i="1"/>
                          </m:ctrlPr>
                        </m:dPr>
                        <m:e>
                          <m:r>
                            <a:rPr lang="ar-AE" i="1"/>
                            <m:t>𝐸</m:t>
                          </m:r>
                          <m:d>
                            <m:dPr>
                              <m:ctrlPr>
                                <a:rPr lang="ar-AE" i="1"/>
                              </m:ctrlPr>
                            </m:dPr>
                            <m:e>
                              <m:r>
                                <a:rPr lang="ar-AE" i="1"/>
                                <m:t>𝑋</m:t>
                              </m:r>
                            </m:e>
                          </m:d>
                          <m:sSup>
                            <m:sSupPr>
                              <m:ctrlPr>
                                <a:rPr lang="ar-AE" i="1"/>
                              </m:ctrlPr>
                            </m:sSupPr>
                            <m:e>
                              <m:d>
                                <m:dPr>
                                  <m:begChr m:val=""/>
                                  <m:endChr m:val=""/>
                                  <m:ctrlPr>
                                    <a:rPr lang="ar-AE" i="1"/>
                                  </m:ctrlPr>
                                </m:dPr>
                                <m:e>
                                  <m:r>
                                    <a:rPr lang="ar-AE"/>
                                    <m:t>]</m:t>
                                  </m:r>
                                </m:e>
                              </m:d>
                            </m:e>
                            <m:sup>
                              <m:r>
                                <a:rPr lang="ar-AE"/>
                                <m:t>2</m:t>
                              </m:r>
                            </m:sup>
                          </m:sSup>
                          <m:r>
                            <a:rPr lang="ar-AE"/>
                            <m:t>=</m:t>
                          </m:r>
                          <m:r>
                            <a:rPr lang="ar-AE"/>
                            <m:t>4</m:t>
                          </m:r>
                          <m:r>
                            <a:rPr lang="ar-AE"/>
                            <m:t>.</m:t>
                          </m:r>
                          <m:r>
                            <a:rPr lang="ar-AE"/>
                            <m:t>9</m:t>
                          </m:r>
                          <m:r>
                            <a:rPr lang="ar-AE"/>
                            <m:t>−</m:t>
                          </m:r>
                          <m:d>
                            <m:dPr>
                              <m:endChr m:val=""/>
                              <m:ctrlPr>
                                <a:rPr lang="ar-AE" i="1"/>
                              </m:ctrlPr>
                            </m:dPr>
                            <m:e>
                              <m:r>
                                <a:rPr lang="ar-AE"/>
                                <m:t>2</m:t>
                              </m:r>
                              <m:r>
                                <a:rPr lang="ar-AE"/>
                                <m:t>.</m:t>
                              </m:r>
                              <m:r>
                                <a:rPr lang="ar-AE"/>
                                <m:t>1</m:t>
                              </m:r>
                              <m:sSup>
                                <m:sSupPr>
                                  <m:ctrlPr>
                                    <a:rPr lang="ar-AE" i="1"/>
                                  </m:ctrlPr>
                                </m:sSupPr>
                                <m:e>
                                  <m:d>
                                    <m:dPr>
                                      <m:begChr m:val=""/>
                                      <m:endChr m:val=""/>
                                      <m:ctrlPr>
                                        <a:rPr lang="ar-AE" i="1"/>
                                      </m:ctrlPr>
                                    </m:dPr>
                                    <m:e>
                                      <m:r>
                                        <a:rPr lang="ar-AE"/>
                                        <m:t>)</m:t>
                                      </m:r>
                                    </m:e>
                                  </m:d>
                                </m:e>
                                <m:sup>
                                  <m:r>
                                    <a:rPr lang="ar-AE"/>
                                    <m:t>2</m:t>
                                  </m:r>
                                </m:sup>
                              </m:sSup>
                              <m:r>
                                <a:rPr lang="ar-AE"/>
                                <m:t>=</m:t>
                              </m:r>
                              <m:r>
                                <a:rPr lang="ar-AE"/>
                                <m:t>4</m:t>
                              </m:r>
                              <m:r>
                                <a:rPr lang="ar-AE"/>
                                <m:t>.</m:t>
                              </m:r>
                              <m:r>
                                <a:rPr lang="ar-AE"/>
                                <m:t>9</m:t>
                              </m:r>
                              <m:r>
                                <a:rPr lang="ar-AE"/>
                                <m:t>−</m:t>
                              </m:r>
                              <m:r>
                                <a:rPr lang="ar-AE"/>
                                <m:t>4</m:t>
                              </m:r>
                              <m:r>
                                <a:rPr lang="ar-AE"/>
                                <m:t>.</m:t>
                              </m:r>
                              <m:r>
                                <a:rPr lang="ar-AE"/>
                                <m:t>41</m:t>
                              </m:r>
                              <m:r>
                                <a:rPr lang="ar-AE"/>
                                <m:t>=</m:t>
                              </m:r>
                              <m:r>
                                <a:rPr lang="ar-AE"/>
                                <m:t>0</m:t>
                              </m:r>
                              <m:r>
                                <a:rPr lang="ar-AE"/>
                                <m:t>.</m:t>
                              </m:r>
                              <m:r>
                                <a:rPr lang="ar-AE"/>
                                <m:t>49</m:t>
                              </m:r>
                            </m:e>
                          </m:d>
                        </m:e>
                      </m:d>
                    </m:oMath>
                  </m:oMathPara>
                </a14:m>
                <a:endParaRPr lang="ar-AE" dirty="0"/>
              </a:p>
              <a:p>
                <a14:m>
                  <m:oMathPara xmlns:m="http://schemas.openxmlformats.org/officeDocument/2006/math">
                    <m:oMathParaPr>
                      <m:jc m:val="centerGroup"/>
                    </m:oMathParaPr>
                    <m:oMath xmlns:m="http://schemas.openxmlformats.org/officeDocument/2006/math">
                      <m:r>
                        <a:rPr lang="ar-AE" i="1"/>
                        <m:t>𝑆𝐷</m:t>
                      </m:r>
                      <m:r>
                        <a:rPr lang="ar-AE"/>
                        <m:t>=</m:t>
                      </m:r>
                      <m:rad>
                        <m:radPr>
                          <m:degHide m:val="on"/>
                          <m:ctrlPr>
                            <a:rPr lang="ar-AE" i="1"/>
                          </m:ctrlPr>
                        </m:radPr>
                        <m:deg/>
                        <m:e>
                          <m:r>
                            <a:rPr lang="ar-AE"/>
                            <m:t>0</m:t>
                          </m:r>
                          <m:r>
                            <a:rPr lang="ar-AE"/>
                            <m:t>.</m:t>
                          </m:r>
                          <m:r>
                            <a:rPr lang="ar-AE"/>
                            <m:t>49</m:t>
                          </m:r>
                        </m:e>
                      </m:rad>
                      <m:r>
                        <a:rPr lang="ar-AE"/>
                        <m:t>=</m:t>
                      </m:r>
                      <m:r>
                        <a:rPr lang="ar-AE"/>
                        <m:t>0</m:t>
                      </m:r>
                      <m:r>
                        <a:rPr lang="ar-AE"/>
                        <m:t>.</m:t>
                      </m:r>
                      <m:r>
                        <a:rPr lang="ar-AE"/>
                        <m:t>7</m:t>
                      </m:r>
                    </m:oMath>
                  </m:oMathPara>
                </a14:m>
                <a:endParaRPr lang="ar-AE" dirty="0"/>
              </a:p>
              <a:p>
                <a:r>
                  <a:rPr lang="en-IN" b="1" dirty="0"/>
                  <a:t>Answer:</a:t>
                </a:r>
                <a:r>
                  <a:rPr lang="en-IN" dirty="0"/>
                  <a:t> Variance = 0.49, Standard Deviation = 0.7</a:t>
                </a:r>
              </a:p>
              <a:p>
                <a:pPr>
                  <a:buNone/>
                </a:pPr>
                <a:endParaRPr lang="en-IN" dirty="0"/>
              </a:p>
            </p:txBody>
          </p:sp>
        </mc:Choice>
        <mc:Fallback>
          <p:sp>
            <p:nvSpPr>
              <p:cNvPr id="3" name="TextBox 2">
                <a:extLst>
                  <a:ext uri="{FF2B5EF4-FFF2-40B4-BE49-F238E27FC236}">
                    <a16:creationId xmlns:a16="http://schemas.microsoft.com/office/drawing/2014/main" id="{53006115-3442-5D9D-117E-6DC6D508937F}"/>
                  </a:ext>
                </a:extLst>
              </p:cNvPr>
              <p:cNvSpPr txBox="1">
                <a:spLocks noRot="1" noChangeAspect="1" noMove="1" noResize="1" noEditPoints="1" noAdjustHandles="1" noChangeArrowheads="1" noChangeShapeType="1" noTextEdit="1"/>
              </p:cNvSpPr>
              <p:nvPr/>
            </p:nvSpPr>
            <p:spPr>
              <a:xfrm>
                <a:off x="422787" y="448496"/>
                <a:ext cx="11287432" cy="4969437"/>
              </a:xfrm>
              <a:prstGeom prst="rect">
                <a:avLst/>
              </a:prstGeom>
              <a:blipFill>
                <a:blip r:embed="rId2"/>
                <a:stretch>
                  <a:fillRect l="-432" t="-613" b="-8344"/>
                </a:stretch>
              </a:blipFill>
            </p:spPr>
            <p:txBody>
              <a:bodyPr/>
              <a:lstStyle/>
              <a:p>
                <a:r>
                  <a:rPr lang="en-IN">
                    <a:noFill/>
                  </a:rPr>
                  <a:t> </a:t>
                </a:r>
              </a:p>
            </p:txBody>
          </p:sp>
        </mc:Fallback>
      </mc:AlternateContent>
    </p:spTree>
    <p:extLst>
      <p:ext uri="{BB962C8B-B14F-4D97-AF65-F5344CB8AC3E}">
        <p14:creationId xmlns:p14="http://schemas.microsoft.com/office/powerpoint/2010/main" val="1084776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B112485-A275-17D0-E0A5-0CDE74BDAE17}"/>
                  </a:ext>
                </a:extLst>
              </p:cNvPr>
              <p:cNvSpPr txBox="1"/>
              <p:nvPr/>
            </p:nvSpPr>
            <p:spPr>
              <a:xfrm>
                <a:off x="432619" y="338646"/>
                <a:ext cx="11277600" cy="6119111"/>
              </a:xfrm>
              <a:prstGeom prst="rect">
                <a:avLst/>
              </a:prstGeom>
              <a:noFill/>
            </p:spPr>
            <p:txBody>
              <a:bodyPr wrap="square">
                <a:spAutoFit/>
              </a:bodyPr>
              <a:lstStyle/>
              <a:p>
                <a:pPr>
                  <a:buNone/>
                </a:pPr>
                <a:r>
                  <a:rPr lang="en-US" b="1" dirty="0">
                    <a:solidFill>
                      <a:srgbClr val="FF0000"/>
                    </a:solidFill>
                  </a:rPr>
                  <a:t>Law of Large Numbers</a:t>
                </a:r>
              </a:p>
              <a:p>
                <a:pPr>
                  <a:buNone/>
                </a:pPr>
                <a:r>
                  <a:rPr lang="en-US" b="1" dirty="0"/>
                  <a:t>Problem:</a:t>
                </a:r>
                <a:br>
                  <a:rPr lang="en-US" dirty="0"/>
                </a:br>
                <a:r>
                  <a:rPr lang="en-US" dirty="0"/>
                  <a:t>If a fair coin is tossed 10,000 times, what is the expected proportion of heads?</a:t>
                </a:r>
              </a:p>
              <a:p>
                <a:pPr>
                  <a:buNone/>
                </a:pPr>
                <a:r>
                  <a:rPr lang="en-US" b="1" dirty="0"/>
                  <a:t>Solution:</a:t>
                </a:r>
                <a:br>
                  <a:rPr lang="en-US" dirty="0"/>
                </a:br>
                <a:r>
                  <a:rPr lang="en-US" dirty="0"/>
                  <a:t>For a fair coin, probability of heads = 0.5</a:t>
                </a:r>
                <a:br>
                  <a:rPr lang="en-US" dirty="0"/>
                </a:br>
                <a:r>
                  <a:rPr lang="en-US" dirty="0"/>
                  <a:t>According to the Law of Large Numbers, as the number of trials increases, the sample mean approaches the true probability.</a:t>
                </a:r>
              </a:p>
              <a:p>
                <a:pPr>
                  <a:buNone/>
                </a:pPr>
                <a:r>
                  <a:rPr lang="en-US" b="1" dirty="0"/>
                  <a:t>Answer:</a:t>
                </a:r>
                <a:r>
                  <a:rPr lang="en-US" dirty="0"/>
                  <a:t> Approximately 0.5 (50%)</a:t>
                </a:r>
              </a:p>
              <a:p>
                <a:pPr>
                  <a:buNone/>
                </a:pPr>
                <a:endParaRPr lang="en-US" dirty="0"/>
              </a:p>
              <a:p>
                <a:r>
                  <a:rPr lang="en-IN" b="1" dirty="0">
                    <a:solidFill>
                      <a:srgbClr val="FF0000"/>
                    </a:solidFill>
                  </a:rPr>
                  <a:t>Normal Distribution Problem</a:t>
                </a:r>
              </a:p>
              <a:p>
                <a:r>
                  <a:rPr lang="en-IN" b="1" dirty="0"/>
                  <a:t>Problem:</a:t>
                </a:r>
                <a:br>
                  <a:rPr lang="en-IN" dirty="0"/>
                </a:br>
                <a:r>
                  <a:rPr lang="en-IN" dirty="0"/>
                  <a:t>Heights of students are normally distributed with mean = 170 cm and standard deviation = 10 cm. Find the probability that a student’s height is between 160 cm and 180 cm.</a:t>
                </a:r>
              </a:p>
              <a:p>
                <a:r>
                  <a:rPr lang="en-IN" b="1" dirty="0"/>
                  <a:t>Solution:</a:t>
                </a:r>
                <a:br>
                  <a:rPr lang="en-IN" dirty="0"/>
                </a:br>
                <a:r>
                  <a:rPr lang="en-IN" dirty="0"/>
                  <a:t>Convert to Z-scores:</a:t>
                </a:r>
              </a:p>
              <a:p>
                <a14:m>
                  <m:oMathPara xmlns:m="http://schemas.openxmlformats.org/officeDocument/2006/math">
                    <m:oMathParaPr>
                      <m:jc m:val="centerGroup"/>
                    </m:oMathParaPr>
                    <m:oMath xmlns:m="http://schemas.openxmlformats.org/officeDocument/2006/math">
                      <m:sSub>
                        <m:sSubPr>
                          <m:ctrlPr>
                            <a:rPr lang="ar-AE"/>
                          </m:ctrlPr>
                        </m:sSubPr>
                        <m:e>
                          <m:r>
                            <a:rPr lang="ar-AE" i="1"/>
                            <m:t>𝑍</m:t>
                          </m:r>
                        </m:e>
                        <m:sub>
                          <m:r>
                            <a:rPr lang="ar-AE"/>
                            <m:t>1</m:t>
                          </m:r>
                        </m:sub>
                      </m:sSub>
                      <m:r>
                        <a:rPr lang="ar-AE"/>
                        <m:t>=</m:t>
                      </m:r>
                      <m:f>
                        <m:fPr>
                          <m:ctrlPr>
                            <a:rPr lang="ar-AE" i="1"/>
                          </m:ctrlPr>
                        </m:fPr>
                        <m:num>
                          <m:r>
                            <a:rPr lang="ar-AE"/>
                            <m:t>160</m:t>
                          </m:r>
                          <m:r>
                            <a:rPr lang="ar-AE"/>
                            <m:t>−</m:t>
                          </m:r>
                          <m:r>
                            <a:rPr lang="ar-AE"/>
                            <m:t>170</m:t>
                          </m:r>
                        </m:num>
                        <m:den>
                          <m:r>
                            <a:rPr lang="ar-AE"/>
                            <m:t>10</m:t>
                          </m:r>
                        </m:den>
                      </m:f>
                      <m:r>
                        <a:rPr lang="ar-AE"/>
                        <m:t>=−</m:t>
                      </m:r>
                      <m:r>
                        <a:rPr lang="ar-AE"/>
                        <m:t>1</m:t>
                      </m:r>
                    </m:oMath>
                  </m:oMathPara>
                </a14:m>
                <a:endParaRPr lang="ar-AE" dirty="0"/>
              </a:p>
              <a:p>
                <a14:m>
                  <m:oMathPara xmlns:m="http://schemas.openxmlformats.org/officeDocument/2006/math">
                    <m:oMathParaPr>
                      <m:jc m:val="centerGroup"/>
                    </m:oMathParaPr>
                    <m:oMath xmlns:m="http://schemas.openxmlformats.org/officeDocument/2006/math">
                      <m:sSub>
                        <m:sSubPr>
                          <m:ctrlPr>
                            <a:rPr lang="ar-AE"/>
                          </m:ctrlPr>
                        </m:sSubPr>
                        <m:e>
                          <m:r>
                            <a:rPr lang="ar-AE" i="1"/>
                            <m:t>𝑍</m:t>
                          </m:r>
                        </m:e>
                        <m:sub>
                          <m:r>
                            <a:rPr lang="ar-AE"/>
                            <m:t>2</m:t>
                          </m:r>
                        </m:sub>
                      </m:sSub>
                      <m:r>
                        <a:rPr lang="ar-AE"/>
                        <m:t>=</m:t>
                      </m:r>
                      <m:f>
                        <m:fPr>
                          <m:ctrlPr>
                            <a:rPr lang="ar-AE" i="1"/>
                          </m:ctrlPr>
                        </m:fPr>
                        <m:num>
                          <m:r>
                            <a:rPr lang="ar-AE"/>
                            <m:t>180</m:t>
                          </m:r>
                          <m:r>
                            <a:rPr lang="ar-AE"/>
                            <m:t>−</m:t>
                          </m:r>
                          <m:r>
                            <a:rPr lang="ar-AE"/>
                            <m:t>170</m:t>
                          </m:r>
                        </m:num>
                        <m:den>
                          <m:r>
                            <a:rPr lang="ar-AE"/>
                            <m:t>10</m:t>
                          </m:r>
                        </m:den>
                      </m:f>
                      <m:r>
                        <a:rPr lang="ar-AE"/>
                        <m:t>=</m:t>
                      </m:r>
                      <m:r>
                        <a:rPr lang="ar-AE"/>
                        <m:t>1</m:t>
                      </m:r>
                    </m:oMath>
                  </m:oMathPara>
                </a14:m>
                <a:endParaRPr lang="ar-AE" dirty="0"/>
              </a:p>
              <a:p>
                <a:r>
                  <a:rPr lang="en-IN" dirty="0"/>
                  <a:t>From Z-table:</a:t>
                </a:r>
              </a:p>
              <a:p>
                <a14:m>
                  <m:oMathPara xmlns:m="http://schemas.openxmlformats.org/officeDocument/2006/math">
                    <m:oMathParaPr>
                      <m:jc m:val="centerGroup"/>
                    </m:oMathParaPr>
                    <m:oMath xmlns:m="http://schemas.openxmlformats.org/officeDocument/2006/math">
                      <m:r>
                        <a:rPr lang="en-IN" i="1"/>
                        <m:t>𝑃</m:t>
                      </m:r>
                      <m:d>
                        <m:dPr>
                          <m:ctrlPr>
                            <a:rPr lang="ar-AE" i="1"/>
                          </m:ctrlPr>
                        </m:dPr>
                        <m:e>
                          <m:r>
                            <a:rPr lang="ar-AE"/>
                            <m:t>−</m:t>
                          </m:r>
                          <m:r>
                            <a:rPr lang="ar-AE"/>
                            <m:t>1</m:t>
                          </m:r>
                          <m:r>
                            <a:rPr lang="ar-AE"/>
                            <m:t>&lt;</m:t>
                          </m:r>
                          <m:r>
                            <a:rPr lang="ar-AE" i="1"/>
                            <m:t>𝑍</m:t>
                          </m:r>
                          <m:r>
                            <a:rPr lang="ar-AE"/>
                            <m:t>&lt;</m:t>
                          </m:r>
                          <m:r>
                            <a:rPr lang="ar-AE"/>
                            <m:t>1</m:t>
                          </m:r>
                        </m:e>
                      </m:d>
                      <m:r>
                        <a:rPr lang="ar-AE"/>
                        <m:t>=</m:t>
                      </m:r>
                      <m:r>
                        <a:rPr lang="ar-AE"/>
                        <m:t>0</m:t>
                      </m:r>
                      <m:r>
                        <a:rPr lang="ar-AE"/>
                        <m:t>.</m:t>
                      </m:r>
                      <m:r>
                        <a:rPr lang="ar-AE"/>
                        <m:t>6826</m:t>
                      </m:r>
                    </m:oMath>
                  </m:oMathPara>
                </a14:m>
                <a:endParaRPr lang="ar-AE" dirty="0"/>
              </a:p>
              <a:p>
                <a:r>
                  <a:rPr lang="en-IN" b="1" dirty="0"/>
                  <a:t>Answer:</a:t>
                </a:r>
                <a:r>
                  <a:rPr lang="en-IN" dirty="0"/>
                  <a:t> Approximately </a:t>
                </a:r>
                <a:r>
                  <a:rPr lang="en-IN" b="1" dirty="0"/>
                  <a:t>68.26%</a:t>
                </a:r>
                <a:endParaRPr lang="en-IN" dirty="0"/>
              </a:p>
            </p:txBody>
          </p:sp>
        </mc:Choice>
        <mc:Fallback>
          <p:sp>
            <p:nvSpPr>
              <p:cNvPr id="3" name="TextBox 2">
                <a:extLst>
                  <a:ext uri="{FF2B5EF4-FFF2-40B4-BE49-F238E27FC236}">
                    <a16:creationId xmlns:a16="http://schemas.microsoft.com/office/drawing/2014/main" id="{2B112485-A275-17D0-E0A5-0CDE74BDAE17}"/>
                  </a:ext>
                </a:extLst>
              </p:cNvPr>
              <p:cNvSpPr txBox="1">
                <a:spLocks noRot="1" noChangeAspect="1" noMove="1" noResize="1" noEditPoints="1" noAdjustHandles="1" noChangeArrowheads="1" noChangeShapeType="1" noTextEdit="1"/>
              </p:cNvSpPr>
              <p:nvPr/>
            </p:nvSpPr>
            <p:spPr>
              <a:xfrm>
                <a:off x="432619" y="338646"/>
                <a:ext cx="11277600" cy="6119111"/>
              </a:xfrm>
              <a:prstGeom prst="rect">
                <a:avLst/>
              </a:prstGeom>
              <a:blipFill>
                <a:blip r:embed="rId2"/>
                <a:stretch>
                  <a:fillRect l="-486" t="-499" r="-162" b="-798"/>
                </a:stretch>
              </a:blipFill>
            </p:spPr>
            <p:txBody>
              <a:bodyPr/>
              <a:lstStyle/>
              <a:p>
                <a:r>
                  <a:rPr lang="en-IN">
                    <a:noFill/>
                  </a:rPr>
                  <a:t> </a:t>
                </a:r>
              </a:p>
            </p:txBody>
          </p:sp>
        </mc:Fallback>
      </mc:AlternateContent>
    </p:spTree>
    <p:extLst>
      <p:ext uri="{BB962C8B-B14F-4D97-AF65-F5344CB8AC3E}">
        <p14:creationId xmlns:p14="http://schemas.microsoft.com/office/powerpoint/2010/main" val="19107417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1457</Words>
  <Application>Microsoft Office PowerPoint</Application>
  <PresentationFormat>Widescreen</PresentationFormat>
  <Paragraphs>192</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Cambria Math</vt:lpstr>
      <vt:lpstr>Office Theme</vt:lpstr>
      <vt:lpstr>Unit 4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Sapna Yadav Ph.D. (Commputer Science)</dc:creator>
  <cp:lastModifiedBy>Sapna Yadav Ph.D. (Commputer Science)</cp:lastModifiedBy>
  <cp:revision>1</cp:revision>
  <dcterms:created xsi:type="dcterms:W3CDTF">2025-12-25T17:18:17Z</dcterms:created>
  <dcterms:modified xsi:type="dcterms:W3CDTF">2025-12-25T17:37:08Z</dcterms:modified>
</cp:coreProperties>
</file>