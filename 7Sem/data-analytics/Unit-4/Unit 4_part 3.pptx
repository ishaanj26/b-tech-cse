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3B2D-753F-34A8-6AAF-755369F70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0F43C-7556-D658-7466-7E86C6026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93331-9A2B-7A3F-223C-0E9FFD92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DEA05-1F1E-E986-3389-A566E0CA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92BC-E6A0-0849-DF64-911EDAA3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7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90CD-880C-2C7C-261B-7A992ACE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4B83-B714-4582-7C68-C5C6D39F6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E6730-1325-6D5A-D5D8-CED0FFB0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C314-2474-DB4A-612A-7EF79C36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896B-FB6E-3D62-00EB-08CC4529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39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40C2-E383-8C32-7F93-EA32EFEC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00CE0-D4E9-E730-9523-713111A05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1980F-58AA-6B34-7113-2F33EDDA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A586D-BF12-A832-A9D9-D6D9C26B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6A0FB-19E1-F4B5-E4D8-7AF558A4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40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B6C5-0A6A-4E05-22CB-77E8F9F4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19CDE-9E7E-A77B-335A-534851FC6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CBA98-77D0-5343-0CA1-868D80110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12382-990A-5FF2-24FE-46605CA3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3E34C-1F2E-8871-A6BE-48C9616DC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05E9C-1A5A-3149-E1F1-2EB368BA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8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17FA-1BF3-F475-4C24-33865AA4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755ED-2E34-0112-5C2C-F1F84C5B0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777B6-B270-5BBD-3323-79AD8D326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60E30-2B9D-F1C8-FF90-C8661A63D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BBC46-C784-1779-55D5-C815DFE32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58C60-36F3-847B-6679-82F3841C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E5D40-CED5-727B-823F-71083D4F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378DF2-ACEA-21C5-31AB-7F056712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01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286A-6DB6-824B-E5BB-F1F3BF72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8F838-2FB9-95EB-B0E3-31679816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BA1CD-A7CA-D7AC-E441-B9B839FF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C561A-8824-12FC-CC71-2FD18B2B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73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58788-0E61-67BF-EF52-AA694057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0C136-67AC-0A50-4A7A-B8C5E955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5900C-259F-9379-DE67-CEFA193F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51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7FE54-DB79-2227-EB05-9AE57F9E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2702E-C5D9-4BE7-C841-C2C54466C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F00F6-336F-B9B7-6638-7FD57BB2A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8D9F1-F847-404C-4DD1-E25629EC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81879-A605-69A3-BDF0-982BE920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FA77A-FA48-31B5-F461-2BFAD402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1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CADE-5EC1-0F3F-A82E-04F01A03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35881-B613-0777-F91B-25C5486B3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E1AEE-26E5-D6CF-8704-5FE6CE30C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E5D0-ECC6-617D-50E4-250D5F31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967BE-BD29-A44A-DBCA-201DDA7C9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AD432-FF80-EC3F-00C9-46389303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7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2500-4149-8C93-46E0-636B34125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EB474-959C-68ED-1D0E-7A209CBE7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00E69-0838-A53C-E9D2-E488121C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5D075-C623-A616-D08C-CD5C7635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A71D-C9F4-5249-9561-F72F4CDC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60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E8C58-ED25-3C7D-86EE-E85E349F9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3DE6F-0D4D-F3FC-FC18-420870E1E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4CAFE-5BDD-E6FA-2A32-3535BB8B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D2B8A-E7D6-E66D-955E-299B73D1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54CE1-0B6A-B999-227C-7A0F21BF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12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9422F-54C2-284A-5A71-BCC525E3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0A678-BAC4-0CD2-D40D-F24D58031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54A75-24A6-B29A-F573-9456B52AC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2FD46-3C3F-43BF-8BF5-F8B51FF37B7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A05C-F8E0-E197-180F-61CCCE5E9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4575-3EC3-E2DA-3D98-305A6F5EA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58921-D1A5-44C9-9CD0-D27E5B37A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44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E3E1-CC08-B45A-6321-E219B83BA2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Unit 4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EF1E1-617A-013F-C49D-6F6781922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(STATISTICAL HYPOTHESIS TESTING-</a:t>
            </a:r>
          </a:p>
          <a:p>
            <a:r>
              <a:rPr lang="en-US" b="1" dirty="0">
                <a:solidFill>
                  <a:srgbClr val="FF0000"/>
                </a:solidFill>
              </a:rPr>
              <a:t>ANOVA, Chi-Square Test, and t-Test)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E1DE1-A088-274A-AFC4-094B14DD612A}"/>
              </a:ext>
            </a:extLst>
          </p:cNvPr>
          <p:cNvSpPr txBox="1"/>
          <p:nvPr/>
        </p:nvSpPr>
        <p:spPr>
          <a:xfrm>
            <a:off x="501445" y="4915733"/>
            <a:ext cx="1111045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Statistical tests are used to make decisions or inferences about a population based on sample data. Among the most widely used tests in data science and statistics are </a:t>
            </a:r>
            <a:r>
              <a:rPr lang="en-US" b="1" dirty="0"/>
              <a:t>t-test, Chi-square test, and ANOVA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71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1EF987-70A8-E6CE-5071-F6879A1CE05F}"/>
                  </a:ext>
                </a:extLst>
              </p:cNvPr>
              <p:cNvSpPr txBox="1"/>
              <p:nvPr/>
            </p:nvSpPr>
            <p:spPr>
              <a:xfrm>
                <a:off x="255638" y="147484"/>
                <a:ext cx="11680723" cy="6411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t-TEST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t-test</a:t>
                </a:r>
                <a:r>
                  <a:rPr lang="en-US" dirty="0"/>
                  <a:t> is a parametric statistical test used to determine whether there is a </a:t>
                </a:r>
                <a:r>
                  <a:rPr lang="en-US" b="1" dirty="0"/>
                  <a:t>significant difference between the means</a:t>
                </a:r>
                <a:r>
                  <a:rPr lang="en-US" dirty="0"/>
                  <a:t> of two groups. It is commonly used when the sample size is small and the population standard deviation is unknown.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Types of t-Tests</a:t>
                </a:r>
              </a:p>
              <a:p>
                <a:r>
                  <a:rPr lang="en-US" b="1" dirty="0"/>
                  <a:t>One-sample t-test</a:t>
                </a:r>
                <a:r>
                  <a:rPr lang="en-US" dirty="0"/>
                  <a:t> – compares sample mean with a known population mean</a:t>
                </a:r>
              </a:p>
              <a:p>
                <a:r>
                  <a:rPr lang="en-US" b="1" dirty="0"/>
                  <a:t>Independent (Two-sample) t-test</a:t>
                </a:r>
                <a:r>
                  <a:rPr lang="en-US" dirty="0"/>
                  <a:t> – compares means of two independent groups</a:t>
                </a:r>
              </a:p>
              <a:p>
                <a:r>
                  <a:rPr lang="en-US" b="1" dirty="0"/>
                  <a:t>Paired t-test</a:t>
                </a:r>
                <a:r>
                  <a:rPr lang="en-US" dirty="0"/>
                  <a:t> – compares means of the same group before and after treatment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Assumptions of t-test</a:t>
                </a:r>
              </a:p>
              <a:p>
                <a:r>
                  <a:rPr lang="en-US" dirty="0"/>
                  <a:t>Data is continuous</a:t>
                </a:r>
              </a:p>
              <a:p>
                <a:r>
                  <a:rPr lang="en-US" dirty="0"/>
                  <a:t>Data is approximately normally distributed</a:t>
                </a:r>
              </a:p>
              <a:p>
                <a:r>
                  <a:rPr lang="en-US" dirty="0"/>
                  <a:t>Observations are independent</a:t>
                </a:r>
              </a:p>
              <a:p>
                <a:r>
                  <a:rPr lang="en-US" dirty="0"/>
                  <a:t>Variances are equal (for independent t-test)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IN" b="1" dirty="0"/>
                  <a:t>Formula (One-sample t-test)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𝑡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limUpp>
                            <m:limUppPr>
                              <m:ctrlPr>
                                <a:rPr lang="ar-AE" i="1"/>
                              </m:ctrlPr>
                            </m:limUpp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lim>
                              <m:r>
                                <a:rPr lang="ar-AE"/>
                                <m:t>ˉ</m:t>
                              </m:r>
                            </m:lim>
                          </m:limUpp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𝜇</m:t>
                          </m:r>
                        </m:num>
                        <m:den>
                          <m:r>
                            <a:rPr lang="ar-AE" i="1"/>
                            <m:t>𝑠</m:t>
                          </m:r>
                          <m:r>
                            <a:rPr lang="ar-AE"/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ar-AE" i="1"/>
                              </m:ctrlPr>
                            </m:radPr>
                            <m:deg/>
                            <m:e>
                              <m:r>
                                <a:rPr lang="ar-AE" i="1"/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/>
                        </m:ctrlPr>
                      </m:limUppPr>
                      <m:e>
                        <m:r>
                          <a:rPr lang="ar-AE" i="1"/>
                          <m:t>𝑥</m:t>
                        </m:r>
                      </m:e>
                      <m:lim>
                        <m:r>
                          <a:rPr lang="ar-AE"/>
                          <m:t>ˉ</m:t>
                        </m:r>
                      </m:lim>
                    </m:limUpp>
                  </m:oMath>
                </a14:m>
                <a:r>
                  <a:rPr lang="ar-AE" dirty="0"/>
                  <a:t>= </a:t>
                </a:r>
                <a:r>
                  <a:rPr lang="en-IN" dirty="0"/>
                  <a:t>sample mean, 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= population mean, </a:t>
                </a:r>
                <a14:m>
                  <m:oMath xmlns:m="http://schemas.openxmlformats.org/officeDocument/2006/math">
                    <m:r>
                      <a:rPr lang="en-IN" i="1"/>
                      <m:t>𝑠</m:t>
                    </m:r>
                  </m:oMath>
                </a14:m>
                <a:r>
                  <a:rPr lang="en-IN" dirty="0"/>
                  <a:t>= sample standard deviation, </a:t>
                </a:r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</m:oMath>
                </a14:m>
                <a:r>
                  <a:rPr lang="en-IN" dirty="0"/>
                  <a:t>= sample size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1EF987-70A8-E6CE-5071-F6879A1CE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38" y="147484"/>
                <a:ext cx="11680723" cy="6411499"/>
              </a:xfrm>
              <a:prstGeom prst="rect">
                <a:avLst/>
              </a:prstGeom>
              <a:blipFill>
                <a:blip r:embed="rId2"/>
                <a:stretch>
                  <a:fillRect l="-470" t="-380" b="-6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50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CB0A54-2F96-C5D8-0480-A41FDA07B12C}"/>
                  </a:ext>
                </a:extLst>
              </p:cNvPr>
              <p:cNvSpPr txBox="1"/>
              <p:nvPr/>
            </p:nvSpPr>
            <p:spPr>
              <a:xfrm>
                <a:off x="373626" y="257990"/>
                <a:ext cx="11297264" cy="4654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Solved Example (t-test)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b="1" dirty="0"/>
                  <a:t>Problem:</a:t>
                </a:r>
                <a:br>
                  <a:rPr lang="en-IN" dirty="0"/>
                </a:br>
                <a:r>
                  <a:rPr lang="en-IN" dirty="0"/>
                  <a:t>The average score of students in a test is claimed to be 70. A sample of 10 students has a mean score of 74 with a standard deviation of 6. Test at 5% significance level whether the claim is valid.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b="1" dirty="0"/>
                  <a:t>Solution:</a:t>
                </a:r>
                <a:endParaRPr lang="en-IN" dirty="0"/>
              </a:p>
              <a:p>
                <a:pPr>
                  <a:buNone/>
                </a:pPr>
                <a:r>
                  <a:rPr lang="en-IN" dirty="0"/>
                  <a:t>Given: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74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74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897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Degrees of freedom = 9</a:t>
                </a:r>
                <a:br>
                  <a:rPr lang="en-IN" dirty="0"/>
                </a:br>
                <a:r>
                  <a:rPr lang="en-IN" dirty="0"/>
                  <a:t>Critical value at 5% = 2.262</a:t>
                </a:r>
              </a:p>
              <a:p>
                <a:pPr>
                  <a:buNone/>
                </a:pPr>
                <a:r>
                  <a:rPr lang="en-IN" dirty="0"/>
                  <a:t>Since </a:t>
                </a:r>
                <a:r>
                  <a:rPr lang="en-IN" b="1" dirty="0"/>
                  <a:t>2.11 &lt; 2.262</a:t>
                </a:r>
                <a:r>
                  <a:rPr lang="en-IN" dirty="0"/>
                  <a:t>, we </a:t>
                </a:r>
                <a:r>
                  <a:rPr lang="en-IN" b="1" dirty="0"/>
                  <a:t>fail to reject the null hypothesis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r>
                  <a:rPr lang="en-IN" b="1" dirty="0"/>
                  <a:t>Conclusion:</a:t>
                </a:r>
                <a:br>
                  <a:rPr lang="en-IN" dirty="0"/>
                </a:br>
                <a:r>
                  <a:rPr lang="en-IN" dirty="0"/>
                  <a:t>There is no significant difference between sample mean and population mean.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CB0A54-2F96-C5D8-0480-A41FDA07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6" y="257990"/>
                <a:ext cx="11297264" cy="4654095"/>
              </a:xfrm>
              <a:prstGeom prst="rect">
                <a:avLst/>
              </a:prstGeom>
              <a:blipFill>
                <a:blip r:embed="rId2"/>
                <a:stretch>
                  <a:fillRect l="-431" t="-524" r="-270" b="-11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06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A23E2B-DB65-B338-1237-2DF3BE704359}"/>
                  </a:ext>
                </a:extLst>
              </p:cNvPr>
              <p:cNvSpPr txBox="1"/>
              <p:nvPr/>
            </p:nvSpPr>
            <p:spPr>
              <a:xfrm>
                <a:off x="324465" y="333052"/>
                <a:ext cx="11464412" cy="6276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CHI-SQUARE (χ²) TEST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Chi-square test</a:t>
                </a:r>
                <a:r>
                  <a:rPr lang="en-US" dirty="0"/>
                  <a:t> is a non-parametric test used to examine the </a:t>
                </a:r>
                <a:r>
                  <a:rPr lang="en-US" b="1" dirty="0"/>
                  <a:t>association or independence between categorical variables</a:t>
                </a:r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Types of Chi-square Tests</a:t>
                </a:r>
              </a:p>
              <a:p>
                <a:r>
                  <a:rPr lang="en-US" b="1" dirty="0"/>
                  <a:t>Chi-square test of independence</a:t>
                </a:r>
                <a:endParaRPr lang="en-US" dirty="0"/>
              </a:p>
              <a:p>
                <a:r>
                  <a:rPr lang="en-US" b="1" dirty="0"/>
                  <a:t>Chi-square goodness-of-fit test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r>
                  <a:rPr lang="en-IN" b="1" dirty="0"/>
                  <a:t>Formula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/>
                          </m:ctrlPr>
                        </m:sSupPr>
                        <m:e>
                          <m:r>
                            <a:rPr lang="ar-AE" i="1"/>
                            <m:t>𝜒</m:t>
                          </m:r>
                        </m:e>
                        <m:sup>
                          <m:r>
                            <a:rPr lang="ar-AE"/>
                            <m:t>2</m:t>
                          </m:r>
                        </m:sup>
                      </m:sSup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d>
                                <m:dPr>
                                  <m:endChr m:val=""/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 i="1"/>
                                    <m:t>𝑂</m:t>
                                  </m:r>
                                  <m:r>
                                    <a:rPr lang="ar-AE"/>
                                    <m:t>−</m:t>
                                  </m:r>
                                  <m:r>
                                    <a:rPr lang="ar-AE" i="1"/>
                                    <m:t>𝐸</m:t>
                                  </m:r>
                                  <m:sSup>
                                    <m:sSupPr>
                                      <m:ctrlPr>
                                        <a:rPr lang="ar-AE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/>
                                          </m:ctrlPr>
                                        </m:dPr>
                                        <m:e>
                                          <m:r>
                                            <a:rPr lang="ar-AE"/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/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ar-AE" i="1"/>
                                <m:t>𝐸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𝑂</m:t>
                    </m:r>
                  </m:oMath>
                </a14:m>
                <a:r>
                  <a:rPr lang="en-IN" dirty="0"/>
                  <a:t>= Observed frequency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𝐸</m:t>
                    </m:r>
                  </m:oMath>
                </a14:m>
                <a:r>
                  <a:rPr lang="en-IN" dirty="0"/>
                  <a:t>= Expected frequency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Assumptions</a:t>
                </a:r>
              </a:p>
              <a:p>
                <a:r>
                  <a:rPr lang="en-US" dirty="0"/>
                  <a:t>Data should be categorical</a:t>
                </a:r>
              </a:p>
              <a:p>
                <a:r>
                  <a:rPr lang="en-US" dirty="0"/>
                  <a:t>Observations must be independent</a:t>
                </a:r>
              </a:p>
              <a:p>
                <a:r>
                  <a:rPr lang="en-US" dirty="0"/>
                  <a:t>Expected frequency ≥ 5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A23E2B-DB65-B338-1237-2DF3BE704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5" y="333052"/>
                <a:ext cx="11464412" cy="6276462"/>
              </a:xfrm>
              <a:prstGeom prst="rect">
                <a:avLst/>
              </a:prstGeom>
              <a:blipFill>
                <a:blip r:embed="rId2"/>
                <a:stretch>
                  <a:fillRect l="-425" t="-486" b="-6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39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A9489D-7F56-90B2-B6F2-1615064007CC}"/>
              </a:ext>
            </a:extLst>
          </p:cNvPr>
          <p:cNvSpPr txBox="1"/>
          <p:nvPr/>
        </p:nvSpPr>
        <p:spPr>
          <a:xfrm>
            <a:off x="275303" y="215913"/>
            <a:ext cx="11562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Solved Example (Chi-square Test)</a:t>
            </a:r>
          </a:p>
          <a:p>
            <a:pPr>
              <a:buNone/>
            </a:pPr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A survey shows the following preferences for three mobile brands: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D4DBDC-964A-F7CA-BEEC-4623B1420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127054"/>
              </p:ext>
            </p:extLst>
          </p:nvPr>
        </p:nvGraphicFramePr>
        <p:xfrm>
          <a:off x="275303" y="1139243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004913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22811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311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661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363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142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D9A299-A75A-FD40-1999-6564873BB03D}"/>
                  </a:ext>
                </a:extLst>
              </p:cNvPr>
              <p:cNvSpPr txBox="1"/>
              <p:nvPr/>
            </p:nvSpPr>
            <p:spPr>
              <a:xfrm>
                <a:off x="353961" y="2678073"/>
                <a:ext cx="11484078" cy="417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Test whether customer preference is uniform.</a:t>
                </a:r>
              </a:p>
              <a:p>
                <a:pPr>
                  <a:buNone/>
                </a:pPr>
                <a:r>
                  <a:rPr lang="en-IN" b="1" dirty="0"/>
                  <a:t>Solution:</a:t>
                </a:r>
                <a:endParaRPr lang="en-IN" dirty="0"/>
              </a:p>
              <a:p>
                <a:pPr>
                  <a:buNone/>
                </a:pPr>
                <a:r>
                  <a:rPr lang="en-IN" dirty="0"/>
                  <a:t>Total = 100</a:t>
                </a:r>
                <a:br>
                  <a:rPr lang="en-IN" dirty="0"/>
                </a:br>
                <a:r>
                  <a:rPr lang="en-IN" dirty="0"/>
                  <a:t>Expected frequency for each = 100/3 = 33.33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08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08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Degrees of freedom = 3 − 1 = 2</a:t>
                </a:r>
                <a:br>
                  <a:rPr lang="en-IN" dirty="0"/>
                </a:br>
                <a:r>
                  <a:rPr lang="en-IN" dirty="0"/>
                  <a:t>Critical value (5%) = 5.99</a:t>
                </a:r>
              </a:p>
              <a:p>
                <a:r>
                  <a:rPr lang="en-IN" dirty="0"/>
                  <a:t>Since </a:t>
                </a:r>
                <a:r>
                  <a:rPr lang="en-IN" b="1" dirty="0"/>
                  <a:t>3.49 &lt; 5.99</a:t>
                </a:r>
                <a:r>
                  <a:rPr lang="en-IN" dirty="0"/>
                  <a:t>, we </a:t>
                </a:r>
                <a:r>
                  <a:rPr lang="en-IN" b="1" dirty="0"/>
                  <a:t>accept the null hypothesis</a:t>
                </a:r>
                <a:r>
                  <a:rPr lang="en-IN" dirty="0"/>
                  <a:t>. Conclusion is</a:t>
                </a:r>
                <a:r>
                  <a:rPr lang="en-IN" b="1" dirty="0"/>
                  <a:t> “</a:t>
                </a:r>
                <a:r>
                  <a:rPr lang="en-IN" dirty="0"/>
                  <a:t>No significant difference in brand preference”.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D9A299-A75A-FD40-1999-6564873BB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61" y="2678073"/>
                <a:ext cx="11484078" cy="4179927"/>
              </a:xfrm>
              <a:prstGeom prst="rect">
                <a:avLst/>
              </a:prstGeom>
              <a:blipFill>
                <a:blip r:embed="rId2"/>
                <a:stretch>
                  <a:fillRect l="-425" t="-583" b="-1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69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C5E69-0DF1-0E26-CB54-8634F9884C52}"/>
                  </a:ext>
                </a:extLst>
              </p:cNvPr>
              <p:cNvSpPr txBox="1"/>
              <p:nvPr/>
            </p:nvSpPr>
            <p:spPr>
              <a:xfrm>
                <a:off x="186813" y="155224"/>
                <a:ext cx="11720052" cy="4537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ANALYSIS OF VARIANCE (ANOVA)</a:t>
                </a:r>
              </a:p>
              <a:p>
                <a:pPr>
                  <a:buNone/>
                </a:pPr>
                <a:r>
                  <a:rPr lang="en-US" dirty="0"/>
                  <a:t>ANOVA is used to test whether there are </a:t>
                </a:r>
                <a:r>
                  <a:rPr lang="en-US" b="1" dirty="0"/>
                  <a:t>significant differences among the means of three or more groups</a:t>
                </a:r>
                <a:r>
                  <a:rPr lang="en-US" dirty="0"/>
                  <a:t>.</a:t>
                </a:r>
              </a:p>
              <a:p>
                <a:pPr>
                  <a:buNone/>
                </a:pPr>
                <a:r>
                  <a:rPr lang="en-US" dirty="0"/>
                  <a:t>Instead of comparing pairs using multiple t-tests, ANOVA compares all groups simultaneously.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Types of ANOVA</a:t>
                </a:r>
              </a:p>
              <a:p>
                <a:r>
                  <a:rPr lang="en-US" b="1" dirty="0"/>
                  <a:t>One-way ANOVA</a:t>
                </a:r>
                <a:r>
                  <a:rPr lang="en-US" dirty="0"/>
                  <a:t> – one independent variable</a:t>
                </a:r>
              </a:p>
              <a:p>
                <a:r>
                  <a:rPr lang="en-US" b="1" dirty="0"/>
                  <a:t>Two-way ANOVA</a:t>
                </a:r>
                <a:r>
                  <a:rPr lang="en-US" dirty="0"/>
                  <a:t> – two independent variables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Hypotheses</a:t>
                </a:r>
              </a:p>
              <a:p>
                <a:r>
                  <a:rPr lang="en-US" b="1" dirty="0"/>
                  <a:t>Null Hypothesis (H₀):</a:t>
                </a:r>
                <a:r>
                  <a:rPr lang="en-US" dirty="0"/>
                  <a:t> All group means are equal</a:t>
                </a:r>
              </a:p>
              <a:p>
                <a:r>
                  <a:rPr lang="en-US" b="1" dirty="0"/>
                  <a:t>Alternative Hypothesis (H₁):</a:t>
                </a:r>
                <a:r>
                  <a:rPr lang="en-US" dirty="0"/>
                  <a:t> At least one group mean is different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IN" b="1" dirty="0"/>
                  <a:t>ANOVA Formula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𝐹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Mean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Square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Between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Groups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i="1"/>
                            <m:t>Mean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Square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Within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Groups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C5E69-0DF1-0E26-CB54-8634F9884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13" y="155224"/>
                <a:ext cx="11720052" cy="4537396"/>
              </a:xfrm>
              <a:prstGeom prst="rect">
                <a:avLst/>
              </a:prstGeom>
              <a:blipFill>
                <a:blip r:embed="rId2"/>
                <a:stretch>
                  <a:fillRect l="-468" t="-5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76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E95C67-2EF1-59C6-8479-807E5FF42857}"/>
              </a:ext>
            </a:extLst>
          </p:cNvPr>
          <p:cNvSpPr txBox="1"/>
          <p:nvPr/>
        </p:nvSpPr>
        <p:spPr>
          <a:xfrm>
            <a:off x="235974" y="215914"/>
            <a:ext cx="11641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Solved Example (One-Way ANOVA)</a:t>
            </a:r>
          </a:p>
          <a:p>
            <a:pPr>
              <a:buNone/>
            </a:pPr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Test whether the mean scores of students taught using three different teaching methods differ significantly.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DE4104-31C1-8E22-F5E6-7C4749DE4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09560"/>
              </p:ext>
            </p:extLst>
          </p:nvPr>
        </p:nvGraphicFramePr>
        <p:xfrm>
          <a:off x="235974" y="113924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943365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02069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67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65, 70, 75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02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70, 75, 80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07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60, 65, 70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8693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E88554-907A-30EF-D1CF-0044745D86EE}"/>
                  </a:ext>
                </a:extLst>
              </p:cNvPr>
              <p:cNvSpPr txBox="1"/>
              <p:nvPr/>
            </p:nvSpPr>
            <p:spPr>
              <a:xfrm>
                <a:off x="235974" y="2806409"/>
                <a:ext cx="11484078" cy="3942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1: Calculate group means</a:t>
                </a:r>
              </a:p>
              <a:p>
                <a:pPr>
                  <a:buNone/>
                </a:pPr>
                <a:r>
                  <a:rPr lang="en-IN" dirty="0"/>
                  <a:t>A = 70, B = 75, C = 65</a:t>
                </a:r>
              </a:p>
              <a:p>
                <a:pPr>
                  <a:buNone/>
                </a:pPr>
                <a:r>
                  <a:rPr lang="en-IN" b="1" dirty="0"/>
                  <a:t>Step 2: Calculate overall mean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Step 3: Compute sum of squares</a:t>
                </a:r>
              </a:p>
              <a:p>
                <a:r>
                  <a:rPr lang="en-US" dirty="0"/>
                  <a:t>(Values simplified for clarity)</a:t>
                </a:r>
              </a:p>
              <a:p>
                <a:r>
                  <a:rPr lang="en-US" dirty="0"/>
                  <a:t>Between groups SS = 150</a:t>
                </a:r>
              </a:p>
              <a:p>
                <a:r>
                  <a:rPr lang="en-US" dirty="0"/>
                  <a:t>Within groups SS = 150</a:t>
                </a:r>
              </a:p>
              <a:p>
                <a:r>
                  <a:rPr lang="en-US" b="1" dirty="0"/>
                  <a:t>Step 4: Degrees of freedom</a:t>
                </a:r>
              </a:p>
              <a:p>
                <a:r>
                  <a:rPr lang="en-US" dirty="0"/>
                  <a:t>Between groups = k − 1 = 2</a:t>
                </a:r>
              </a:p>
              <a:p>
                <a:r>
                  <a:rPr lang="en-US" dirty="0"/>
                  <a:t>Within groups = N − k = 6</a:t>
                </a:r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E88554-907A-30EF-D1CF-0044745D8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74" y="2806409"/>
                <a:ext cx="11484078" cy="3942298"/>
              </a:xfrm>
              <a:prstGeom prst="rect">
                <a:avLst/>
              </a:prstGeom>
              <a:blipFill>
                <a:blip r:embed="rId2"/>
                <a:stretch>
                  <a:fillRect l="-478" t="-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97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C48670-7FFE-A6A4-4AFA-807023A8AD01}"/>
                  </a:ext>
                </a:extLst>
              </p:cNvPr>
              <p:cNvSpPr txBox="1"/>
              <p:nvPr/>
            </p:nvSpPr>
            <p:spPr>
              <a:xfrm>
                <a:off x="442450" y="330509"/>
                <a:ext cx="1121860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5: Mean Squares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Step 6: F-ratio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Step 7: Decision</a:t>
                </a:r>
              </a:p>
              <a:p>
                <a:pPr>
                  <a:buNone/>
                </a:pPr>
                <a:r>
                  <a:rPr lang="en-IN" dirty="0"/>
                  <a:t>Critical F (2,6) at 5% ≈ 5.14</a:t>
                </a:r>
              </a:p>
              <a:p>
                <a:pPr>
                  <a:buNone/>
                </a:pPr>
                <a:r>
                  <a:rPr lang="en-IN" dirty="0"/>
                  <a:t>Since </a:t>
                </a:r>
                <a:r>
                  <a:rPr lang="en-IN" b="1" dirty="0"/>
                  <a:t>3 &lt; 5.14</a:t>
                </a:r>
                <a:r>
                  <a:rPr lang="en-IN" dirty="0"/>
                  <a:t>, we </a:t>
                </a:r>
                <a:r>
                  <a:rPr lang="en-IN" b="1" dirty="0"/>
                  <a:t>fail to reject H₀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endParaRPr lang="en-IN" dirty="0"/>
              </a:p>
              <a:p>
                <a:r>
                  <a:rPr lang="en-US" b="1" dirty="0"/>
                  <a:t>Conclusion</a:t>
                </a:r>
              </a:p>
              <a:p>
                <a:r>
                  <a:rPr lang="en-US" dirty="0"/>
                  <a:t>There is no significant difference among the group means.</a:t>
                </a:r>
              </a:p>
              <a:p>
                <a:pPr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C48670-7FFE-A6A4-4AFA-807023A8A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0" y="330509"/>
                <a:ext cx="11218607" cy="3416320"/>
              </a:xfrm>
              <a:prstGeom prst="rect">
                <a:avLst/>
              </a:prstGeom>
              <a:blipFill>
                <a:blip r:embed="rId2"/>
                <a:stretch>
                  <a:fillRect l="-489" t="-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64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BB55A4-76C4-50C9-F6B6-E332CFB29AC0}"/>
              </a:ext>
            </a:extLst>
          </p:cNvPr>
          <p:cNvSpPr txBox="1"/>
          <p:nvPr/>
        </p:nvSpPr>
        <p:spPr>
          <a:xfrm>
            <a:off x="304800" y="219810"/>
            <a:ext cx="113562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TWO-WAY ANOVA (Analysis of Variance)</a:t>
            </a:r>
          </a:p>
          <a:p>
            <a:pPr>
              <a:buNone/>
            </a:pPr>
            <a:r>
              <a:rPr lang="en-US" b="1" dirty="0"/>
              <a:t>Two-way ANOVA</a:t>
            </a:r>
            <a:r>
              <a:rPr lang="en-US" dirty="0"/>
              <a:t> is a statistical technique used to examine the effect of </a:t>
            </a:r>
            <a:r>
              <a:rPr lang="en-US" b="1" dirty="0"/>
              <a:t>two independent variables (factors)</a:t>
            </a:r>
            <a:r>
              <a:rPr lang="en-US" dirty="0"/>
              <a:t> on a single dependent variable. It also helps determine whether there is an </a:t>
            </a:r>
            <a:r>
              <a:rPr lang="en-US" b="1" dirty="0"/>
              <a:t>interaction effect</a:t>
            </a:r>
            <a:r>
              <a:rPr lang="en-US" dirty="0"/>
              <a:t> between the two factors.</a:t>
            </a:r>
          </a:p>
          <a:p>
            <a:pPr>
              <a:buNone/>
            </a:pPr>
            <a:r>
              <a:rPr lang="en-US" dirty="0"/>
              <a:t>Unlike one-way ANOVA, which tests only one factor, two-way ANOVA analyzes: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effect of </a:t>
            </a:r>
            <a:r>
              <a:rPr lang="en-US" b="1" dirty="0"/>
              <a:t>Factor A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The effect of </a:t>
            </a:r>
            <a:r>
              <a:rPr lang="en-US" b="1" dirty="0"/>
              <a:t>Factor B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interaction effect (A × B)</a:t>
            </a:r>
          </a:p>
          <a:p>
            <a:endParaRPr lang="en-US" b="1" dirty="0"/>
          </a:p>
          <a:p>
            <a:r>
              <a:rPr lang="en-US" b="1" dirty="0"/>
              <a:t>Applications of Two-Way ANOVA</a:t>
            </a:r>
          </a:p>
          <a:p>
            <a:r>
              <a:rPr lang="en-US" dirty="0"/>
              <a:t>Studying the effect of </a:t>
            </a:r>
            <a:r>
              <a:rPr lang="en-US" b="1" dirty="0"/>
              <a:t>teaching method and gender</a:t>
            </a:r>
            <a:r>
              <a:rPr lang="en-US" dirty="0"/>
              <a:t> on student performance</a:t>
            </a:r>
          </a:p>
          <a:p>
            <a:r>
              <a:rPr lang="en-US" dirty="0"/>
              <a:t>Analyzing </a:t>
            </a:r>
            <a:r>
              <a:rPr lang="en-US" b="1" dirty="0"/>
              <a:t>fertilizer type and irrigation level</a:t>
            </a:r>
            <a:r>
              <a:rPr lang="en-US" dirty="0"/>
              <a:t> on crop yield</a:t>
            </a:r>
          </a:p>
          <a:p>
            <a:r>
              <a:rPr lang="en-US" dirty="0"/>
              <a:t>Evaluating </a:t>
            </a:r>
            <a:r>
              <a:rPr lang="en-US" b="1" dirty="0"/>
              <a:t>training method and experience level</a:t>
            </a:r>
            <a:r>
              <a:rPr lang="en-US" dirty="0"/>
              <a:t> on employee productivity</a:t>
            </a:r>
          </a:p>
          <a:p>
            <a:endParaRPr lang="en-US" dirty="0"/>
          </a:p>
          <a:p>
            <a:r>
              <a:rPr lang="en-US" b="1" dirty="0"/>
              <a:t>Assumptions of Two-Way ANOVA</a:t>
            </a:r>
          </a:p>
          <a:p>
            <a:r>
              <a:rPr lang="en-US" dirty="0"/>
              <a:t>Observations are independent</a:t>
            </a:r>
          </a:p>
          <a:p>
            <a:r>
              <a:rPr lang="en-US" dirty="0"/>
              <a:t>Data is normally distributed</a:t>
            </a:r>
          </a:p>
          <a:p>
            <a:r>
              <a:rPr lang="en-US" dirty="0"/>
              <a:t>Homogeneity of variances</a:t>
            </a:r>
          </a:p>
          <a:p>
            <a:r>
              <a:rPr lang="en-US" dirty="0"/>
              <a:t>Equal sample sizes (preferred)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120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81F1C-B619-8974-F3B2-998A6D15379F}"/>
              </a:ext>
            </a:extLst>
          </p:cNvPr>
          <p:cNvSpPr txBox="1"/>
          <p:nvPr/>
        </p:nvSpPr>
        <p:spPr>
          <a:xfrm>
            <a:off x="275303" y="163360"/>
            <a:ext cx="115135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Hypotheses in Two-Way ANOVA</a:t>
            </a:r>
          </a:p>
          <a:p>
            <a:pPr>
              <a:buNone/>
            </a:pPr>
            <a:r>
              <a:rPr lang="en-US" dirty="0"/>
              <a:t>Let: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Factor A → Teaching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Factor B → Study Time</a:t>
            </a:r>
          </a:p>
          <a:p>
            <a:pPr>
              <a:buNone/>
            </a:pPr>
            <a:r>
              <a:rPr lang="en-US" b="1" dirty="0"/>
              <a:t>Null 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H₀₁:</a:t>
            </a:r>
            <a:r>
              <a:rPr lang="en-US" dirty="0"/>
              <a:t> No significant effect of Factor 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H₀₂:</a:t>
            </a:r>
            <a:r>
              <a:rPr lang="en-US" dirty="0"/>
              <a:t> No significant effect of Factor 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H₀₃:</a:t>
            </a:r>
            <a:r>
              <a:rPr lang="en-US" dirty="0"/>
              <a:t> No interaction effect between A and B</a:t>
            </a:r>
          </a:p>
          <a:p>
            <a:endParaRPr lang="en-US" dirty="0"/>
          </a:p>
          <a:p>
            <a:r>
              <a:rPr lang="en-IN" b="1" dirty="0"/>
              <a:t>Two-Way ANOVA Table Format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B111B7-2016-EC30-4BD6-4DB2E6BED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107629"/>
              </p:ext>
            </p:extLst>
          </p:nvPr>
        </p:nvGraphicFramePr>
        <p:xfrm>
          <a:off x="275303" y="3235609"/>
          <a:ext cx="10515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762552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58666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83285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130274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14770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 of Variation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 of Squares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 Square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F-ratio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498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MSA / 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871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MSB / 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852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Interaction (A×B)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(a−1)(b−1)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MSAB / 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228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ab(n−1)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0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abn−1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740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830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F7181E-8001-DB15-69A5-C1F3596D036F}"/>
              </a:ext>
            </a:extLst>
          </p:cNvPr>
          <p:cNvSpPr txBox="1"/>
          <p:nvPr/>
        </p:nvSpPr>
        <p:spPr>
          <a:xfrm>
            <a:off x="393289" y="273211"/>
            <a:ext cx="112284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Solved Example – Two-Way ANOVA</a:t>
            </a:r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The following table shows marks obtained by students using </a:t>
            </a:r>
            <a:r>
              <a:rPr lang="en-US" b="1" dirty="0"/>
              <a:t>two teaching methods (A and B)</a:t>
            </a:r>
            <a:r>
              <a:rPr lang="en-US" dirty="0"/>
              <a:t> and </a:t>
            </a:r>
            <a:r>
              <a:rPr lang="en-US" b="1" dirty="0"/>
              <a:t>two study durations (Short and Long)</a:t>
            </a:r>
            <a:r>
              <a:rPr lang="en-US" dirty="0"/>
              <a:t>. Perform a two-way ANOVA at 5% level of significance.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518D6B-9206-B8C9-F330-07CE793D0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639162"/>
              </p:ext>
            </p:extLst>
          </p:nvPr>
        </p:nvGraphicFramePr>
        <p:xfrm>
          <a:off x="393289" y="1865014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45271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53340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2445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Teaching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Study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Study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68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62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392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F449D8-E496-6065-942F-50E67DDF8840}"/>
                  </a:ext>
                </a:extLst>
              </p:cNvPr>
              <p:cNvSpPr txBox="1"/>
              <p:nvPr/>
            </p:nvSpPr>
            <p:spPr>
              <a:xfrm>
                <a:off x="393288" y="3353768"/>
                <a:ext cx="11228439" cy="2278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Step 1: Define Factors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Factor A: Teaching Method (A, B)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Factor B: Study Duration (Short, Long)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IN" b="1" dirty="0"/>
                  <a:t>Step 2: Compute Grand Mean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Grand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Mean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/>
                            <m:t>70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80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65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75</m:t>
                          </m:r>
                        </m:num>
                        <m:den>
                          <m:r>
                            <a:rPr lang="ar-AE"/>
                            <m:t>4</m:t>
                          </m:r>
                        </m:den>
                      </m:f>
                      <m:r>
                        <a:rPr lang="ar-AE"/>
                        <m:t>=</m:t>
                      </m:r>
                      <m:r>
                        <a:rPr lang="ar-AE"/>
                        <m:t>72</m:t>
                      </m:r>
                      <m:r>
                        <a:rPr lang="ar-AE"/>
                        <m:t>.</m:t>
                      </m:r>
                      <m:r>
                        <a:rPr lang="ar-AE"/>
                        <m:t>5</m:t>
                      </m:r>
                    </m:oMath>
                  </m:oMathPara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F449D8-E496-6065-942F-50E67DDF8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88" y="3353768"/>
                <a:ext cx="11228439" cy="2278509"/>
              </a:xfrm>
              <a:prstGeom prst="rect">
                <a:avLst/>
              </a:prstGeom>
              <a:blipFill>
                <a:blip r:embed="rId2"/>
                <a:stretch>
                  <a:fillRect l="-489" t="-10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000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41641C-B82E-7FA7-EF2E-8CDCC8F6B741}"/>
              </a:ext>
            </a:extLst>
          </p:cNvPr>
          <p:cNvSpPr txBox="1"/>
          <p:nvPr/>
        </p:nvSpPr>
        <p:spPr>
          <a:xfrm>
            <a:off x="285135" y="255558"/>
            <a:ext cx="11552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3: Compute Sum of Squares</a:t>
            </a:r>
          </a:p>
          <a:p>
            <a:pPr>
              <a:buNone/>
            </a:pPr>
            <a:r>
              <a:rPr lang="en-IN" b="1" dirty="0"/>
              <a:t>(a) Total Sum of Squares (SST)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8AC59-F06A-F7A6-1959-44CD502FD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09" y="1253581"/>
            <a:ext cx="6134956" cy="14384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597007-F19D-3BD3-0FD4-AE831C5170A5}"/>
                  </a:ext>
                </a:extLst>
              </p:cNvPr>
              <p:cNvSpPr txBox="1"/>
              <p:nvPr/>
            </p:nvSpPr>
            <p:spPr>
              <a:xfrm>
                <a:off x="285134" y="2850400"/>
                <a:ext cx="11552903" cy="3964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(b) Sum of Squares for Factor A (SSA)</a:t>
                </a:r>
              </a:p>
              <a:p>
                <a:pPr>
                  <a:buNone/>
                </a:pPr>
                <a:r>
                  <a:rPr lang="en-IN" dirty="0"/>
                  <a:t>Mean of A: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 = (70 + 80)/2 = 75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B = (65 + 75)/2 = 70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𝑆𝑆𝐴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72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70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72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dirty="0"/>
              </a:p>
              <a:p>
                <a:endParaRPr lang="en-IN" b="1" dirty="0"/>
              </a:p>
              <a:p>
                <a:r>
                  <a:rPr lang="en-IN" b="1" dirty="0"/>
                  <a:t>(c) Sum of Squares for Factor B (SSB)</a:t>
                </a:r>
              </a:p>
              <a:p>
                <a:r>
                  <a:rPr lang="en-IN" dirty="0"/>
                  <a:t>Means:</a:t>
                </a:r>
              </a:p>
              <a:p>
                <a:r>
                  <a:rPr lang="en-IN" dirty="0"/>
                  <a:t>Short = (70 + 65)/2 = 67.5</a:t>
                </a:r>
              </a:p>
              <a:p>
                <a:r>
                  <a:rPr lang="en-IN" dirty="0"/>
                  <a:t>Long = (80 + 75)/2 = 77.5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𝑆𝑆𝐵</m:t>
                      </m:r>
                      <m:r>
                        <a:rPr lang="en-IN"/>
                        <m:t>=</m:t>
                      </m:r>
                      <m:r>
                        <a:rPr lang="en-IN"/>
                        <m:t>2</m:t>
                      </m:r>
                      <m:d>
                        <m:dPr>
                          <m:begChr m:val="["/>
                          <m:endChr m:val=""/>
                          <m:ctrlPr>
                            <a:rPr lang="ar-AE" i="1"/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/>
                                <m:t>67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5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72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5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/>
                                      </m:ctrlPr>
                                    </m:dPr>
                                    <m:e>
                                      <m:r>
                                        <a:rPr lang="ar-AE"/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/>
                                    <m:t>2</m:t>
                                  </m:r>
                                </m:sup>
                              </m:sSup>
                              <m:r>
                                <a:rPr lang="ar-AE"/>
                                <m:t>+</m:t>
                              </m:r>
                              <m:d>
                                <m:dPr>
                                  <m:endChr m:val="]"/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/>
                                    <m:t>77</m:t>
                                  </m:r>
                                  <m:r>
                                    <a:rPr lang="ar-AE"/>
                                    <m:t>.</m:t>
                                  </m:r>
                                  <m:r>
                                    <a:rPr lang="ar-AE"/>
                                    <m:t>5</m:t>
                                  </m:r>
                                  <m:r>
                                    <a:rPr lang="ar-AE"/>
                                    <m:t>−</m:t>
                                  </m:r>
                                  <m:r>
                                    <a:rPr lang="ar-AE"/>
                                    <m:t>72</m:t>
                                  </m:r>
                                  <m:r>
                                    <a:rPr lang="ar-AE"/>
                                    <m:t>.</m:t>
                                  </m:r>
                                  <m:r>
                                    <a:rPr lang="ar-AE"/>
                                    <m:t>5</m:t>
                                  </m:r>
                                  <m:sSup>
                                    <m:sSupPr>
                                      <m:ctrlPr>
                                        <a:rPr lang="ar-AE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/>
                                          </m:ctrlPr>
                                        </m:dPr>
                                        <m:e>
                                          <m:r>
                                            <a:rPr lang="ar-AE"/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/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/>
                        <m:t>=</m:t>
                      </m:r>
                      <m:r>
                        <a:rPr lang="ar-AE"/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25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25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100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597007-F19D-3BD3-0FD4-AE831C51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34" y="2850400"/>
                <a:ext cx="11552903" cy="3964290"/>
              </a:xfrm>
              <a:prstGeom prst="rect">
                <a:avLst/>
              </a:prstGeom>
              <a:blipFill>
                <a:blip r:embed="rId3"/>
                <a:stretch>
                  <a:fillRect l="-475" t="-769" b="-24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834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343C38-3E47-A1FA-587E-B9B06A76A222}"/>
                  </a:ext>
                </a:extLst>
              </p:cNvPr>
              <p:cNvSpPr txBox="1"/>
              <p:nvPr/>
            </p:nvSpPr>
            <p:spPr>
              <a:xfrm>
                <a:off x="294967" y="393741"/>
                <a:ext cx="1146441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(d) Interaction Sum of Squares (SSAB)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𝑆𝑆𝐴𝐵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𝑆𝑆𝐴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𝑆𝑆𝐵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343C38-3E47-A1FA-587E-B9B06A76A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7" y="393741"/>
                <a:ext cx="11464414" cy="923330"/>
              </a:xfrm>
              <a:prstGeom prst="rect">
                <a:avLst/>
              </a:prstGeom>
              <a:blipFill>
                <a:blip r:embed="rId2"/>
                <a:stretch>
                  <a:fillRect l="-425" t="-33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64DAFEA-ED41-B506-7E5C-E9055ED821D0}"/>
              </a:ext>
            </a:extLst>
          </p:cNvPr>
          <p:cNvSpPr txBox="1"/>
          <p:nvPr/>
        </p:nvSpPr>
        <p:spPr>
          <a:xfrm>
            <a:off x="373626" y="14868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4: Degrees of Freedom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D6A8F4-7386-0C94-2980-41E9E0B21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111167"/>
              </p:ext>
            </p:extLst>
          </p:nvPr>
        </p:nvGraphicFramePr>
        <p:xfrm>
          <a:off x="294967" y="2491059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454739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1158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286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83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151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516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6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688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0A5929-69DA-6537-2FB3-ACE5241F56B2}"/>
              </a:ext>
            </a:extLst>
          </p:cNvPr>
          <p:cNvSpPr txBox="1"/>
          <p:nvPr/>
        </p:nvSpPr>
        <p:spPr>
          <a:xfrm>
            <a:off x="294966" y="5048017"/>
            <a:ext cx="11464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(Since this is a simplified example with one observation per cell, error term is zero)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4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2DF5BF-FA17-FB4F-0D27-F715814A3020}"/>
              </a:ext>
            </a:extLst>
          </p:cNvPr>
          <p:cNvSpPr txBox="1"/>
          <p:nvPr/>
        </p:nvSpPr>
        <p:spPr>
          <a:xfrm>
            <a:off x="373625" y="375773"/>
            <a:ext cx="11405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5: ANOVA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9E8A3-D9FA-ABFC-B0C0-EC7E69B97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846297"/>
              </p:ext>
            </p:extLst>
          </p:nvPr>
        </p:nvGraphicFramePr>
        <p:xfrm>
          <a:off x="373625" y="1105359"/>
          <a:ext cx="10515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2208088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662852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885861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69308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06897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4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6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771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778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00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6637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73009F-C8EC-9B43-BCC6-AB9C7DC4CB9C}"/>
              </a:ext>
            </a:extLst>
          </p:cNvPr>
          <p:cNvSpPr txBox="1"/>
          <p:nvPr/>
        </p:nvSpPr>
        <p:spPr>
          <a:xfrm>
            <a:off x="373624" y="3740131"/>
            <a:ext cx="114054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Factor A (Teaching Method)</a:t>
            </a:r>
            <a:r>
              <a:rPr lang="en-US" dirty="0"/>
              <a:t> has an effect on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Factor B (Study Duration)</a:t>
            </a:r>
            <a:r>
              <a:rPr lang="en-US" dirty="0"/>
              <a:t> has a stronger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interaction effect</a:t>
            </a:r>
            <a:r>
              <a:rPr lang="en-US" dirty="0"/>
              <a:t> between teaching method and study duration.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22EB8-B5A0-4082-80BD-344952190B39}"/>
              </a:ext>
            </a:extLst>
          </p:cNvPr>
          <p:cNvSpPr txBox="1"/>
          <p:nvPr/>
        </p:nvSpPr>
        <p:spPr>
          <a:xfrm>
            <a:off x="373623" y="5115201"/>
            <a:ext cx="1051559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Two-way ANOVA helps in understanding: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Individual effects of two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Combined interaction effect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decision-making in experiments involving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63718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1321</Words>
  <Application>Microsoft Office PowerPoint</Application>
  <PresentationFormat>Widescreen</PresentationFormat>
  <Paragraphs>263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Unit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Sapna Yadav Ph.D. (Commputer Science)</dc:creator>
  <cp:lastModifiedBy>Sapna Yadav Ph.D. (Commputer Science)</cp:lastModifiedBy>
  <cp:revision>1</cp:revision>
  <dcterms:created xsi:type="dcterms:W3CDTF">2025-12-25T18:31:47Z</dcterms:created>
  <dcterms:modified xsi:type="dcterms:W3CDTF">2025-12-25T19:11:05Z</dcterms:modified>
</cp:coreProperties>
</file>