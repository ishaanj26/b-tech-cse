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9C598-4329-4080-A9AE-D05E8364485B}" type="datetimeFigureOut">
              <a:rPr lang="en-IN" smtClean="0"/>
              <a:t>24-12-2025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F90E3-6A33-4C34-938A-C4C1322017FD}" type="slidenum">
              <a:rPr lang="en-IN" smtClean="0"/>
              <a:t>‹#›</a:t>
            </a:fld>
            <a:endParaRPr lang="en-IN"/>
          </a:p>
        </p:txBody>
      </p:sp>
    </p:spTree>
    <p:extLst>
      <p:ext uri="{BB962C8B-B14F-4D97-AF65-F5344CB8AC3E}">
        <p14:creationId xmlns:p14="http://schemas.microsoft.com/office/powerpoint/2010/main" val="2534432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2F90E3-6A33-4C34-938A-C4C1322017FD}" type="slidenum">
              <a:rPr lang="en-IN" smtClean="0"/>
              <a:t>17</a:t>
            </a:fld>
            <a:endParaRPr lang="en-IN"/>
          </a:p>
        </p:txBody>
      </p:sp>
    </p:spTree>
    <p:extLst>
      <p:ext uri="{BB962C8B-B14F-4D97-AF65-F5344CB8AC3E}">
        <p14:creationId xmlns:p14="http://schemas.microsoft.com/office/powerpoint/2010/main" val="1569711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3981-B0E9-D3CD-2ADE-CBD0196487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2CE6EC-0EC8-3FF1-EC47-7888D24D2E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E2D6BD-F203-E3CC-0F31-FD43DB8F79E5}"/>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F078300C-36CB-C770-D6A3-9B7F2BD24D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E432EF-E132-9E09-F2FE-9F2FAC9FFF3E}"/>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4226532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37F50-621F-2213-FB0B-42069AD63E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20942B-D459-6DFB-8B86-5B505CF2F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D7DBA4-8671-4D4D-7EB5-98BA09A34E5B}"/>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D82DB610-DAF5-3A1E-FC9B-8DC7478B7D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C67610-904E-07A8-5C34-AF493C549C50}"/>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2223772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5D37C-1305-7E37-F65C-98E312CBA4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045050B-8DED-F983-45EB-0530976CA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879661-A456-89B2-7BC3-A186A9D5A9FA}"/>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D19E5EBE-8090-469A-510D-7CE870652F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3F356E-2A5C-22A4-965B-72A1A2AA81AC}"/>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284927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C9723-C3F6-CA29-283C-D12097A902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DB09D0-A417-E785-3D3C-79FAA3C87A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C41B29-85E3-A3BB-4241-3409DB494A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2C5E29-4B8E-3105-B31B-C09C49C2936E}"/>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6" name="Footer Placeholder 5">
            <a:extLst>
              <a:ext uri="{FF2B5EF4-FFF2-40B4-BE49-F238E27FC236}">
                <a16:creationId xmlns:a16="http://schemas.microsoft.com/office/drawing/2014/main" id="{E2C1E7EC-DB81-121B-F58B-8F75C22881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1532A9-08BE-A595-B151-C3C239697B8A}"/>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3798381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11FB-6635-1D46-84C9-EA984FA169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37A1E6-117C-B768-E69E-108356DD5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8EEA48-8E9D-DC61-ADDF-EC665706CE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2591B6-83C6-42C9-1559-AF3D6DDC16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7BA8E6-7D55-2877-CCBE-A0C50222D0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D9D6CE-4CD4-6099-25C6-65EA276742D1}"/>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8" name="Footer Placeholder 7">
            <a:extLst>
              <a:ext uri="{FF2B5EF4-FFF2-40B4-BE49-F238E27FC236}">
                <a16:creationId xmlns:a16="http://schemas.microsoft.com/office/drawing/2014/main" id="{D7825415-D202-3073-CD74-18AC9A7931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E8F21D-4385-4CF6-1DFD-DA690D62BACC}"/>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3921644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EB1FF-FC0C-C331-C6F3-35F9D9E7B4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A4B76B-76EE-398B-A19E-1642D46568CE}"/>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4" name="Footer Placeholder 3">
            <a:extLst>
              <a:ext uri="{FF2B5EF4-FFF2-40B4-BE49-F238E27FC236}">
                <a16:creationId xmlns:a16="http://schemas.microsoft.com/office/drawing/2014/main" id="{E8F3C455-2CFB-F3C3-8EB4-E72CFC4048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56D5E9-45BE-9D57-43A6-1ED869802FCE}"/>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3325656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16F805-DF81-3573-8E7E-73D11311773E}"/>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3" name="Footer Placeholder 2">
            <a:extLst>
              <a:ext uri="{FF2B5EF4-FFF2-40B4-BE49-F238E27FC236}">
                <a16:creationId xmlns:a16="http://schemas.microsoft.com/office/drawing/2014/main" id="{6BF13ED9-DA90-7FC0-62B7-E43C26BF67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8972DA-649A-A2C4-C06B-DFE1F8EA0056}"/>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230451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C7F8-BD27-2D96-9D5D-491105369F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E21ACB-EE59-8AD0-A191-BD46AEC363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339256-3466-B12C-50DE-69BC2402D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3F6F8-18B1-7AD1-806B-ECB712D55429}"/>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6" name="Footer Placeholder 5">
            <a:extLst>
              <a:ext uri="{FF2B5EF4-FFF2-40B4-BE49-F238E27FC236}">
                <a16:creationId xmlns:a16="http://schemas.microsoft.com/office/drawing/2014/main" id="{AE6429B3-92A8-9ECA-2770-D833AF080B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4CD52-42F1-0EE4-4CD6-3F8453DC3A0B}"/>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1444863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CDC43-F000-6517-4DFB-98B64CFDC8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97E5E8-3207-186A-A1C3-6F784A54A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2BCEDA-4DAF-C6DE-3212-FD47F4A623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2D01FB-28EE-17A7-93DA-3A2BAFC6D4A7}"/>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6" name="Footer Placeholder 5">
            <a:extLst>
              <a:ext uri="{FF2B5EF4-FFF2-40B4-BE49-F238E27FC236}">
                <a16:creationId xmlns:a16="http://schemas.microsoft.com/office/drawing/2014/main" id="{8C1A5C9C-8FCA-A709-0FB8-EC62F6D4D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20B82A-133D-B85F-A5BD-6A0E5484ADDD}"/>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3822561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AA3-B5B1-0374-B3A1-615A20C912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5DAB7B-A106-7CB0-F4D2-78CCF04976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A8C223-01B2-2645-3560-48FE147608C3}"/>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5437394C-3BA8-25F1-4529-C55965CD07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93C887-5BE1-863C-010B-0762601370BD}"/>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2973800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6D8D8A-D53D-56AD-1656-605FA76148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8F4A32-6D43-BBC5-26BF-975A01E7C5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0A7BA-B924-3153-A2F4-0FC886B8D8EE}"/>
              </a:ext>
            </a:extLst>
          </p:cNvPr>
          <p:cNvSpPr>
            <a:spLocks noGrp="1"/>
          </p:cNvSpPr>
          <p:nvPr>
            <p:ph type="dt" sz="half" idx="10"/>
          </p:nvPr>
        </p:nvSpPr>
        <p:spPr/>
        <p:txBody>
          <a:body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1AF07F48-F664-4943-188D-F6BBD1C98A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13D8BC-552F-60E3-1355-1BA2E03FA12B}"/>
              </a:ext>
            </a:extLst>
          </p:cNvPr>
          <p:cNvSpPr>
            <a:spLocks noGrp="1"/>
          </p:cNvSpPr>
          <p:nvPr>
            <p:ph type="sldNum" sz="quarter" idx="12"/>
          </p:nvPr>
        </p:nvSpPr>
        <p:spPr/>
        <p:txBody>
          <a:bodyPr/>
          <a:lstStyle/>
          <a:p>
            <a:fld id="{2249D69A-66C7-4E15-9C8D-E6113106EAF1}" type="slidenum">
              <a:rPr lang="en-IN" smtClean="0"/>
              <a:t>‹#›</a:t>
            </a:fld>
            <a:endParaRPr lang="en-IN"/>
          </a:p>
        </p:txBody>
      </p:sp>
    </p:spTree>
    <p:extLst>
      <p:ext uri="{BB962C8B-B14F-4D97-AF65-F5344CB8AC3E}">
        <p14:creationId xmlns:p14="http://schemas.microsoft.com/office/powerpoint/2010/main" val="500688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86A7E9-3E48-94E4-5B9B-81A48F90DD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CD128E-B22F-9A21-21DF-AB379FBCD9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9259CC-3A1D-067A-02C4-B7174DA8E4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7FE889-12A7-4C18-8038-C72BEA6D9514}" type="datetimeFigureOut">
              <a:rPr lang="en-IN" smtClean="0"/>
              <a:t>24-12-2025</a:t>
            </a:fld>
            <a:endParaRPr lang="en-IN"/>
          </a:p>
        </p:txBody>
      </p:sp>
      <p:sp>
        <p:nvSpPr>
          <p:cNvPr id="5" name="Footer Placeholder 4">
            <a:extLst>
              <a:ext uri="{FF2B5EF4-FFF2-40B4-BE49-F238E27FC236}">
                <a16:creationId xmlns:a16="http://schemas.microsoft.com/office/drawing/2014/main" id="{B386A849-1786-D234-F21D-88310AD7E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A593556-229F-68C7-A657-AB71C0D20B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49D69A-66C7-4E15-9C8D-E6113106EAF1}" type="slidenum">
              <a:rPr lang="en-IN" smtClean="0"/>
              <a:t>‹#›</a:t>
            </a:fld>
            <a:endParaRPr lang="en-IN"/>
          </a:p>
        </p:txBody>
      </p:sp>
    </p:spTree>
    <p:extLst>
      <p:ext uri="{BB962C8B-B14F-4D97-AF65-F5344CB8AC3E}">
        <p14:creationId xmlns:p14="http://schemas.microsoft.com/office/powerpoint/2010/main" val="2957351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C5E05-EFA5-9233-5649-BDAD36B88325}"/>
              </a:ext>
            </a:extLst>
          </p:cNvPr>
          <p:cNvSpPr>
            <a:spLocks noGrp="1"/>
          </p:cNvSpPr>
          <p:nvPr>
            <p:ph type="ctrTitle"/>
          </p:nvPr>
        </p:nvSpPr>
        <p:spPr/>
        <p:txBody>
          <a:bodyPr/>
          <a:lstStyle/>
          <a:p>
            <a:r>
              <a:rPr lang="en-US" dirty="0"/>
              <a:t>Unit 3 </a:t>
            </a:r>
            <a:endParaRPr lang="en-IN" dirty="0"/>
          </a:p>
        </p:txBody>
      </p:sp>
      <p:sp>
        <p:nvSpPr>
          <p:cNvPr id="3" name="Subtitle 2">
            <a:extLst>
              <a:ext uri="{FF2B5EF4-FFF2-40B4-BE49-F238E27FC236}">
                <a16:creationId xmlns:a16="http://schemas.microsoft.com/office/drawing/2014/main" id="{8B597566-3C08-1BC8-B9E7-CB611855E13E}"/>
              </a:ext>
            </a:extLst>
          </p:cNvPr>
          <p:cNvSpPr>
            <a:spLocks noGrp="1"/>
          </p:cNvSpPr>
          <p:nvPr>
            <p:ph type="subTitle" idx="1"/>
          </p:nvPr>
        </p:nvSpPr>
        <p:spPr/>
        <p:txBody>
          <a:bodyPr/>
          <a:lstStyle/>
          <a:p>
            <a:r>
              <a:rPr lang="en-US" b="1" dirty="0"/>
              <a:t>Part I</a:t>
            </a:r>
          </a:p>
          <a:p>
            <a:r>
              <a:rPr lang="en-US" dirty="0"/>
              <a:t>(Data Analytics‐ Relation: Data Science, Analytics and Big Data Analytics. Data Science Components – Big data  technology – Data Science user‐ roles and skills‐ Data Science use cases. )</a:t>
            </a:r>
            <a:endParaRPr lang="en-IN" dirty="0"/>
          </a:p>
        </p:txBody>
      </p:sp>
    </p:spTree>
    <p:extLst>
      <p:ext uri="{BB962C8B-B14F-4D97-AF65-F5344CB8AC3E}">
        <p14:creationId xmlns:p14="http://schemas.microsoft.com/office/powerpoint/2010/main" val="243865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FD906F-B01D-C7F4-4DDF-0D28E11FD40F}"/>
              </a:ext>
            </a:extLst>
          </p:cNvPr>
          <p:cNvSpPr txBox="1"/>
          <p:nvPr/>
        </p:nvSpPr>
        <p:spPr>
          <a:xfrm>
            <a:off x="299884" y="364463"/>
            <a:ext cx="11592232" cy="5632311"/>
          </a:xfrm>
          <a:prstGeom prst="rect">
            <a:avLst/>
          </a:prstGeom>
          <a:noFill/>
        </p:spPr>
        <p:txBody>
          <a:bodyPr wrap="square">
            <a:spAutoFit/>
          </a:bodyPr>
          <a:lstStyle/>
          <a:p>
            <a:pPr>
              <a:buNone/>
            </a:pPr>
            <a:r>
              <a:rPr lang="en-US" b="1" dirty="0">
                <a:solidFill>
                  <a:srgbClr val="FF0000"/>
                </a:solidFill>
              </a:rPr>
              <a:t>Data Science – Detailed Explanation with Example</a:t>
            </a:r>
          </a:p>
          <a:p>
            <a:pPr>
              <a:buNone/>
            </a:pPr>
            <a:r>
              <a:rPr lang="en-US" b="1" dirty="0"/>
              <a:t>Data Science</a:t>
            </a:r>
            <a:r>
              <a:rPr lang="en-US" dirty="0"/>
              <a:t> is an interdisciplinary field that uses </a:t>
            </a:r>
            <a:r>
              <a:rPr lang="en-US" b="1" dirty="0"/>
              <a:t>mathematics, statistics, programming, domain knowledge, and machine learning</a:t>
            </a:r>
            <a:r>
              <a:rPr lang="en-US" dirty="0"/>
              <a:t> to extract insights and build predictive models from data.</a:t>
            </a:r>
            <a:br>
              <a:rPr lang="en-US" dirty="0"/>
            </a:br>
            <a:r>
              <a:rPr lang="en-US" dirty="0"/>
              <a:t>It deals with the </a:t>
            </a:r>
            <a:r>
              <a:rPr lang="en-US" b="1" dirty="0"/>
              <a:t>complete lifecycle of data</a:t>
            </a:r>
            <a:r>
              <a:rPr lang="en-US" dirty="0"/>
              <a:t>—from data collection, cleaning, exploration, modeling, deployment, and monitoring.</a:t>
            </a:r>
          </a:p>
          <a:p>
            <a:pPr>
              <a:buNone/>
            </a:pPr>
            <a:endParaRPr lang="en-US" b="1" dirty="0"/>
          </a:p>
          <a:p>
            <a:pPr>
              <a:buNone/>
            </a:pPr>
            <a:r>
              <a:rPr lang="en-US" b="1" dirty="0">
                <a:solidFill>
                  <a:srgbClr val="FF0000"/>
                </a:solidFill>
              </a:rPr>
              <a:t>Key Characteristics</a:t>
            </a:r>
          </a:p>
          <a:p>
            <a:pPr>
              <a:buFont typeface="Arial" panose="020B0604020202020204" pitchFamily="34" charset="0"/>
              <a:buChar char="•"/>
            </a:pPr>
            <a:r>
              <a:rPr lang="en-US" dirty="0"/>
              <a:t>End-to-end process (data → insights → prediction → deployment).</a:t>
            </a:r>
          </a:p>
          <a:p>
            <a:pPr>
              <a:buFont typeface="Arial" panose="020B0604020202020204" pitchFamily="34" charset="0"/>
              <a:buChar char="•"/>
            </a:pPr>
            <a:r>
              <a:rPr lang="en-US" dirty="0"/>
              <a:t>Uses machine learning, deep learning, AI techniques.</a:t>
            </a:r>
          </a:p>
          <a:p>
            <a:pPr>
              <a:buFont typeface="Arial" panose="020B0604020202020204" pitchFamily="34" charset="0"/>
              <a:buChar char="•"/>
            </a:pPr>
            <a:r>
              <a:rPr lang="en-US" dirty="0"/>
              <a:t>Requires strong programming skills (Python, R), statistics, and domain expertise.</a:t>
            </a:r>
          </a:p>
          <a:p>
            <a:pPr>
              <a:buFont typeface="Arial" panose="020B0604020202020204" pitchFamily="34" charset="0"/>
              <a:buChar char="•"/>
            </a:pPr>
            <a:r>
              <a:rPr lang="en-US" dirty="0"/>
              <a:t>Focuses on </a:t>
            </a:r>
            <a:r>
              <a:rPr lang="en-US" b="1" dirty="0"/>
              <a:t>building models, predictive systems, and automation</a:t>
            </a:r>
            <a:r>
              <a:rPr lang="en-US" dirty="0"/>
              <a:t>.</a:t>
            </a:r>
          </a:p>
          <a:p>
            <a:pPr>
              <a:buNone/>
            </a:pPr>
            <a:endParaRPr lang="en-US" b="1" dirty="0"/>
          </a:p>
          <a:p>
            <a:pPr>
              <a:buNone/>
            </a:pPr>
            <a:r>
              <a:rPr lang="en-US" b="1" dirty="0">
                <a:solidFill>
                  <a:srgbClr val="FF0000"/>
                </a:solidFill>
              </a:rPr>
              <a:t>Example</a:t>
            </a:r>
          </a:p>
          <a:p>
            <a:pPr>
              <a:buNone/>
            </a:pPr>
            <a:r>
              <a:rPr lang="en-US" dirty="0"/>
              <a:t>A </a:t>
            </a:r>
            <a:r>
              <a:rPr lang="en-US" b="1" dirty="0"/>
              <a:t>bank</a:t>
            </a:r>
            <a:r>
              <a:rPr lang="en-US" dirty="0"/>
              <a:t> wants to build a </a:t>
            </a:r>
            <a:r>
              <a:rPr lang="en-US" i="1" dirty="0"/>
              <a:t>loan default prediction system</a:t>
            </a:r>
            <a:r>
              <a:rPr lang="en-US" dirty="0"/>
              <a:t>.</a:t>
            </a:r>
            <a:br>
              <a:rPr lang="en-US" dirty="0"/>
            </a:br>
            <a:r>
              <a:rPr lang="en-US" dirty="0"/>
              <a:t>A data scientist would:</a:t>
            </a:r>
          </a:p>
          <a:p>
            <a:pPr>
              <a:buFont typeface="+mj-lt"/>
              <a:buAutoNum type="arabicPeriod"/>
            </a:pPr>
            <a:r>
              <a:rPr lang="en-US" dirty="0"/>
              <a:t>Collect past customer and repayment data.</a:t>
            </a:r>
          </a:p>
          <a:p>
            <a:pPr>
              <a:buFont typeface="+mj-lt"/>
              <a:buAutoNum type="arabicPeriod"/>
            </a:pPr>
            <a:r>
              <a:rPr lang="en-US" dirty="0"/>
              <a:t>Clean the data and remove missing values.</a:t>
            </a:r>
          </a:p>
          <a:p>
            <a:pPr>
              <a:buFont typeface="+mj-lt"/>
              <a:buAutoNum type="arabicPeriod"/>
            </a:pPr>
            <a:r>
              <a:rPr lang="en-US" dirty="0"/>
              <a:t>Explore relationships between income, loan amount, credit score.</a:t>
            </a:r>
          </a:p>
          <a:p>
            <a:pPr>
              <a:buFont typeface="+mj-lt"/>
              <a:buAutoNum type="arabicPeriod"/>
            </a:pPr>
            <a:r>
              <a:rPr lang="en-US" dirty="0"/>
              <a:t>Build a </a:t>
            </a:r>
            <a:r>
              <a:rPr lang="en-US" b="1" dirty="0"/>
              <a:t>machine learning model</a:t>
            </a:r>
            <a:r>
              <a:rPr lang="en-US" dirty="0"/>
              <a:t> to predict default probability.</a:t>
            </a:r>
          </a:p>
          <a:p>
            <a:pPr>
              <a:buFont typeface="+mj-lt"/>
              <a:buAutoNum type="arabicPeriod"/>
            </a:pPr>
            <a:r>
              <a:rPr lang="en-US" dirty="0"/>
              <a:t>Deploy the model into the bank’s loan processing system.</a:t>
            </a:r>
          </a:p>
        </p:txBody>
      </p:sp>
    </p:spTree>
    <p:extLst>
      <p:ext uri="{BB962C8B-B14F-4D97-AF65-F5344CB8AC3E}">
        <p14:creationId xmlns:p14="http://schemas.microsoft.com/office/powerpoint/2010/main" val="3291035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C83B7A-8D43-8736-D911-D5320ABC8AEF}"/>
              </a:ext>
            </a:extLst>
          </p:cNvPr>
          <p:cNvSpPr txBox="1"/>
          <p:nvPr/>
        </p:nvSpPr>
        <p:spPr>
          <a:xfrm>
            <a:off x="324465" y="476803"/>
            <a:ext cx="11582400" cy="5355312"/>
          </a:xfrm>
          <a:prstGeom prst="rect">
            <a:avLst/>
          </a:prstGeom>
          <a:noFill/>
        </p:spPr>
        <p:txBody>
          <a:bodyPr wrap="square">
            <a:spAutoFit/>
          </a:bodyPr>
          <a:lstStyle/>
          <a:p>
            <a:pPr>
              <a:buNone/>
            </a:pPr>
            <a:r>
              <a:rPr lang="en-US" b="1" dirty="0">
                <a:solidFill>
                  <a:srgbClr val="FF0000"/>
                </a:solidFill>
              </a:rPr>
              <a:t>Data Analytics</a:t>
            </a:r>
          </a:p>
          <a:p>
            <a:pPr>
              <a:buNone/>
            </a:pPr>
            <a:endParaRPr lang="en-US" b="1" dirty="0"/>
          </a:p>
          <a:p>
            <a:pPr>
              <a:buNone/>
            </a:pPr>
            <a:r>
              <a:rPr lang="en-US" b="1" dirty="0"/>
              <a:t>Data Analytics</a:t>
            </a:r>
            <a:r>
              <a:rPr lang="en-US" dirty="0"/>
              <a:t> focuses on analyzing existing datasets to extract </a:t>
            </a:r>
            <a:r>
              <a:rPr lang="en-US" b="1" dirty="0"/>
              <a:t>historical insights</a:t>
            </a:r>
            <a:r>
              <a:rPr lang="en-US" dirty="0"/>
              <a:t>, discover patterns, and support business decision-making.</a:t>
            </a:r>
            <a:br>
              <a:rPr lang="en-US" dirty="0"/>
            </a:br>
            <a:r>
              <a:rPr lang="en-US" dirty="0"/>
              <a:t>It is more about </a:t>
            </a:r>
            <a:r>
              <a:rPr lang="en-US" b="1" dirty="0"/>
              <a:t>interpreting data</a:t>
            </a:r>
            <a:r>
              <a:rPr lang="en-US" dirty="0"/>
              <a:t> rather than building predictive models.</a:t>
            </a:r>
          </a:p>
          <a:p>
            <a:pPr>
              <a:buNone/>
            </a:pPr>
            <a:endParaRPr lang="en-US" b="1" dirty="0"/>
          </a:p>
          <a:p>
            <a:pPr>
              <a:buNone/>
            </a:pPr>
            <a:r>
              <a:rPr lang="en-US" b="1" dirty="0">
                <a:solidFill>
                  <a:srgbClr val="FF0000"/>
                </a:solidFill>
              </a:rPr>
              <a:t>Key Characteristics</a:t>
            </a:r>
          </a:p>
          <a:p>
            <a:pPr>
              <a:buFont typeface="Arial" panose="020B0604020202020204" pitchFamily="34" charset="0"/>
              <a:buChar char="•"/>
            </a:pPr>
            <a:r>
              <a:rPr lang="en-US" dirty="0"/>
              <a:t>Deals with past and current data.</a:t>
            </a:r>
          </a:p>
          <a:p>
            <a:pPr>
              <a:buFont typeface="Arial" panose="020B0604020202020204" pitchFamily="34" charset="0"/>
              <a:buChar char="•"/>
            </a:pPr>
            <a:r>
              <a:rPr lang="en-US" dirty="0"/>
              <a:t>Uses statistical analysis, BI tools (Tableau, Power BI, Excel).</a:t>
            </a:r>
          </a:p>
          <a:p>
            <a:pPr>
              <a:buFont typeface="Arial" panose="020B0604020202020204" pitchFamily="34" charset="0"/>
              <a:buChar char="•"/>
            </a:pPr>
            <a:r>
              <a:rPr lang="en-US" dirty="0"/>
              <a:t>Answers business questions like </a:t>
            </a:r>
            <a:r>
              <a:rPr lang="en-US" i="1" dirty="0"/>
              <a:t>“What happened?”</a:t>
            </a:r>
            <a:r>
              <a:rPr lang="en-US" dirty="0"/>
              <a:t>, </a:t>
            </a:r>
            <a:r>
              <a:rPr lang="en-US" i="1" dirty="0"/>
              <a:t>“Why did it happen?”</a:t>
            </a:r>
            <a:r>
              <a:rPr lang="en-US" dirty="0"/>
              <a:t>.</a:t>
            </a:r>
          </a:p>
          <a:p>
            <a:pPr>
              <a:buFont typeface="Arial" panose="020B0604020202020204" pitchFamily="34" charset="0"/>
              <a:buChar char="•"/>
            </a:pPr>
            <a:r>
              <a:rPr lang="en-US" dirty="0"/>
              <a:t>Focuses on reporting, dashboards, trend analysis.</a:t>
            </a:r>
          </a:p>
          <a:p>
            <a:pPr>
              <a:buNone/>
            </a:pPr>
            <a:endParaRPr lang="en-US" b="1" dirty="0"/>
          </a:p>
          <a:p>
            <a:pPr>
              <a:buNone/>
            </a:pPr>
            <a:r>
              <a:rPr lang="en-US" b="1" dirty="0">
                <a:solidFill>
                  <a:srgbClr val="FF0000"/>
                </a:solidFill>
              </a:rPr>
              <a:t>Example</a:t>
            </a:r>
          </a:p>
          <a:p>
            <a:pPr>
              <a:buNone/>
            </a:pPr>
            <a:r>
              <a:rPr lang="en-US" dirty="0"/>
              <a:t>A </a:t>
            </a:r>
            <a:r>
              <a:rPr lang="en-US" b="1" dirty="0"/>
              <a:t>retail store</a:t>
            </a:r>
            <a:r>
              <a:rPr lang="en-US" dirty="0"/>
              <a:t> wants to know why sales decreased last month.</a:t>
            </a:r>
            <a:br>
              <a:rPr lang="en-US" dirty="0"/>
            </a:br>
            <a:r>
              <a:rPr lang="en-US" dirty="0"/>
              <a:t>A data analyst would:</a:t>
            </a:r>
          </a:p>
          <a:p>
            <a:pPr>
              <a:buFont typeface="+mj-lt"/>
              <a:buAutoNum type="arabicPeriod"/>
            </a:pPr>
            <a:r>
              <a:rPr lang="en-US" dirty="0"/>
              <a:t>Pull sales data from the last 6 months.</a:t>
            </a:r>
          </a:p>
          <a:p>
            <a:pPr>
              <a:buFont typeface="+mj-lt"/>
              <a:buAutoNum type="arabicPeriod"/>
            </a:pPr>
            <a:r>
              <a:rPr lang="en-US" dirty="0"/>
              <a:t>Analyze trends and compare monthly numbers.</a:t>
            </a:r>
          </a:p>
          <a:p>
            <a:pPr>
              <a:buFont typeface="+mj-lt"/>
              <a:buAutoNum type="arabicPeriod"/>
            </a:pPr>
            <a:r>
              <a:rPr lang="en-US" dirty="0"/>
              <a:t>Identify reasons—seasonal demand drop, stock unavailability, pricing issues.</a:t>
            </a:r>
          </a:p>
          <a:p>
            <a:pPr>
              <a:buFont typeface="+mj-lt"/>
              <a:buAutoNum type="arabicPeriod"/>
            </a:pPr>
            <a:r>
              <a:rPr lang="en-US" dirty="0"/>
              <a:t>Provide a report suggesting how to improve sales.</a:t>
            </a:r>
          </a:p>
        </p:txBody>
      </p:sp>
    </p:spTree>
    <p:extLst>
      <p:ext uri="{BB962C8B-B14F-4D97-AF65-F5344CB8AC3E}">
        <p14:creationId xmlns:p14="http://schemas.microsoft.com/office/powerpoint/2010/main" val="1392092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563783-9E0B-8CC3-1CDB-97742C9205E4}"/>
              </a:ext>
            </a:extLst>
          </p:cNvPr>
          <p:cNvSpPr txBox="1"/>
          <p:nvPr/>
        </p:nvSpPr>
        <p:spPr>
          <a:xfrm>
            <a:off x="422787" y="338304"/>
            <a:ext cx="11405419" cy="5632311"/>
          </a:xfrm>
          <a:prstGeom prst="rect">
            <a:avLst/>
          </a:prstGeom>
          <a:noFill/>
        </p:spPr>
        <p:txBody>
          <a:bodyPr wrap="square">
            <a:spAutoFit/>
          </a:bodyPr>
          <a:lstStyle/>
          <a:p>
            <a:pPr>
              <a:buNone/>
            </a:pPr>
            <a:r>
              <a:rPr lang="en-US" b="1" dirty="0">
                <a:solidFill>
                  <a:srgbClr val="FF0000"/>
                </a:solidFill>
              </a:rPr>
              <a:t>Big Data Analytics</a:t>
            </a:r>
          </a:p>
          <a:p>
            <a:pPr>
              <a:buNone/>
            </a:pPr>
            <a:endParaRPr lang="en-US" b="1" dirty="0"/>
          </a:p>
          <a:p>
            <a:pPr>
              <a:buNone/>
            </a:pPr>
            <a:r>
              <a:rPr lang="en-US" b="1" dirty="0"/>
              <a:t>Big Data Analytics</a:t>
            </a:r>
            <a:r>
              <a:rPr lang="en-US" dirty="0"/>
              <a:t> deals with extremely large and complex datasets (volume, velocity, variety) that cannot be processed using traditional tools.</a:t>
            </a:r>
            <a:br>
              <a:rPr lang="en-US" dirty="0"/>
            </a:br>
            <a:r>
              <a:rPr lang="en-US" dirty="0"/>
              <a:t>It uses technologies like </a:t>
            </a:r>
            <a:r>
              <a:rPr lang="en-US" b="1" dirty="0"/>
              <a:t>Hadoop, Spark, NoSQL databases, distributed computing</a:t>
            </a:r>
            <a:r>
              <a:rPr lang="en-US" dirty="0"/>
              <a:t> to handle massive data.</a:t>
            </a:r>
          </a:p>
          <a:p>
            <a:pPr>
              <a:buNone/>
            </a:pPr>
            <a:endParaRPr lang="en-US" b="1" dirty="0"/>
          </a:p>
          <a:p>
            <a:pPr>
              <a:buNone/>
            </a:pPr>
            <a:r>
              <a:rPr lang="en-US" b="1" dirty="0">
                <a:solidFill>
                  <a:srgbClr val="FF0000"/>
                </a:solidFill>
              </a:rPr>
              <a:t>Key Characteristics</a:t>
            </a:r>
          </a:p>
          <a:p>
            <a:pPr>
              <a:buFont typeface="Arial" panose="020B0604020202020204" pitchFamily="34" charset="0"/>
              <a:buChar char="•"/>
            </a:pPr>
            <a:r>
              <a:rPr lang="en-US" dirty="0"/>
              <a:t>Processes huge volumes of data (TBs, PBs).</a:t>
            </a:r>
          </a:p>
          <a:p>
            <a:pPr>
              <a:buFont typeface="Arial" panose="020B0604020202020204" pitchFamily="34" charset="0"/>
              <a:buChar char="•"/>
            </a:pPr>
            <a:r>
              <a:rPr lang="en-US" dirty="0"/>
              <a:t>Works in real-time or near real-time.</a:t>
            </a:r>
          </a:p>
          <a:p>
            <a:pPr>
              <a:buFont typeface="Arial" panose="020B0604020202020204" pitchFamily="34" charset="0"/>
              <a:buChar char="•"/>
            </a:pPr>
            <a:r>
              <a:rPr lang="en-US" dirty="0"/>
              <a:t>Uses distributed systems (Hadoop HDFS, Spark clusters).</a:t>
            </a:r>
          </a:p>
          <a:p>
            <a:pPr>
              <a:buFont typeface="Arial" panose="020B0604020202020204" pitchFamily="34" charset="0"/>
              <a:buChar char="•"/>
            </a:pPr>
            <a:r>
              <a:rPr lang="en-US" dirty="0"/>
              <a:t>Extracts insights from unstructured data like videos, logs, social media.</a:t>
            </a:r>
          </a:p>
          <a:p>
            <a:pPr>
              <a:buNone/>
            </a:pPr>
            <a:endParaRPr lang="en-US" b="1" dirty="0"/>
          </a:p>
          <a:p>
            <a:pPr>
              <a:buNone/>
            </a:pPr>
            <a:r>
              <a:rPr lang="en-US" b="1" dirty="0">
                <a:solidFill>
                  <a:srgbClr val="FF0000"/>
                </a:solidFill>
              </a:rPr>
              <a:t>Example</a:t>
            </a:r>
          </a:p>
          <a:p>
            <a:pPr>
              <a:buNone/>
            </a:pPr>
            <a:r>
              <a:rPr lang="en-US" dirty="0"/>
              <a:t>A </a:t>
            </a:r>
            <a:r>
              <a:rPr lang="en-US" b="1" dirty="0"/>
              <a:t>social media company</a:t>
            </a:r>
            <a:r>
              <a:rPr lang="en-US" dirty="0"/>
              <a:t> (like Twitter) wants to analyze real-time tweets during a cricket match.</a:t>
            </a:r>
            <a:br>
              <a:rPr lang="en-US" dirty="0"/>
            </a:br>
            <a:r>
              <a:rPr lang="en-US" dirty="0"/>
              <a:t>Big data analytics would:</a:t>
            </a:r>
          </a:p>
          <a:p>
            <a:pPr>
              <a:buFont typeface="+mj-lt"/>
              <a:buAutoNum type="arabicPeriod"/>
            </a:pPr>
            <a:r>
              <a:rPr lang="en-US" dirty="0"/>
              <a:t>Capture millions of tweets per second.</a:t>
            </a:r>
          </a:p>
          <a:p>
            <a:pPr>
              <a:buFont typeface="+mj-lt"/>
              <a:buAutoNum type="arabicPeriod"/>
            </a:pPr>
            <a:r>
              <a:rPr lang="en-US" dirty="0"/>
              <a:t>Use </a:t>
            </a:r>
            <a:r>
              <a:rPr lang="en-US" b="1" dirty="0"/>
              <a:t>Apache Spark Streaming</a:t>
            </a:r>
            <a:r>
              <a:rPr lang="en-US" dirty="0"/>
              <a:t> to process them.</a:t>
            </a:r>
          </a:p>
          <a:p>
            <a:pPr>
              <a:buFont typeface="+mj-lt"/>
              <a:buAutoNum type="arabicPeriod"/>
            </a:pPr>
            <a:r>
              <a:rPr lang="en-US" dirty="0"/>
              <a:t>Apply sentiment analysis to understand public reaction.</a:t>
            </a:r>
          </a:p>
          <a:p>
            <a:pPr>
              <a:buFont typeface="+mj-lt"/>
              <a:buAutoNum type="arabicPeriod"/>
            </a:pPr>
            <a:r>
              <a:rPr lang="en-US" dirty="0"/>
              <a:t>Generate real-time dashboards showing trending players, moments, hashtags.</a:t>
            </a:r>
          </a:p>
          <a:p>
            <a:pPr>
              <a:buNone/>
            </a:pPr>
            <a:r>
              <a:rPr lang="en-US" dirty="0"/>
              <a:t>This requires massive data-processing infrastructure.</a:t>
            </a:r>
          </a:p>
        </p:txBody>
      </p:sp>
    </p:spTree>
    <p:extLst>
      <p:ext uri="{BB962C8B-B14F-4D97-AF65-F5344CB8AC3E}">
        <p14:creationId xmlns:p14="http://schemas.microsoft.com/office/powerpoint/2010/main" val="1778190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198885F-F076-79DA-3ED3-2C6106E7F8C7}"/>
              </a:ext>
            </a:extLst>
          </p:cNvPr>
          <p:cNvSpPr txBox="1"/>
          <p:nvPr/>
        </p:nvSpPr>
        <p:spPr>
          <a:xfrm>
            <a:off x="556532"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700" b="1" kern="1200">
                <a:solidFill>
                  <a:schemeClr val="bg1"/>
                </a:solidFill>
                <a:latin typeface="+mj-lt"/>
                <a:ea typeface="+mj-ea"/>
                <a:cs typeface="+mj-cs"/>
              </a:rPr>
              <a:t>Relationship Among Data Science, Data Analytics &amp; Big Data Analytics</a:t>
            </a:r>
          </a:p>
        </p:txBody>
      </p:sp>
      <p:graphicFrame>
        <p:nvGraphicFramePr>
          <p:cNvPr id="4" name="Table 3">
            <a:extLst>
              <a:ext uri="{FF2B5EF4-FFF2-40B4-BE49-F238E27FC236}">
                <a16:creationId xmlns:a16="http://schemas.microsoft.com/office/drawing/2014/main" id="{F686718E-AFFC-8820-9AB5-78FA68DDA2A9}"/>
              </a:ext>
            </a:extLst>
          </p:cNvPr>
          <p:cNvGraphicFramePr>
            <a:graphicFrameLocks noGrp="1"/>
          </p:cNvGraphicFramePr>
          <p:nvPr>
            <p:extLst>
              <p:ext uri="{D42A27DB-BD31-4B8C-83A1-F6EECF244321}">
                <p14:modId xmlns:p14="http://schemas.microsoft.com/office/powerpoint/2010/main" val="1390561720"/>
              </p:ext>
            </p:extLst>
          </p:nvPr>
        </p:nvGraphicFramePr>
        <p:xfrm>
          <a:off x="643465" y="1661010"/>
          <a:ext cx="10905069" cy="4676041"/>
        </p:xfrm>
        <a:graphic>
          <a:graphicData uri="http://schemas.openxmlformats.org/drawingml/2006/table">
            <a:tbl>
              <a:tblPr/>
              <a:tblGrid>
                <a:gridCol w="2709872">
                  <a:extLst>
                    <a:ext uri="{9D8B030D-6E8A-4147-A177-3AD203B41FA5}">
                      <a16:colId xmlns:a16="http://schemas.microsoft.com/office/drawing/2014/main" val="3883568092"/>
                    </a:ext>
                  </a:extLst>
                </a:gridCol>
                <a:gridCol w="2799061">
                  <a:extLst>
                    <a:ext uri="{9D8B030D-6E8A-4147-A177-3AD203B41FA5}">
                      <a16:colId xmlns:a16="http://schemas.microsoft.com/office/drawing/2014/main" val="3314810456"/>
                    </a:ext>
                  </a:extLst>
                </a:gridCol>
                <a:gridCol w="2662654">
                  <a:extLst>
                    <a:ext uri="{9D8B030D-6E8A-4147-A177-3AD203B41FA5}">
                      <a16:colId xmlns:a16="http://schemas.microsoft.com/office/drawing/2014/main" val="2590338434"/>
                    </a:ext>
                  </a:extLst>
                </a:gridCol>
                <a:gridCol w="2733482">
                  <a:extLst>
                    <a:ext uri="{9D8B030D-6E8A-4147-A177-3AD203B41FA5}">
                      <a16:colId xmlns:a16="http://schemas.microsoft.com/office/drawing/2014/main" val="2405886812"/>
                    </a:ext>
                  </a:extLst>
                </a:gridCol>
              </a:tblGrid>
              <a:tr h="281035">
                <a:tc>
                  <a:txBody>
                    <a:bodyPr/>
                    <a:lstStyle/>
                    <a:p>
                      <a:pPr>
                        <a:buNone/>
                      </a:pPr>
                      <a:r>
                        <a:rPr lang="en-IN" sz="1400" b="1" dirty="0">
                          <a:solidFill>
                            <a:schemeClr val="tx1"/>
                          </a:solidFill>
                        </a:rPr>
                        <a:t>Feature / Aspect</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Data Science</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Data Analytics</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Big Data Analytics</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4185124"/>
                  </a:ext>
                </a:extLst>
              </a:tr>
              <a:tr h="457987">
                <a:tc>
                  <a:txBody>
                    <a:bodyPr/>
                    <a:lstStyle/>
                    <a:p>
                      <a:pPr>
                        <a:buNone/>
                      </a:pPr>
                      <a:r>
                        <a:rPr lang="en-IN" sz="1400" b="1" dirty="0"/>
                        <a:t>Primary Focus</a:t>
                      </a:r>
                      <a:endParaRPr lang="en-IN" sz="1400" dirty="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Predictive modeling, automation, AI solutions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Insight generation from existing data</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Processing and analyzing massive datasets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1068900"/>
                  </a:ext>
                </a:extLst>
              </a:tr>
              <a:tr h="281035">
                <a:tc>
                  <a:txBody>
                    <a:bodyPr/>
                    <a:lstStyle/>
                    <a:p>
                      <a:pPr>
                        <a:buNone/>
                      </a:pPr>
                      <a:r>
                        <a:rPr lang="en-IN" sz="1400" b="1"/>
                        <a:t>Type of Data</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Small, medium, or large data</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Mostly structured data</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Massive structured + unstructured data</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2016221"/>
                  </a:ext>
                </a:extLst>
              </a:tr>
              <a:tr h="457987">
                <a:tc>
                  <a:txBody>
                    <a:bodyPr/>
                    <a:lstStyle/>
                    <a:p>
                      <a:pPr>
                        <a:buNone/>
                      </a:pPr>
                      <a:r>
                        <a:rPr lang="en-IN" sz="1400" b="1"/>
                        <a:t>Key Question Answered</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i="1"/>
                        <a:t>“What will happen?”</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i="1"/>
                        <a:t>“What happened and why?”</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i="1"/>
                        <a:t>“What is happening in real-time from huge data?”</a:t>
                      </a:r>
                      <a:endParaRPr lang="en-US"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0044590"/>
                  </a:ext>
                </a:extLst>
              </a:tr>
              <a:tr h="457987">
                <a:tc>
                  <a:txBody>
                    <a:bodyPr/>
                    <a:lstStyle/>
                    <a:p>
                      <a:pPr>
                        <a:buNone/>
                      </a:pPr>
                      <a:r>
                        <a:rPr lang="en-IN" sz="1400" b="1" dirty="0"/>
                        <a:t>Techniques Used</a:t>
                      </a:r>
                      <a:endParaRPr lang="en-IN" sz="1400" dirty="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Machine learning, statistical modeling, deep learning</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Statistical analysis, dashboards, BI tools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Distributed computing, Hadoop, Spark</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094728"/>
                  </a:ext>
                </a:extLst>
              </a:tr>
              <a:tr h="281035">
                <a:tc>
                  <a:txBody>
                    <a:bodyPr/>
                    <a:lstStyle/>
                    <a:p>
                      <a:pPr>
                        <a:buNone/>
                      </a:pPr>
                      <a:r>
                        <a:rPr lang="en-IN" sz="1400" b="1"/>
                        <a:t>Tools</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Python, R, TensorFlow, Scikit-Learn</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Excel, SQL, Power BI, Tableau</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Hadoop, Spark, Hive, Flink</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7756240"/>
                  </a:ext>
                </a:extLst>
              </a:tr>
              <a:tr h="457987">
                <a:tc>
                  <a:txBody>
                    <a:bodyPr/>
                    <a:lstStyle/>
                    <a:p>
                      <a:pPr>
                        <a:buNone/>
                      </a:pPr>
                      <a:r>
                        <a:rPr lang="en-IN" sz="1400" b="1"/>
                        <a:t>Output Type</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Predictive models, AI systems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Reports, insights, dashboards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Real-time analytics, large-scale patterns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2040932"/>
                  </a:ext>
                </a:extLst>
              </a:tr>
              <a:tr h="457987">
                <a:tc>
                  <a:txBody>
                    <a:bodyPr/>
                    <a:lstStyle/>
                    <a:p>
                      <a:pPr>
                        <a:buNone/>
                      </a:pPr>
                      <a:r>
                        <a:rPr lang="en-IN" sz="1400" b="1"/>
                        <a:t>Skill Requirement</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Coding + ML + statistics + domain knowledge</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BI tools + SQL + visualization</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Distributed systems + parallel processing</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692647"/>
                  </a:ext>
                </a:extLst>
              </a:tr>
              <a:tr h="457987">
                <a:tc>
                  <a:txBody>
                    <a:bodyPr/>
                    <a:lstStyle/>
                    <a:p>
                      <a:pPr>
                        <a:buNone/>
                      </a:pPr>
                      <a:r>
                        <a:rPr lang="en-IN" sz="1400" b="1"/>
                        <a:t>Example</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Predict loan default using ML</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Analyze monthly sales trends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Real-time sentiment analysis of 1 million tweets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827984"/>
                  </a:ext>
                </a:extLst>
              </a:tr>
              <a:tr h="457987">
                <a:tc>
                  <a:txBody>
                    <a:bodyPr/>
                    <a:lstStyle/>
                    <a:p>
                      <a:pPr>
                        <a:buNone/>
                      </a:pPr>
                      <a:r>
                        <a:rPr lang="en-IN" sz="1400" b="1"/>
                        <a:t>Relation</a:t>
                      </a:r>
                      <a:endParaRPr lang="en-IN" sz="1400"/>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Uses analytics and big data processing as part of its workflow</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A subset of data science focusing on insights</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Supports data science when datasets are very large</a:t>
                      </a:r>
                    </a:p>
                  </a:txBody>
                  <a:tcPr marL="61614" marR="61614" marT="30807" marB="30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7537274"/>
                  </a:ext>
                </a:extLst>
              </a:tr>
            </a:tbl>
          </a:graphicData>
        </a:graphic>
      </p:graphicFrame>
    </p:spTree>
    <p:extLst>
      <p:ext uri="{BB962C8B-B14F-4D97-AF65-F5344CB8AC3E}">
        <p14:creationId xmlns:p14="http://schemas.microsoft.com/office/powerpoint/2010/main" val="3361722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E6E34F-926B-8F4C-5AD8-4E4C886BE9EB}"/>
              </a:ext>
            </a:extLst>
          </p:cNvPr>
          <p:cNvSpPr txBox="1"/>
          <p:nvPr/>
        </p:nvSpPr>
        <p:spPr>
          <a:xfrm>
            <a:off x="501444" y="256595"/>
            <a:ext cx="11169445" cy="1754326"/>
          </a:xfrm>
          <a:prstGeom prst="rect">
            <a:avLst/>
          </a:prstGeom>
          <a:noFill/>
        </p:spPr>
        <p:txBody>
          <a:bodyPr wrap="square">
            <a:spAutoFit/>
          </a:bodyPr>
          <a:lstStyle/>
          <a:p>
            <a:pPr>
              <a:buNone/>
            </a:pPr>
            <a:r>
              <a:rPr lang="en-US" b="1" dirty="0">
                <a:solidFill>
                  <a:srgbClr val="FF0000"/>
                </a:solidFill>
              </a:rPr>
              <a:t>How They Are Related</a:t>
            </a:r>
          </a:p>
          <a:p>
            <a:pPr>
              <a:buNone/>
            </a:pPr>
            <a:endParaRPr lang="en-US" b="1" dirty="0">
              <a:solidFill>
                <a:srgbClr val="FF0000"/>
              </a:solidFill>
            </a:endParaRPr>
          </a:p>
          <a:p>
            <a:pPr>
              <a:buFont typeface="Arial" panose="020B0604020202020204" pitchFamily="34" charset="0"/>
              <a:buChar char="•"/>
            </a:pPr>
            <a:r>
              <a:rPr lang="en-US" b="1" dirty="0"/>
              <a:t>Data Analytics</a:t>
            </a:r>
            <a:r>
              <a:rPr lang="en-US" dirty="0"/>
              <a:t> is the </a:t>
            </a:r>
            <a:r>
              <a:rPr lang="en-US" b="1" dirty="0"/>
              <a:t>foundation</a:t>
            </a:r>
            <a:r>
              <a:rPr lang="en-US" dirty="0"/>
              <a:t> – it explains what happened in the data.</a:t>
            </a:r>
          </a:p>
          <a:p>
            <a:pPr>
              <a:buFont typeface="Arial" panose="020B0604020202020204" pitchFamily="34" charset="0"/>
              <a:buChar char="•"/>
            </a:pPr>
            <a:r>
              <a:rPr lang="en-US" b="1" dirty="0"/>
              <a:t>Big Data Analytics</a:t>
            </a:r>
            <a:r>
              <a:rPr lang="en-US" dirty="0"/>
              <a:t> handles very </a:t>
            </a:r>
            <a:r>
              <a:rPr lang="en-US" b="1" dirty="0"/>
              <a:t>large-scale data</a:t>
            </a:r>
            <a:r>
              <a:rPr lang="en-US" dirty="0"/>
              <a:t> that traditional tools cannot manage.</a:t>
            </a:r>
          </a:p>
          <a:p>
            <a:pPr>
              <a:buFont typeface="Arial" panose="020B0604020202020204" pitchFamily="34" charset="0"/>
              <a:buChar char="•"/>
            </a:pPr>
            <a:r>
              <a:rPr lang="en-US" b="1" dirty="0"/>
              <a:t>Data Science</a:t>
            </a:r>
            <a:r>
              <a:rPr lang="en-US" dirty="0"/>
              <a:t> is the </a:t>
            </a:r>
            <a:r>
              <a:rPr lang="en-US" b="1" dirty="0"/>
              <a:t>most advanced</a:t>
            </a:r>
            <a:r>
              <a:rPr lang="en-US" dirty="0"/>
              <a:t>, using both analytics and big data processing to build </a:t>
            </a:r>
            <a:r>
              <a:rPr lang="en-US" b="1" dirty="0"/>
              <a:t>predictive and intelligent systems</a:t>
            </a:r>
            <a:r>
              <a:rPr lang="en-US" dirty="0"/>
              <a:t>.</a:t>
            </a:r>
          </a:p>
        </p:txBody>
      </p:sp>
      <p:sp>
        <p:nvSpPr>
          <p:cNvPr id="4" name="TextBox 3">
            <a:extLst>
              <a:ext uri="{FF2B5EF4-FFF2-40B4-BE49-F238E27FC236}">
                <a16:creationId xmlns:a16="http://schemas.microsoft.com/office/drawing/2014/main" id="{30C42687-4908-BFF3-C280-67116E695B25}"/>
              </a:ext>
            </a:extLst>
          </p:cNvPr>
          <p:cNvSpPr txBox="1"/>
          <p:nvPr/>
        </p:nvSpPr>
        <p:spPr>
          <a:xfrm>
            <a:off x="644012" y="3116826"/>
            <a:ext cx="10903975" cy="923330"/>
          </a:xfrm>
          <a:prstGeom prst="rect">
            <a:avLst/>
          </a:prstGeom>
          <a:solidFill>
            <a:srgbClr val="FFFF00"/>
          </a:solidFill>
          <a:ln>
            <a:solidFill>
              <a:schemeClr val="accent1"/>
            </a:solidFill>
          </a:ln>
        </p:spPr>
        <p:txBody>
          <a:bodyPr wrap="square" rtlCol="0">
            <a:spAutoFit/>
          </a:bodyPr>
          <a:lstStyle/>
          <a:p>
            <a:pPr>
              <a:buNone/>
            </a:pPr>
            <a:r>
              <a:rPr lang="en-US" b="1"/>
              <a:t>Big Data Analytics</a:t>
            </a:r>
            <a:r>
              <a:rPr lang="en-US"/>
              <a:t> gives the infrastructure + ability to handle massive data</a:t>
            </a:r>
            <a:br>
              <a:rPr lang="en-US"/>
            </a:br>
            <a:r>
              <a:rPr lang="en-US" b="1"/>
              <a:t>Data Analytics</a:t>
            </a:r>
            <a:r>
              <a:rPr lang="en-US"/>
              <a:t> gives insights from the data</a:t>
            </a:r>
            <a:br>
              <a:rPr lang="en-US"/>
            </a:br>
            <a:r>
              <a:rPr lang="en-US" b="1"/>
              <a:t>Data Science</a:t>
            </a:r>
            <a:r>
              <a:rPr lang="en-US"/>
              <a:t> builds intelligent models using all available data</a:t>
            </a:r>
            <a:endParaRPr lang="en-US" dirty="0"/>
          </a:p>
        </p:txBody>
      </p:sp>
    </p:spTree>
    <p:extLst>
      <p:ext uri="{BB962C8B-B14F-4D97-AF65-F5344CB8AC3E}">
        <p14:creationId xmlns:p14="http://schemas.microsoft.com/office/powerpoint/2010/main" val="2083844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6EAF06-96F8-ED4C-844E-58E9AE0E6052}"/>
              </a:ext>
            </a:extLst>
          </p:cNvPr>
          <p:cNvSpPr txBox="1"/>
          <p:nvPr/>
        </p:nvSpPr>
        <p:spPr>
          <a:xfrm>
            <a:off x="442452" y="283550"/>
            <a:ext cx="11307096" cy="4524315"/>
          </a:xfrm>
          <a:prstGeom prst="rect">
            <a:avLst/>
          </a:prstGeom>
          <a:noFill/>
        </p:spPr>
        <p:txBody>
          <a:bodyPr wrap="square">
            <a:spAutoFit/>
          </a:bodyPr>
          <a:lstStyle/>
          <a:p>
            <a:pPr>
              <a:buNone/>
            </a:pPr>
            <a:r>
              <a:rPr lang="en-US" b="1" dirty="0">
                <a:solidFill>
                  <a:srgbClr val="FF0000"/>
                </a:solidFill>
              </a:rPr>
              <a:t>Data Science Components</a:t>
            </a:r>
          </a:p>
          <a:p>
            <a:pPr>
              <a:buNone/>
            </a:pPr>
            <a:endParaRPr lang="en-US" dirty="0"/>
          </a:p>
          <a:p>
            <a:pPr>
              <a:buNone/>
            </a:pPr>
            <a:r>
              <a:rPr lang="en-US" dirty="0"/>
              <a:t>Data Science is a multidisciplinary field that integrates </a:t>
            </a:r>
            <a:r>
              <a:rPr lang="en-US" b="1" dirty="0"/>
              <a:t>data engineering, data analysis, machine learning, visualization, and business decision-making</a:t>
            </a:r>
            <a:r>
              <a:rPr lang="en-US" dirty="0"/>
              <a:t>. To convert raw data into meaningful insights or predictive models, Data Science depends on several interconnected components. These components define the complete workflow of a data science project.</a:t>
            </a:r>
          </a:p>
          <a:p>
            <a:pPr>
              <a:buNone/>
            </a:pPr>
            <a:endParaRPr lang="en-US" dirty="0"/>
          </a:p>
          <a:p>
            <a:pPr>
              <a:buNone/>
            </a:pPr>
            <a:r>
              <a:rPr lang="en-US" dirty="0"/>
              <a:t>The major components of Data Science are:</a:t>
            </a:r>
          </a:p>
          <a:p>
            <a:pPr>
              <a:buFont typeface="+mj-lt"/>
              <a:buAutoNum type="arabicPeriod"/>
            </a:pPr>
            <a:r>
              <a:rPr lang="en-US" b="1" dirty="0"/>
              <a:t>Data Collection</a:t>
            </a:r>
            <a:endParaRPr lang="en-US" dirty="0"/>
          </a:p>
          <a:p>
            <a:pPr>
              <a:buFont typeface="+mj-lt"/>
              <a:buAutoNum type="arabicPeriod"/>
            </a:pPr>
            <a:r>
              <a:rPr lang="en-US" b="1" dirty="0"/>
              <a:t>Data Storage &amp; Data Engineering</a:t>
            </a:r>
            <a:endParaRPr lang="en-US" dirty="0"/>
          </a:p>
          <a:p>
            <a:pPr>
              <a:buFont typeface="+mj-lt"/>
              <a:buAutoNum type="arabicPeriod"/>
            </a:pPr>
            <a:r>
              <a:rPr lang="en-US" b="1" dirty="0"/>
              <a:t>Data Processing &amp; Cleaning</a:t>
            </a:r>
            <a:endParaRPr lang="en-US" dirty="0"/>
          </a:p>
          <a:p>
            <a:pPr>
              <a:buFont typeface="+mj-lt"/>
              <a:buAutoNum type="arabicPeriod"/>
            </a:pPr>
            <a:r>
              <a:rPr lang="en-US" b="1" dirty="0"/>
              <a:t>Data Exploration &amp; Analysis</a:t>
            </a:r>
            <a:endParaRPr lang="en-US" dirty="0"/>
          </a:p>
          <a:p>
            <a:pPr>
              <a:buFont typeface="+mj-lt"/>
              <a:buAutoNum type="arabicPeriod"/>
            </a:pPr>
            <a:r>
              <a:rPr lang="en-US" b="1" dirty="0"/>
              <a:t>Machine Learning &amp; Modeling</a:t>
            </a:r>
            <a:endParaRPr lang="en-US" dirty="0"/>
          </a:p>
          <a:p>
            <a:pPr>
              <a:buFont typeface="+mj-lt"/>
              <a:buAutoNum type="arabicPeriod"/>
            </a:pPr>
            <a:r>
              <a:rPr lang="en-US" b="1" dirty="0"/>
              <a:t>Data Visualization &amp; Communication</a:t>
            </a:r>
            <a:endParaRPr lang="en-US" dirty="0"/>
          </a:p>
          <a:p>
            <a:pPr>
              <a:buFont typeface="+mj-lt"/>
              <a:buAutoNum type="arabicPeriod"/>
            </a:pPr>
            <a:r>
              <a:rPr lang="en-US" b="1" dirty="0"/>
              <a:t>Deployment &amp; Model Monitoring</a:t>
            </a:r>
            <a:endParaRPr lang="en-US" dirty="0"/>
          </a:p>
          <a:p>
            <a:pPr>
              <a:buFont typeface="+mj-lt"/>
              <a:buAutoNum type="arabicPeriod"/>
            </a:pPr>
            <a:r>
              <a:rPr lang="en-US" b="1" dirty="0"/>
              <a:t>Domain Expertise &amp; Business Understanding</a:t>
            </a:r>
            <a:endParaRPr lang="en-US" dirty="0"/>
          </a:p>
        </p:txBody>
      </p:sp>
    </p:spTree>
    <p:extLst>
      <p:ext uri="{BB962C8B-B14F-4D97-AF65-F5344CB8AC3E}">
        <p14:creationId xmlns:p14="http://schemas.microsoft.com/office/powerpoint/2010/main" val="338920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F3ABE7-D46F-A0D4-C85E-ADA51035E9BC}"/>
              </a:ext>
            </a:extLst>
          </p:cNvPr>
          <p:cNvSpPr txBox="1"/>
          <p:nvPr/>
        </p:nvSpPr>
        <p:spPr>
          <a:xfrm>
            <a:off x="462116" y="222860"/>
            <a:ext cx="11267768" cy="5078313"/>
          </a:xfrm>
          <a:prstGeom prst="rect">
            <a:avLst/>
          </a:prstGeom>
          <a:noFill/>
        </p:spPr>
        <p:txBody>
          <a:bodyPr wrap="square">
            <a:spAutoFit/>
          </a:bodyPr>
          <a:lstStyle/>
          <a:p>
            <a:pPr>
              <a:buNone/>
            </a:pPr>
            <a:r>
              <a:rPr lang="en-US" b="1" dirty="0">
                <a:solidFill>
                  <a:srgbClr val="FF0000"/>
                </a:solidFill>
              </a:rPr>
              <a:t>1. Data Collection</a:t>
            </a:r>
          </a:p>
          <a:p>
            <a:pPr>
              <a:buNone/>
            </a:pPr>
            <a:r>
              <a:rPr lang="en-US" dirty="0"/>
              <a:t>Data Collection is the first and most essential component, involving gathering raw data from various sources. The quality of data collected directly affects the accuracy of results and the performance of machine learning models.</a:t>
            </a:r>
          </a:p>
          <a:p>
            <a:pPr>
              <a:buNone/>
            </a:pPr>
            <a:endParaRPr lang="en-US" b="1" dirty="0"/>
          </a:p>
          <a:p>
            <a:pPr>
              <a:buNone/>
            </a:pPr>
            <a:r>
              <a:rPr lang="en-US" b="1" dirty="0">
                <a:solidFill>
                  <a:srgbClr val="FF0000"/>
                </a:solidFill>
              </a:rPr>
              <a:t>Sources of Data</a:t>
            </a:r>
          </a:p>
          <a:p>
            <a:pPr>
              <a:buFont typeface="Arial" panose="020B0604020202020204" pitchFamily="34" charset="0"/>
              <a:buChar char="•"/>
            </a:pPr>
            <a:r>
              <a:rPr lang="en-US" dirty="0"/>
              <a:t>Databases (MySQL, SQL Server)</a:t>
            </a:r>
          </a:p>
          <a:p>
            <a:pPr>
              <a:buFont typeface="Arial" panose="020B0604020202020204" pitchFamily="34" charset="0"/>
              <a:buChar char="•"/>
            </a:pPr>
            <a:r>
              <a:rPr lang="en-US" dirty="0"/>
              <a:t>APIs (weather APIs, online platforms)</a:t>
            </a:r>
          </a:p>
          <a:p>
            <a:pPr>
              <a:buFont typeface="Arial" panose="020B0604020202020204" pitchFamily="34" charset="0"/>
              <a:buChar char="•"/>
            </a:pPr>
            <a:r>
              <a:rPr lang="en-US" dirty="0"/>
              <a:t>Surveys and forms</a:t>
            </a:r>
          </a:p>
          <a:p>
            <a:pPr>
              <a:buFont typeface="Arial" panose="020B0604020202020204" pitchFamily="34" charset="0"/>
              <a:buChar char="•"/>
            </a:pPr>
            <a:r>
              <a:rPr lang="en-US" dirty="0"/>
              <a:t>Social media data (Twitter, Instagram)</a:t>
            </a:r>
          </a:p>
          <a:p>
            <a:pPr>
              <a:buFont typeface="Arial" panose="020B0604020202020204" pitchFamily="34" charset="0"/>
              <a:buChar char="•"/>
            </a:pPr>
            <a:r>
              <a:rPr lang="en-US" dirty="0"/>
              <a:t>IoT sensors</a:t>
            </a:r>
          </a:p>
          <a:p>
            <a:pPr>
              <a:buFont typeface="Arial" panose="020B0604020202020204" pitchFamily="34" charset="0"/>
              <a:buChar char="•"/>
            </a:pPr>
            <a:r>
              <a:rPr lang="en-US" dirty="0"/>
              <a:t>Logs (web server logs)</a:t>
            </a:r>
          </a:p>
          <a:p>
            <a:pPr>
              <a:buNone/>
            </a:pPr>
            <a:endParaRPr lang="en-US" b="1" dirty="0"/>
          </a:p>
          <a:p>
            <a:pPr>
              <a:buNone/>
            </a:pPr>
            <a:r>
              <a:rPr lang="en-US" b="1" dirty="0">
                <a:solidFill>
                  <a:srgbClr val="FF0000"/>
                </a:solidFill>
              </a:rPr>
              <a:t>Example</a:t>
            </a:r>
          </a:p>
          <a:p>
            <a:pPr>
              <a:buNone/>
            </a:pPr>
            <a:r>
              <a:rPr lang="en-US" dirty="0"/>
              <a:t>A food delivery app collects data like delivery time, customer ratings, food type, and location to analyze customer behavior or predict delays.</a:t>
            </a:r>
          </a:p>
          <a:p>
            <a:pPr>
              <a:buNone/>
            </a:pPr>
            <a:br>
              <a:rPr lang="en-US" dirty="0"/>
            </a:br>
            <a:endParaRPr lang="en-US" dirty="0"/>
          </a:p>
        </p:txBody>
      </p:sp>
    </p:spTree>
    <p:extLst>
      <p:ext uri="{BB962C8B-B14F-4D97-AF65-F5344CB8AC3E}">
        <p14:creationId xmlns:p14="http://schemas.microsoft.com/office/powerpoint/2010/main" val="1218005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E1B6A-2F26-C938-ABC1-451AEB8E7198}"/>
              </a:ext>
            </a:extLst>
          </p:cNvPr>
          <p:cNvSpPr txBox="1"/>
          <p:nvPr/>
        </p:nvSpPr>
        <p:spPr>
          <a:xfrm>
            <a:off x="417871" y="399841"/>
            <a:ext cx="11356258" cy="5632311"/>
          </a:xfrm>
          <a:prstGeom prst="rect">
            <a:avLst/>
          </a:prstGeom>
          <a:noFill/>
        </p:spPr>
        <p:txBody>
          <a:bodyPr wrap="square">
            <a:spAutoFit/>
          </a:bodyPr>
          <a:lstStyle/>
          <a:p>
            <a:pPr>
              <a:buNone/>
            </a:pPr>
            <a:r>
              <a:rPr lang="en-IN" b="1" dirty="0">
                <a:solidFill>
                  <a:srgbClr val="FF0000"/>
                </a:solidFill>
              </a:rPr>
              <a:t>2. Data Storage &amp; Data Engineering</a:t>
            </a:r>
          </a:p>
          <a:p>
            <a:pPr>
              <a:buNone/>
            </a:pPr>
            <a:r>
              <a:rPr lang="en-IN" dirty="0"/>
              <a:t>Once data is collected, it must be </a:t>
            </a:r>
            <a:r>
              <a:rPr lang="en-IN" b="1" dirty="0"/>
              <a:t>stored, organized, and managed</a:t>
            </a:r>
            <a:r>
              <a:rPr lang="en-IN" dirty="0"/>
              <a:t> efficiently. This component includes designing data pipelines and maintaining the data infrastructure.</a:t>
            </a:r>
          </a:p>
          <a:p>
            <a:pPr>
              <a:buNone/>
            </a:pPr>
            <a:endParaRPr lang="en-IN" b="1" dirty="0"/>
          </a:p>
          <a:p>
            <a:pPr>
              <a:buNone/>
            </a:pPr>
            <a:r>
              <a:rPr lang="en-IN" b="1" dirty="0">
                <a:solidFill>
                  <a:srgbClr val="FF0000"/>
                </a:solidFill>
              </a:rPr>
              <a:t>Technologies Used</a:t>
            </a:r>
          </a:p>
          <a:p>
            <a:pPr>
              <a:buFont typeface="Arial" panose="020B0604020202020204" pitchFamily="34" charset="0"/>
              <a:buChar char="•"/>
            </a:pPr>
            <a:r>
              <a:rPr lang="en-IN" b="1" dirty="0"/>
              <a:t>Databases</a:t>
            </a:r>
            <a:r>
              <a:rPr lang="en-IN" dirty="0"/>
              <a:t>: SQL, NoSQL (MongoDB, Cassandra)</a:t>
            </a:r>
          </a:p>
          <a:p>
            <a:pPr>
              <a:buFont typeface="Arial" panose="020B0604020202020204" pitchFamily="34" charset="0"/>
              <a:buChar char="•"/>
            </a:pPr>
            <a:r>
              <a:rPr lang="en-IN" b="1" dirty="0"/>
              <a:t>Data Warehouses</a:t>
            </a:r>
            <a:r>
              <a:rPr lang="en-IN" dirty="0"/>
              <a:t>: Google </a:t>
            </a:r>
            <a:r>
              <a:rPr lang="en-IN" dirty="0" err="1"/>
              <a:t>BigQuery</a:t>
            </a:r>
            <a:r>
              <a:rPr lang="en-IN" dirty="0"/>
              <a:t>, Amazon Redshift</a:t>
            </a:r>
          </a:p>
          <a:p>
            <a:pPr>
              <a:buFont typeface="Arial" panose="020B0604020202020204" pitchFamily="34" charset="0"/>
              <a:buChar char="•"/>
            </a:pPr>
            <a:r>
              <a:rPr lang="en-IN" b="1" dirty="0"/>
              <a:t>Big Data Platforms</a:t>
            </a:r>
            <a:r>
              <a:rPr lang="en-IN" dirty="0"/>
              <a:t>: Hadoop, Spark</a:t>
            </a:r>
          </a:p>
          <a:p>
            <a:pPr>
              <a:buFont typeface="Arial" panose="020B0604020202020204" pitchFamily="34" charset="0"/>
              <a:buChar char="•"/>
            </a:pPr>
            <a:r>
              <a:rPr lang="en-IN" b="1" dirty="0"/>
              <a:t>ETL Pipelines</a:t>
            </a:r>
            <a:r>
              <a:rPr lang="en-IN" dirty="0"/>
              <a:t>: Extract–Transform–Load systems</a:t>
            </a:r>
          </a:p>
          <a:p>
            <a:pPr>
              <a:buNone/>
            </a:pPr>
            <a:endParaRPr lang="en-IN" b="1" dirty="0"/>
          </a:p>
          <a:p>
            <a:pPr>
              <a:buNone/>
            </a:pPr>
            <a:r>
              <a:rPr lang="en-IN" b="1" dirty="0">
                <a:solidFill>
                  <a:srgbClr val="FF0000"/>
                </a:solidFill>
              </a:rPr>
              <a:t>Role</a:t>
            </a:r>
          </a:p>
          <a:p>
            <a:pPr>
              <a:buNone/>
            </a:pPr>
            <a:r>
              <a:rPr lang="en-IN" dirty="0"/>
              <a:t>Data engineers play a crucial role in:</a:t>
            </a:r>
          </a:p>
          <a:p>
            <a:pPr>
              <a:buFont typeface="Arial" panose="020B0604020202020204" pitchFamily="34" charset="0"/>
              <a:buChar char="•"/>
            </a:pPr>
            <a:r>
              <a:rPr lang="en-IN" dirty="0"/>
              <a:t>Building pipelines</a:t>
            </a:r>
          </a:p>
          <a:p>
            <a:pPr>
              <a:buFont typeface="Arial" panose="020B0604020202020204" pitchFamily="34" charset="0"/>
              <a:buChar char="•"/>
            </a:pPr>
            <a:r>
              <a:rPr lang="en-IN" dirty="0"/>
              <a:t>Maintaining data quality</a:t>
            </a:r>
          </a:p>
          <a:p>
            <a:pPr>
              <a:buFont typeface="Arial" panose="020B0604020202020204" pitchFamily="34" charset="0"/>
              <a:buChar char="•"/>
            </a:pPr>
            <a:r>
              <a:rPr lang="en-IN" dirty="0"/>
              <a:t>Handling high-volume data</a:t>
            </a:r>
          </a:p>
          <a:p>
            <a:pPr>
              <a:buFont typeface="Arial" panose="020B0604020202020204" pitchFamily="34" charset="0"/>
              <a:buChar char="•"/>
            </a:pPr>
            <a:r>
              <a:rPr lang="en-IN" dirty="0"/>
              <a:t>Ensuring data is available for analysis</a:t>
            </a:r>
          </a:p>
          <a:p>
            <a:pPr>
              <a:buNone/>
            </a:pPr>
            <a:endParaRPr lang="en-IN" b="1" dirty="0"/>
          </a:p>
          <a:p>
            <a:pPr>
              <a:buNone/>
            </a:pPr>
            <a:r>
              <a:rPr lang="en-IN" b="1" dirty="0">
                <a:solidFill>
                  <a:srgbClr val="FF0000"/>
                </a:solidFill>
              </a:rPr>
              <a:t>Example</a:t>
            </a:r>
          </a:p>
          <a:p>
            <a:pPr>
              <a:buNone/>
            </a:pPr>
            <a:r>
              <a:rPr lang="en-IN" dirty="0"/>
              <a:t>Netflix stores and manages billions of user viewing records daily using distributed systems so that models can recommend relevant movies.</a:t>
            </a:r>
          </a:p>
        </p:txBody>
      </p:sp>
    </p:spTree>
    <p:extLst>
      <p:ext uri="{BB962C8B-B14F-4D97-AF65-F5344CB8AC3E}">
        <p14:creationId xmlns:p14="http://schemas.microsoft.com/office/powerpoint/2010/main" val="972843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CD3417-418E-EE20-3AB6-129821FD0DE7}"/>
              </a:ext>
            </a:extLst>
          </p:cNvPr>
          <p:cNvSpPr txBox="1"/>
          <p:nvPr/>
        </p:nvSpPr>
        <p:spPr>
          <a:xfrm>
            <a:off x="422786" y="223709"/>
            <a:ext cx="11218607" cy="4524315"/>
          </a:xfrm>
          <a:prstGeom prst="rect">
            <a:avLst/>
          </a:prstGeom>
          <a:noFill/>
        </p:spPr>
        <p:txBody>
          <a:bodyPr wrap="square">
            <a:spAutoFit/>
          </a:bodyPr>
          <a:lstStyle/>
          <a:p>
            <a:pPr>
              <a:buNone/>
            </a:pPr>
            <a:r>
              <a:rPr lang="en-US" b="1" dirty="0">
                <a:solidFill>
                  <a:srgbClr val="FF0000"/>
                </a:solidFill>
              </a:rPr>
              <a:t>3. Data Processing &amp; Cleaning</a:t>
            </a:r>
          </a:p>
          <a:p>
            <a:pPr>
              <a:buNone/>
            </a:pPr>
            <a:r>
              <a:rPr lang="en-US" dirty="0"/>
              <a:t>Raw data usually contains missing values, outliers, duplicate entries, or incorrect formats. </a:t>
            </a:r>
            <a:r>
              <a:rPr lang="en-US" b="1" dirty="0"/>
              <a:t>Data cleaning</a:t>
            </a:r>
            <a:r>
              <a:rPr lang="en-US" dirty="0"/>
              <a:t> improves data quality so that the analysis is accurate and machine learning models perform well.</a:t>
            </a:r>
          </a:p>
          <a:p>
            <a:pPr>
              <a:buNone/>
            </a:pPr>
            <a:endParaRPr lang="en-US" b="1" dirty="0"/>
          </a:p>
          <a:p>
            <a:pPr>
              <a:buNone/>
            </a:pPr>
            <a:r>
              <a:rPr lang="en-US" b="1" dirty="0">
                <a:solidFill>
                  <a:srgbClr val="FF0000"/>
                </a:solidFill>
              </a:rPr>
              <a:t>Key Strategies</a:t>
            </a:r>
          </a:p>
          <a:p>
            <a:pPr>
              <a:buFont typeface="Arial" panose="020B0604020202020204" pitchFamily="34" charset="0"/>
              <a:buChar char="•"/>
            </a:pPr>
            <a:r>
              <a:rPr lang="en-US" dirty="0"/>
              <a:t>Handling missing values (mean/median or model-based replacement)</a:t>
            </a:r>
          </a:p>
          <a:p>
            <a:pPr>
              <a:buFont typeface="Arial" panose="020B0604020202020204" pitchFamily="34" charset="0"/>
              <a:buChar char="•"/>
            </a:pPr>
            <a:r>
              <a:rPr lang="en-US" dirty="0"/>
              <a:t>Removing duplicates</a:t>
            </a:r>
          </a:p>
          <a:p>
            <a:pPr>
              <a:buFont typeface="Arial" panose="020B0604020202020204" pitchFamily="34" charset="0"/>
              <a:buChar char="•"/>
            </a:pPr>
            <a:r>
              <a:rPr lang="en-US" dirty="0"/>
              <a:t>Standardizing formats (dates, categories)</a:t>
            </a:r>
          </a:p>
          <a:p>
            <a:pPr>
              <a:buFont typeface="Arial" panose="020B0604020202020204" pitchFamily="34" charset="0"/>
              <a:buChar char="•"/>
            </a:pPr>
            <a:r>
              <a:rPr lang="en-US" dirty="0"/>
              <a:t>Normalization or scaling numerical data</a:t>
            </a:r>
          </a:p>
          <a:p>
            <a:pPr>
              <a:buFont typeface="Arial" panose="020B0604020202020204" pitchFamily="34" charset="0"/>
              <a:buChar char="•"/>
            </a:pPr>
            <a:r>
              <a:rPr lang="en-US" dirty="0"/>
              <a:t>Removing noise or irrelevant information</a:t>
            </a:r>
          </a:p>
          <a:p>
            <a:pPr>
              <a:buNone/>
            </a:pPr>
            <a:endParaRPr lang="en-US" b="1" dirty="0"/>
          </a:p>
          <a:p>
            <a:pPr>
              <a:buNone/>
            </a:pPr>
            <a:r>
              <a:rPr lang="en-US" b="1" dirty="0">
                <a:solidFill>
                  <a:srgbClr val="FF0000"/>
                </a:solidFill>
              </a:rPr>
              <a:t>Example</a:t>
            </a:r>
          </a:p>
          <a:p>
            <a:pPr>
              <a:buNone/>
            </a:pPr>
            <a:r>
              <a:rPr lang="en-US" dirty="0"/>
              <a:t>If a retail dataset has missing values in the “discount” column, the data scientist must fix it before analyzing sales trends.</a:t>
            </a:r>
          </a:p>
          <a:p>
            <a:pPr>
              <a:buNone/>
            </a:pPr>
            <a:br>
              <a:rPr lang="en-US" dirty="0"/>
            </a:br>
            <a:endParaRPr lang="en-US" dirty="0"/>
          </a:p>
        </p:txBody>
      </p:sp>
    </p:spTree>
    <p:extLst>
      <p:ext uri="{BB962C8B-B14F-4D97-AF65-F5344CB8AC3E}">
        <p14:creationId xmlns:p14="http://schemas.microsoft.com/office/powerpoint/2010/main" val="211737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4A09A5-7A4F-C366-4F80-D00C7698B381}"/>
              </a:ext>
            </a:extLst>
          </p:cNvPr>
          <p:cNvSpPr txBox="1"/>
          <p:nvPr/>
        </p:nvSpPr>
        <p:spPr>
          <a:xfrm>
            <a:off x="442451" y="285245"/>
            <a:ext cx="11238271" cy="4247317"/>
          </a:xfrm>
          <a:prstGeom prst="rect">
            <a:avLst/>
          </a:prstGeom>
          <a:noFill/>
        </p:spPr>
        <p:txBody>
          <a:bodyPr wrap="square">
            <a:spAutoFit/>
          </a:bodyPr>
          <a:lstStyle/>
          <a:p>
            <a:pPr>
              <a:buNone/>
            </a:pPr>
            <a:r>
              <a:rPr lang="en-US" b="1" dirty="0">
                <a:solidFill>
                  <a:srgbClr val="FF0000"/>
                </a:solidFill>
              </a:rPr>
              <a:t>4. Data Exploration &amp; Analysis (EDA)</a:t>
            </a:r>
          </a:p>
          <a:p>
            <a:pPr>
              <a:buNone/>
            </a:pPr>
            <a:r>
              <a:rPr lang="en-US" dirty="0"/>
              <a:t>Exploratory Data Analysis (EDA) is used to understand the data’s hidden patterns, distributions, and correlations.</a:t>
            </a:r>
            <a:br>
              <a:rPr lang="en-US" dirty="0"/>
            </a:br>
            <a:r>
              <a:rPr lang="en-US" dirty="0"/>
              <a:t>It helps the data scientist decide which features are important and how the data behaves.</a:t>
            </a:r>
          </a:p>
          <a:p>
            <a:pPr>
              <a:buNone/>
            </a:pPr>
            <a:endParaRPr lang="en-US" b="1" dirty="0"/>
          </a:p>
          <a:p>
            <a:pPr>
              <a:buNone/>
            </a:pPr>
            <a:r>
              <a:rPr lang="en-US" b="1" dirty="0">
                <a:solidFill>
                  <a:srgbClr val="FF0000"/>
                </a:solidFill>
              </a:rPr>
              <a:t>Typical EDA Steps</a:t>
            </a:r>
          </a:p>
          <a:p>
            <a:pPr>
              <a:buFont typeface="Arial" panose="020B0604020202020204" pitchFamily="34" charset="0"/>
              <a:buChar char="•"/>
            </a:pPr>
            <a:r>
              <a:rPr lang="en-US" dirty="0"/>
              <a:t>Statistical summaries (mean, median, variance)</a:t>
            </a:r>
          </a:p>
          <a:p>
            <a:pPr>
              <a:buFont typeface="Arial" panose="020B0604020202020204" pitchFamily="34" charset="0"/>
              <a:buChar char="•"/>
            </a:pPr>
            <a:r>
              <a:rPr lang="en-US" dirty="0"/>
              <a:t>Correlation analysis</a:t>
            </a:r>
          </a:p>
          <a:p>
            <a:pPr>
              <a:buFont typeface="Arial" panose="020B0604020202020204" pitchFamily="34" charset="0"/>
              <a:buChar char="•"/>
            </a:pPr>
            <a:r>
              <a:rPr lang="en-US" dirty="0"/>
              <a:t>Identifying trends, patterns, anomalies</a:t>
            </a:r>
          </a:p>
          <a:p>
            <a:pPr>
              <a:buFont typeface="Arial" panose="020B0604020202020204" pitchFamily="34" charset="0"/>
              <a:buChar char="•"/>
            </a:pPr>
            <a:r>
              <a:rPr lang="en-US" dirty="0"/>
              <a:t>Using visual tools (histograms, heatmaps, plots)</a:t>
            </a:r>
          </a:p>
          <a:p>
            <a:pPr>
              <a:buNone/>
            </a:pPr>
            <a:endParaRPr lang="en-US" b="1" dirty="0"/>
          </a:p>
          <a:p>
            <a:pPr>
              <a:buNone/>
            </a:pPr>
            <a:r>
              <a:rPr lang="en-US" b="1" dirty="0">
                <a:solidFill>
                  <a:srgbClr val="FF0000"/>
                </a:solidFill>
              </a:rPr>
              <a:t>Example</a:t>
            </a:r>
          </a:p>
          <a:p>
            <a:pPr>
              <a:buNone/>
            </a:pPr>
            <a:r>
              <a:rPr lang="en-US" dirty="0"/>
              <a:t>Before predicting house prices, a data scientist checks:</a:t>
            </a:r>
          </a:p>
          <a:p>
            <a:pPr>
              <a:buFont typeface="Arial" panose="020B0604020202020204" pitchFamily="34" charset="0"/>
              <a:buChar char="•"/>
            </a:pPr>
            <a:r>
              <a:rPr lang="en-US" dirty="0"/>
              <a:t>Relationship between price and number of rooms</a:t>
            </a:r>
          </a:p>
          <a:p>
            <a:pPr>
              <a:buFont typeface="Arial" panose="020B0604020202020204" pitchFamily="34" charset="0"/>
              <a:buChar char="•"/>
            </a:pPr>
            <a:r>
              <a:rPr lang="en-US" dirty="0"/>
              <a:t>Effect of location on price</a:t>
            </a:r>
          </a:p>
          <a:p>
            <a:pPr>
              <a:buFont typeface="Arial" panose="020B0604020202020204" pitchFamily="34" charset="0"/>
              <a:buChar char="•"/>
            </a:pPr>
            <a:r>
              <a:rPr lang="en-US" dirty="0"/>
              <a:t>Outliers (very high-priced houses)</a:t>
            </a:r>
          </a:p>
        </p:txBody>
      </p:sp>
    </p:spTree>
    <p:extLst>
      <p:ext uri="{BB962C8B-B14F-4D97-AF65-F5344CB8AC3E}">
        <p14:creationId xmlns:p14="http://schemas.microsoft.com/office/powerpoint/2010/main" val="1459467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8F5471-1A30-5FCF-3BE5-C8434734D011}"/>
              </a:ext>
            </a:extLst>
          </p:cNvPr>
          <p:cNvSpPr txBox="1"/>
          <p:nvPr/>
        </p:nvSpPr>
        <p:spPr>
          <a:xfrm>
            <a:off x="599768" y="409673"/>
            <a:ext cx="10992464" cy="5078313"/>
          </a:xfrm>
          <a:prstGeom prst="rect">
            <a:avLst/>
          </a:prstGeom>
          <a:noFill/>
        </p:spPr>
        <p:txBody>
          <a:bodyPr wrap="square">
            <a:spAutoFit/>
          </a:bodyPr>
          <a:lstStyle/>
          <a:p>
            <a:pPr>
              <a:buNone/>
            </a:pPr>
            <a:r>
              <a:rPr lang="en-US" b="1" dirty="0">
                <a:solidFill>
                  <a:srgbClr val="FF0000"/>
                </a:solidFill>
              </a:rPr>
              <a:t>5. Machine Learning &amp; Modeling</a:t>
            </a:r>
          </a:p>
          <a:p>
            <a:pPr>
              <a:buNone/>
            </a:pPr>
            <a:r>
              <a:rPr lang="en-US" dirty="0"/>
              <a:t>In this component, machine learning algorithms are applied to train models that can </a:t>
            </a:r>
            <a:r>
              <a:rPr lang="en-US" b="1" dirty="0"/>
              <a:t>predict, classify, or cluster data</a:t>
            </a:r>
            <a:r>
              <a:rPr lang="en-US" dirty="0"/>
              <a:t>.</a:t>
            </a:r>
          </a:p>
          <a:p>
            <a:pPr>
              <a:buNone/>
            </a:pPr>
            <a:r>
              <a:rPr lang="en-US" b="1" dirty="0"/>
              <a:t>Types of Machine Learning</a:t>
            </a:r>
          </a:p>
          <a:p>
            <a:pPr>
              <a:buFont typeface="Arial" panose="020B0604020202020204" pitchFamily="34" charset="0"/>
              <a:buChar char="•"/>
            </a:pPr>
            <a:r>
              <a:rPr lang="en-US" b="1" dirty="0"/>
              <a:t>Supervised Learning</a:t>
            </a:r>
            <a:r>
              <a:rPr lang="en-US" dirty="0"/>
              <a:t> – regression, classification</a:t>
            </a:r>
          </a:p>
          <a:p>
            <a:pPr>
              <a:buFont typeface="Arial" panose="020B0604020202020204" pitchFamily="34" charset="0"/>
              <a:buChar char="•"/>
            </a:pPr>
            <a:r>
              <a:rPr lang="en-US" b="1" dirty="0"/>
              <a:t>Unsupervised Learning</a:t>
            </a:r>
            <a:r>
              <a:rPr lang="en-US" dirty="0"/>
              <a:t> – clustering, dimensionality reduction</a:t>
            </a:r>
          </a:p>
          <a:p>
            <a:pPr>
              <a:buFont typeface="Arial" panose="020B0604020202020204" pitchFamily="34" charset="0"/>
              <a:buChar char="•"/>
            </a:pPr>
            <a:r>
              <a:rPr lang="en-US" b="1" dirty="0"/>
              <a:t>Reinforcement Learning</a:t>
            </a:r>
            <a:r>
              <a:rPr lang="en-US" dirty="0"/>
              <a:t> – goal-driven learning based on rewards</a:t>
            </a:r>
          </a:p>
          <a:p>
            <a:pPr>
              <a:buNone/>
            </a:pPr>
            <a:endParaRPr lang="en-US" b="1" dirty="0"/>
          </a:p>
          <a:p>
            <a:pPr>
              <a:buNone/>
            </a:pPr>
            <a:r>
              <a:rPr lang="en-US" b="1" dirty="0">
                <a:solidFill>
                  <a:srgbClr val="FF0000"/>
                </a:solidFill>
              </a:rPr>
              <a:t>Common Algorithms</a:t>
            </a:r>
          </a:p>
          <a:p>
            <a:pPr>
              <a:buFont typeface="Arial" panose="020B0604020202020204" pitchFamily="34" charset="0"/>
              <a:buChar char="•"/>
            </a:pPr>
            <a:r>
              <a:rPr lang="en-US" dirty="0"/>
              <a:t>Linear Regression</a:t>
            </a:r>
          </a:p>
          <a:p>
            <a:pPr>
              <a:buFont typeface="Arial" panose="020B0604020202020204" pitchFamily="34" charset="0"/>
              <a:buChar char="•"/>
            </a:pPr>
            <a:r>
              <a:rPr lang="en-US" dirty="0"/>
              <a:t>Decision Trees</a:t>
            </a:r>
          </a:p>
          <a:p>
            <a:pPr>
              <a:buFont typeface="Arial" panose="020B0604020202020204" pitchFamily="34" charset="0"/>
              <a:buChar char="•"/>
            </a:pPr>
            <a:r>
              <a:rPr lang="en-US" dirty="0"/>
              <a:t>Random Forest</a:t>
            </a:r>
          </a:p>
          <a:p>
            <a:pPr>
              <a:buFont typeface="Arial" panose="020B0604020202020204" pitchFamily="34" charset="0"/>
              <a:buChar char="•"/>
            </a:pPr>
            <a:r>
              <a:rPr lang="en-US" dirty="0"/>
              <a:t>K-Means</a:t>
            </a:r>
          </a:p>
          <a:p>
            <a:pPr>
              <a:buFont typeface="Arial" panose="020B0604020202020204" pitchFamily="34" charset="0"/>
              <a:buChar char="•"/>
            </a:pPr>
            <a:r>
              <a:rPr lang="en-US" dirty="0"/>
              <a:t>Neural Networks</a:t>
            </a:r>
          </a:p>
          <a:p>
            <a:pPr>
              <a:buNone/>
            </a:pPr>
            <a:endParaRPr lang="en-US" b="1" dirty="0"/>
          </a:p>
          <a:p>
            <a:pPr>
              <a:buNone/>
            </a:pPr>
            <a:r>
              <a:rPr lang="en-US" b="1" dirty="0">
                <a:solidFill>
                  <a:srgbClr val="FF0000"/>
                </a:solidFill>
              </a:rPr>
              <a:t>Example</a:t>
            </a:r>
          </a:p>
          <a:p>
            <a:pPr>
              <a:buNone/>
            </a:pPr>
            <a:r>
              <a:rPr lang="en-US" dirty="0"/>
              <a:t>In a bank loan prediction system, the model learns from historical customer data to predict whether a new customer will repay or default.</a:t>
            </a:r>
          </a:p>
        </p:txBody>
      </p:sp>
    </p:spTree>
    <p:extLst>
      <p:ext uri="{BB962C8B-B14F-4D97-AF65-F5344CB8AC3E}">
        <p14:creationId xmlns:p14="http://schemas.microsoft.com/office/powerpoint/2010/main" val="142527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BA56D3-8C66-AA08-6B7E-BB2808222915}"/>
              </a:ext>
            </a:extLst>
          </p:cNvPr>
          <p:cNvSpPr txBox="1"/>
          <p:nvPr/>
        </p:nvSpPr>
        <p:spPr>
          <a:xfrm>
            <a:off x="373625" y="476803"/>
            <a:ext cx="11307097" cy="5355312"/>
          </a:xfrm>
          <a:prstGeom prst="rect">
            <a:avLst/>
          </a:prstGeom>
          <a:noFill/>
        </p:spPr>
        <p:txBody>
          <a:bodyPr wrap="square">
            <a:spAutoFit/>
          </a:bodyPr>
          <a:lstStyle/>
          <a:p>
            <a:pPr>
              <a:buNone/>
            </a:pPr>
            <a:r>
              <a:rPr lang="en-US" b="1" dirty="0">
                <a:solidFill>
                  <a:srgbClr val="FF0000"/>
                </a:solidFill>
              </a:rPr>
              <a:t>6. Data Visualization &amp; Communication</a:t>
            </a:r>
          </a:p>
          <a:p>
            <a:pPr>
              <a:buNone/>
            </a:pPr>
            <a:r>
              <a:rPr lang="en-US" dirty="0"/>
              <a:t>After analysis or model building, results must be presented clearly to stakeholders so they can make decisions. Visualization helps simplify complex data using graphical methods.</a:t>
            </a:r>
          </a:p>
          <a:p>
            <a:pPr>
              <a:buNone/>
            </a:pPr>
            <a:endParaRPr lang="en-US" b="1" dirty="0"/>
          </a:p>
          <a:p>
            <a:pPr>
              <a:buNone/>
            </a:pPr>
            <a:r>
              <a:rPr lang="en-US" b="1" dirty="0">
                <a:solidFill>
                  <a:srgbClr val="FF0000"/>
                </a:solidFill>
              </a:rPr>
              <a:t>Tools</a:t>
            </a:r>
          </a:p>
          <a:p>
            <a:pPr>
              <a:buFont typeface="Arial" panose="020B0604020202020204" pitchFamily="34" charset="0"/>
              <a:buChar char="•"/>
            </a:pPr>
            <a:r>
              <a:rPr lang="en-US" dirty="0"/>
              <a:t>Tableau</a:t>
            </a:r>
          </a:p>
          <a:p>
            <a:pPr>
              <a:buFont typeface="Arial" panose="020B0604020202020204" pitchFamily="34" charset="0"/>
              <a:buChar char="•"/>
            </a:pPr>
            <a:r>
              <a:rPr lang="en-US" dirty="0"/>
              <a:t>Power BI</a:t>
            </a:r>
          </a:p>
          <a:p>
            <a:pPr>
              <a:buFont typeface="Arial" panose="020B0604020202020204" pitchFamily="34" charset="0"/>
              <a:buChar char="•"/>
            </a:pPr>
            <a:r>
              <a:rPr lang="en-US" dirty="0"/>
              <a:t>Matplotlib, Seaborn (Python)</a:t>
            </a:r>
          </a:p>
          <a:p>
            <a:pPr>
              <a:buFont typeface="Arial" panose="020B0604020202020204" pitchFamily="34" charset="0"/>
              <a:buChar char="•"/>
            </a:pPr>
            <a:r>
              <a:rPr lang="en-US" dirty="0" err="1"/>
              <a:t>Plotly</a:t>
            </a:r>
            <a:endParaRPr lang="en-US" dirty="0"/>
          </a:p>
          <a:p>
            <a:pPr>
              <a:buNone/>
            </a:pPr>
            <a:endParaRPr lang="en-US" b="1" dirty="0">
              <a:solidFill>
                <a:srgbClr val="FF0000"/>
              </a:solidFill>
            </a:endParaRPr>
          </a:p>
          <a:p>
            <a:pPr>
              <a:buNone/>
            </a:pPr>
            <a:r>
              <a:rPr lang="en-US" b="1" dirty="0">
                <a:solidFill>
                  <a:srgbClr val="FF0000"/>
                </a:solidFill>
              </a:rPr>
              <a:t>Why It Matters</a:t>
            </a:r>
          </a:p>
          <a:p>
            <a:pPr>
              <a:buNone/>
            </a:pPr>
            <a:r>
              <a:rPr lang="en-US" dirty="0"/>
              <a:t>Decision-makers often do not understand technical details. Visualizations help them see:</a:t>
            </a:r>
          </a:p>
          <a:p>
            <a:pPr>
              <a:buFont typeface="Arial" panose="020B0604020202020204" pitchFamily="34" charset="0"/>
              <a:buChar char="•"/>
            </a:pPr>
            <a:r>
              <a:rPr lang="en-US" dirty="0"/>
              <a:t>Trends</a:t>
            </a:r>
          </a:p>
          <a:p>
            <a:pPr>
              <a:buFont typeface="Arial" panose="020B0604020202020204" pitchFamily="34" charset="0"/>
              <a:buChar char="•"/>
            </a:pPr>
            <a:r>
              <a:rPr lang="en-US" dirty="0"/>
              <a:t>Patterns</a:t>
            </a:r>
          </a:p>
          <a:p>
            <a:pPr>
              <a:buFont typeface="Arial" panose="020B0604020202020204" pitchFamily="34" charset="0"/>
              <a:buChar char="•"/>
            </a:pPr>
            <a:r>
              <a:rPr lang="en-US" dirty="0"/>
              <a:t>Areas of improvement</a:t>
            </a:r>
          </a:p>
          <a:p>
            <a:pPr>
              <a:buFont typeface="Arial" panose="020B0604020202020204" pitchFamily="34" charset="0"/>
              <a:buChar char="•"/>
            </a:pPr>
            <a:r>
              <a:rPr lang="en-US" dirty="0"/>
              <a:t>Predictions</a:t>
            </a:r>
          </a:p>
          <a:p>
            <a:pPr>
              <a:buNone/>
            </a:pPr>
            <a:endParaRPr lang="en-US" b="1" dirty="0">
              <a:solidFill>
                <a:srgbClr val="FF0000"/>
              </a:solidFill>
            </a:endParaRPr>
          </a:p>
          <a:p>
            <a:pPr>
              <a:buNone/>
            </a:pPr>
            <a:r>
              <a:rPr lang="en-US" b="1" dirty="0">
                <a:solidFill>
                  <a:srgbClr val="FF0000"/>
                </a:solidFill>
              </a:rPr>
              <a:t>Example</a:t>
            </a:r>
          </a:p>
          <a:p>
            <a:pPr>
              <a:buNone/>
            </a:pPr>
            <a:r>
              <a:rPr lang="en-US" dirty="0"/>
              <a:t>A bar chart showing monthly sales trends enables management to understand peak seasons and plan inventory.</a:t>
            </a:r>
          </a:p>
        </p:txBody>
      </p:sp>
    </p:spTree>
    <p:extLst>
      <p:ext uri="{BB962C8B-B14F-4D97-AF65-F5344CB8AC3E}">
        <p14:creationId xmlns:p14="http://schemas.microsoft.com/office/powerpoint/2010/main" val="306746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5F668F-377A-A77A-CADE-07CC1BB44E86}"/>
              </a:ext>
            </a:extLst>
          </p:cNvPr>
          <p:cNvSpPr txBox="1"/>
          <p:nvPr/>
        </p:nvSpPr>
        <p:spPr>
          <a:xfrm>
            <a:off x="580103" y="372888"/>
            <a:ext cx="11110451" cy="4801314"/>
          </a:xfrm>
          <a:prstGeom prst="rect">
            <a:avLst/>
          </a:prstGeom>
          <a:noFill/>
        </p:spPr>
        <p:txBody>
          <a:bodyPr wrap="square">
            <a:spAutoFit/>
          </a:bodyPr>
          <a:lstStyle/>
          <a:p>
            <a:pPr>
              <a:buNone/>
            </a:pPr>
            <a:r>
              <a:rPr lang="en-US" b="1" dirty="0">
                <a:solidFill>
                  <a:srgbClr val="FF0000"/>
                </a:solidFill>
              </a:rPr>
              <a:t>7. Deployment &amp; Model Monitoring</a:t>
            </a:r>
          </a:p>
          <a:p>
            <a:pPr>
              <a:buNone/>
            </a:pPr>
            <a:r>
              <a:rPr lang="en-US" dirty="0"/>
              <a:t>Deploying the model means integrating it into a real-world system so users can interact with it. Monitoring ensures the model continues to deliver accurate predictions over time.</a:t>
            </a:r>
          </a:p>
          <a:p>
            <a:pPr>
              <a:buNone/>
            </a:pPr>
            <a:endParaRPr lang="en-US" b="1" dirty="0"/>
          </a:p>
          <a:p>
            <a:pPr>
              <a:buNone/>
            </a:pPr>
            <a:r>
              <a:rPr lang="en-US" b="1" dirty="0">
                <a:solidFill>
                  <a:srgbClr val="FF0000"/>
                </a:solidFill>
              </a:rPr>
              <a:t>Deployment Tools</a:t>
            </a:r>
          </a:p>
          <a:p>
            <a:pPr>
              <a:buFont typeface="Arial" panose="020B0604020202020204" pitchFamily="34" charset="0"/>
              <a:buChar char="•"/>
            </a:pPr>
            <a:r>
              <a:rPr lang="en-US" dirty="0"/>
              <a:t>Flask, </a:t>
            </a:r>
            <a:r>
              <a:rPr lang="en-US" dirty="0" err="1"/>
              <a:t>FastAPI</a:t>
            </a:r>
            <a:r>
              <a:rPr lang="en-US" dirty="0"/>
              <a:t> (APIs)</a:t>
            </a:r>
          </a:p>
          <a:p>
            <a:pPr>
              <a:buFont typeface="Arial" panose="020B0604020202020204" pitchFamily="34" charset="0"/>
              <a:buChar char="•"/>
            </a:pPr>
            <a:r>
              <a:rPr lang="en-US" dirty="0"/>
              <a:t>Docker (containerization)</a:t>
            </a:r>
          </a:p>
          <a:p>
            <a:pPr>
              <a:buFont typeface="Arial" panose="020B0604020202020204" pitchFamily="34" charset="0"/>
              <a:buChar char="•"/>
            </a:pPr>
            <a:r>
              <a:rPr lang="en-US" dirty="0"/>
              <a:t>Cloud deployment: AWS, Azure, GCP</a:t>
            </a:r>
          </a:p>
          <a:p>
            <a:pPr>
              <a:buNone/>
            </a:pPr>
            <a:endParaRPr lang="en-US" b="1" dirty="0"/>
          </a:p>
          <a:p>
            <a:pPr>
              <a:buNone/>
            </a:pPr>
            <a:r>
              <a:rPr lang="en-US" b="1" dirty="0">
                <a:solidFill>
                  <a:srgbClr val="FF0000"/>
                </a:solidFill>
              </a:rPr>
              <a:t>Model Monitoring</a:t>
            </a:r>
          </a:p>
          <a:p>
            <a:pPr>
              <a:buFont typeface="Arial" panose="020B0604020202020204" pitchFamily="34" charset="0"/>
              <a:buChar char="•"/>
            </a:pPr>
            <a:r>
              <a:rPr lang="en-US" dirty="0"/>
              <a:t>Track accuracy over time</a:t>
            </a:r>
          </a:p>
          <a:p>
            <a:pPr>
              <a:buFont typeface="Arial" panose="020B0604020202020204" pitchFamily="34" charset="0"/>
              <a:buChar char="•"/>
            </a:pPr>
            <a:r>
              <a:rPr lang="en-US" dirty="0"/>
              <a:t>Detect model drift</a:t>
            </a:r>
          </a:p>
          <a:p>
            <a:pPr>
              <a:buFont typeface="Arial" panose="020B0604020202020204" pitchFamily="34" charset="0"/>
              <a:buChar char="•"/>
            </a:pPr>
            <a:r>
              <a:rPr lang="en-US" dirty="0"/>
              <a:t>Update the model when new data arrives</a:t>
            </a:r>
          </a:p>
          <a:p>
            <a:pPr>
              <a:buNone/>
            </a:pPr>
            <a:endParaRPr lang="en-US" b="1" dirty="0"/>
          </a:p>
          <a:p>
            <a:pPr>
              <a:buNone/>
            </a:pPr>
            <a:r>
              <a:rPr lang="en-US" b="1" dirty="0">
                <a:solidFill>
                  <a:srgbClr val="FF0000"/>
                </a:solidFill>
              </a:rPr>
              <a:t>Example</a:t>
            </a:r>
          </a:p>
          <a:p>
            <a:pPr>
              <a:buNone/>
            </a:pPr>
            <a:r>
              <a:rPr lang="en-US" dirty="0"/>
              <a:t>An e-commerce recommendation model is deployed on the website and updated periodically based on new customer data.</a:t>
            </a:r>
          </a:p>
        </p:txBody>
      </p:sp>
    </p:spTree>
    <p:extLst>
      <p:ext uri="{BB962C8B-B14F-4D97-AF65-F5344CB8AC3E}">
        <p14:creationId xmlns:p14="http://schemas.microsoft.com/office/powerpoint/2010/main" val="2022274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F3CAED-C7A0-7B42-6035-E9F9BFA6A28F}"/>
              </a:ext>
            </a:extLst>
          </p:cNvPr>
          <p:cNvSpPr txBox="1"/>
          <p:nvPr/>
        </p:nvSpPr>
        <p:spPr>
          <a:xfrm>
            <a:off x="442452" y="345934"/>
            <a:ext cx="11277600" cy="3693319"/>
          </a:xfrm>
          <a:prstGeom prst="rect">
            <a:avLst/>
          </a:prstGeom>
          <a:noFill/>
        </p:spPr>
        <p:txBody>
          <a:bodyPr wrap="square">
            <a:spAutoFit/>
          </a:bodyPr>
          <a:lstStyle/>
          <a:p>
            <a:pPr>
              <a:buNone/>
            </a:pPr>
            <a:r>
              <a:rPr lang="en-US" b="1" dirty="0">
                <a:solidFill>
                  <a:srgbClr val="FF0000"/>
                </a:solidFill>
              </a:rPr>
              <a:t>8. Domain Expertise &amp; Business Understanding</a:t>
            </a:r>
          </a:p>
          <a:p>
            <a:pPr>
              <a:buNone/>
            </a:pPr>
            <a:r>
              <a:rPr lang="en-US" dirty="0"/>
              <a:t>This component connects technical solutions with real-world business needs. Without domain understanding, even a perfect model may not solve the actual problem.</a:t>
            </a:r>
          </a:p>
          <a:p>
            <a:pPr>
              <a:buNone/>
            </a:pPr>
            <a:endParaRPr lang="en-US" b="1" dirty="0"/>
          </a:p>
          <a:p>
            <a:pPr>
              <a:buNone/>
            </a:pPr>
            <a:r>
              <a:rPr lang="en-US" b="1" dirty="0">
                <a:solidFill>
                  <a:srgbClr val="FF0000"/>
                </a:solidFill>
              </a:rPr>
              <a:t>Role of Domain Knowledge</a:t>
            </a:r>
          </a:p>
          <a:p>
            <a:pPr>
              <a:buFont typeface="Arial" panose="020B0604020202020204" pitchFamily="34" charset="0"/>
              <a:buChar char="•"/>
            </a:pPr>
            <a:r>
              <a:rPr lang="en-US" dirty="0"/>
              <a:t>Identifying the correct problem</a:t>
            </a:r>
          </a:p>
          <a:p>
            <a:pPr>
              <a:buFont typeface="Arial" panose="020B0604020202020204" pitchFamily="34" charset="0"/>
              <a:buChar char="•"/>
            </a:pPr>
            <a:r>
              <a:rPr lang="en-US" dirty="0"/>
              <a:t>Selecting meaningful features</a:t>
            </a:r>
          </a:p>
          <a:p>
            <a:pPr>
              <a:buFont typeface="Arial" panose="020B0604020202020204" pitchFamily="34" charset="0"/>
              <a:buChar char="•"/>
            </a:pPr>
            <a:r>
              <a:rPr lang="en-US" dirty="0"/>
              <a:t>Interpreting results</a:t>
            </a:r>
          </a:p>
          <a:p>
            <a:pPr>
              <a:buFont typeface="Arial" panose="020B0604020202020204" pitchFamily="34" charset="0"/>
              <a:buChar char="•"/>
            </a:pPr>
            <a:r>
              <a:rPr lang="en-US" dirty="0"/>
              <a:t>Making business-oriented decisions</a:t>
            </a:r>
          </a:p>
          <a:p>
            <a:pPr>
              <a:buNone/>
            </a:pPr>
            <a:endParaRPr lang="en-US" b="1" dirty="0"/>
          </a:p>
          <a:p>
            <a:pPr>
              <a:buNone/>
            </a:pPr>
            <a:r>
              <a:rPr lang="en-US" b="1" dirty="0">
                <a:solidFill>
                  <a:srgbClr val="FF0000"/>
                </a:solidFill>
              </a:rPr>
              <a:t>Example</a:t>
            </a:r>
          </a:p>
          <a:p>
            <a:pPr>
              <a:buNone/>
            </a:pPr>
            <a:r>
              <a:rPr lang="en-US" dirty="0"/>
              <a:t>In a healthcare project, understanding medical terminology is essential to interpret patient data and guide treatment recommendations.</a:t>
            </a:r>
          </a:p>
        </p:txBody>
      </p:sp>
    </p:spTree>
    <p:extLst>
      <p:ext uri="{BB962C8B-B14F-4D97-AF65-F5344CB8AC3E}">
        <p14:creationId xmlns:p14="http://schemas.microsoft.com/office/powerpoint/2010/main" val="319945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EFAAF1-D239-A093-52CE-9E45209C21EE}"/>
              </a:ext>
            </a:extLst>
          </p:cNvPr>
          <p:cNvGraphicFramePr>
            <a:graphicFrameLocks noGrp="1"/>
          </p:cNvGraphicFramePr>
          <p:nvPr>
            <p:extLst>
              <p:ext uri="{D42A27DB-BD31-4B8C-83A1-F6EECF244321}">
                <p14:modId xmlns:p14="http://schemas.microsoft.com/office/powerpoint/2010/main" val="1979287297"/>
              </p:ext>
            </p:extLst>
          </p:nvPr>
        </p:nvGraphicFramePr>
        <p:xfrm>
          <a:off x="838200" y="1737417"/>
          <a:ext cx="10515600" cy="4114800"/>
        </p:xfrm>
        <a:graphic>
          <a:graphicData uri="http://schemas.openxmlformats.org/drawingml/2006/table">
            <a:tbl>
              <a:tblPr/>
              <a:tblGrid>
                <a:gridCol w="3505200">
                  <a:extLst>
                    <a:ext uri="{9D8B030D-6E8A-4147-A177-3AD203B41FA5}">
                      <a16:colId xmlns:a16="http://schemas.microsoft.com/office/drawing/2014/main" val="3803616223"/>
                    </a:ext>
                  </a:extLst>
                </a:gridCol>
                <a:gridCol w="3505200">
                  <a:extLst>
                    <a:ext uri="{9D8B030D-6E8A-4147-A177-3AD203B41FA5}">
                      <a16:colId xmlns:a16="http://schemas.microsoft.com/office/drawing/2014/main" val="1693579976"/>
                    </a:ext>
                  </a:extLst>
                </a:gridCol>
                <a:gridCol w="3505200">
                  <a:extLst>
                    <a:ext uri="{9D8B030D-6E8A-4147-A177-3AD203B41FA5}">
                      <a16:colId xmlns:a16="http://schemas.microsoft.com/office/drawing/2014/main" val="3856177626"/>
                    </a:ext>
                  </a:extLst>
                </a:gridCol>
              </a:tblGrid>
              <a:tr h="0">
                <a:tc>
                  <a:txBody>
                    <a:bodyPr/>
                    <a:lstStyle/>
                    <a:p>
                      <a:pPr>
                        <a:buNone/>
                      </a:pPr>
                      <a:r>
                        <a:rPr lang="en-IN"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7353010"/>
                  </a:ext>
                </a:extLst>
              </a:tr>
              <a:tr h="0">
                <a:tc>
                  <a:txBody>
                    <a:bodyPr/>
                    <a:lstStyle/>
                    <a:p>
                      <a:pPr>
                        <a:buNone/>
                      </a:pPr>
                      <a:r>
                        <a:rPr lang="en-IN" dirty="0"/>
                        <a:t>Data 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Gather raw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Food delivery app collects order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4443196"/>
                  </a:ext>
                </a:extLst>
              </a:tr>
              <a:tr h="0">
                <a:tc>
                  <a:txBody>
                    <a:bodyPr/>
                    <a:lstStyle/>
                    <a:p>
                      <a:pPr>
                        <a:buNone/>
                      </a:pPr>
                      <a:r>
                        <a:rPr lang="en-IN"/>
                        <a:t>Data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Organize and manage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Netflix stores user viewing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6373679"/>
                  </a:ext>
                </a:extLst>
              </a:tr>
              <a:tr h="0">
                <a:tc>
                  <a:txBody>
                    <a:bodyPr/>
                    <a:lstStyle/>
                    <a:p>
                      <a:pPr>
                        <a:buNone/>
                      </a:pPr>
                      <a:r>
                        <a:rPr lang="en-IN"/>
                        <a:t>Data Cleaning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Improve data 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Fix missing discount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2494294"/>
                  </a:ext>
                </a:extLst>
              </a:tr>
              <a:tr h="0">
                <a:tc>
                  <a:txBody>
                    <a:bodyPr/>
                    <a:lstStyle/>
                    <a:p>
                      <a:pPr>
                        <a:buNone/>
                      </a:pPr>
                      <a:r>
                        <a:rPr lang="en-IN"/>
                        <a:t>Exploration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Understand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Analyze correlation in house prices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228202"/>
                  </a:ext>
                </a:extLst>
              </a:tr>
              <a:tr h="0">
                <a:tc>
                  <a:txBody>
                    <a:bodyPr/>
                    <a:lstStyle/>
                    <a:p>
                      <a:pPr>
                        <a:buNone/>
                      </a:pPr>
                      <a:r>
                        <a:rPr lang="en-IN"/>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Build predictive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Loan default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2141887"/>
                  </a:ext>
                </a:extLst>
              </a:tr>
              <a:tr h="0">
                <a:tc>
                  <a:txBody>
                    <a:bodyPr/>
                    <a:lstStyle/>
                    <a:p>
                      <a:pPr>
                        <a:buNone/>
                      </a:pPr>
                      <a:r>
                        <a:rPr lang="en-IN"/>
                        <a:t>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Present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Sales trend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9787071"/>
                  </a:ext>
                </a:extLst>
              </a:tr>
              <a:tr h="0">
                <a:tc>
                  <a:txBody>
                    <a:bodyPr/>
                    <a:lstStyle/>
                    <a:p>
                      <a:pPr>
                        <a:buNone/>
                      </a:pPr>
                      <a:r>
                        <a:rPr lang="en-IN"/>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Integrate model into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Product recommendation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2838655"/>
                  </a:ext>
                </a:extLst>
              </a:tr>
              <a:tr h="0">
                <a:tc>
                  <a:txBody>
                    <a:bodyPr/>
                    <a:lstStyle/>
                    <a:p>
                      <a:pPr>
                        <a:buNone/>
                      </a:pPr>
                      <a:r>
                        <a:rPr lang="en-IN"/>
                        <a:t>Domain Knowledge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Align with business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Healthcare diagnosis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7264996"/>
                  </a:ext>
                </a:extLst>
              </a:tr>
            </a:tbl>
          </a:graphicData>
        </a:graphic>
      </p:graphicFrame>
      <p:sp>
        <p:nvSpPr>
          <p:cNvPr id="4" name="TextBox 3">
            <a:extLst>
              <a:ext uri="{FF2B5EF4-FFF2-40B4-BE49-F238E27FC236}">
                <a16:creationId xmlns:a16="http://schemas.microsoft.com/office/drawing/2014/main" id="{C68116EA-54A3-20A9-AF1A-E6807167B8AF}"/>
              </a:ext>
            </a:extLst>
          </p:cNvPr>
          <p:cNvSpPr txBox="1"/>
          <p:nvPr/>
        </p:nvSpPr>
        <p:spPr>
          <a:xfrm>
            <a:off x="838200" y="614640"/>
            <a:ext cx="6094324" cy="369332"/>
          </a:xfrm>
          <a:prstGeom prst="rect">
            <a:avLst/>
          </a:prstGeom>
          <a:noFill/>
        </p:spPr>
        <p:txBody>
          <a:bodyPr wrap="square">
            <a:spAutoFit/>
          </a:bodyPr>
          <a:lstStyle/>
          <a:p>
            <a:pPr>
              <a:buNone/>
            </a:pPr>
            <a:r>
              <a:rPr lang="en-US" b="1" dirty="0">
                <a:solidFill>
                  <a:srgbClr val="FF0000"/>
                </a:solidFill>
              </a:rPr>
              <a:t>Summary of Data Science Components</a:t>
            </a:r>
          </a:p>
        </p:txBody>
      </p:sp>
    </p:spTree>
    <p:extLst>
      <p:ext uri="{BB962C8B-B14F-4D97-AF65-F5344CB8AC3E}">
        <p14:creationId xmlns:p14="http://schemas.microsoft.com/office/powerpoint/2010/main" val="450646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20431E-BE7D-947E-6401-06FFC5A5DA99}"/>
              </a:ext>
            </a:extLst>
          </p:cNvPr>
          <p:cNvSpPr txBox="1"/>
          <p:nvPr/>
        </p:nvSpPr>
        <p:spPr>
          <a:xfrm>
            <a:off x="255639" y="345934"/>
            <a:ext cx="11533238" cy="5909310"/>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BIG DATA TECHNOLOGY</a:t>
            </a:r>
          </a:p>
          <a:p>
            <a:pPr>
              <a:buNone/>
            </a:pPr>
            <a:endParaRPr lang="en-IN" sz="1800" kern="100" dirty="0">
              <a:effectLst/>
              <a:latin typeface="Cambria" panose="02040503050406030204" pitchFamily="18" charset="0"/>
              <a:ea typeface="Cambria" panose="02040503050406030204" pitchFamily="18" charset="0"/>
            </a:endParaRPr>
          </a:p>
          <a:p>
            <a:pPr>
              <a:buNone/>
            </a:pPr>
            <a:r>
              <a:rPr lang="en-IN" sz="1800" dirty="0">
                <a:effectLst/>
                <a:latin typeface="Cambria" panose="02040503050406030204" pitchFamily="18" charset="0"/>
                <a:ea typeface="Cambria" panose="02040503050406030204" pitchFamily="18" charset="0"/>
              </a:rPr>
              <a:t>Big Data Technology refers to the collection of advanced tools, frameworks, architectures, methods, and platforms that are used to store, process, manage, and </a:t>
            </a:r>
            <a:r>
              <a:rPr lang="en-IN" sz="1800" dirty="0" err="1">
                <a:effectLst/>
                <a:latin typeface="Cambria" panose="02040503050406030204" pitchFamily="18" charset="0"/>
                <a:ea typeface="Cambria" panose="02040503050406030204" pitchFamily="18" charset="0"/>
              </a:rPr>
              <a:t>analyze</a:t>
            </a:r>
            <a:r>
              <a:rPr lang="en-IN" sz="1800" dirty="0">
                <a:effectLst/>
                <a:latin typeface="Cambria" panose="02040503050406030204" pitchFamily="18" charset="0"/>
                <a:ea typeface="Cambria" panose="02040503050406030204" pitchFamily="18" charset="0"/>
              </a:rPr>
              <a:t> extremely large datasets that cannot be handled by traditional databases or analytical tools. With the explosion of data from social media, IoT devices, sensors, mobile phones, financial transactions, and enterprise systems, the need for scalable, distributed, and fault-tolerant systems has become essential. Big Data technologies provide solutions to address the </a:t>
            </a:r>
            <a:r>
              <a:rPr lang="en-IN" sz="1800" b="1" dirty="0">
                <a:effectLst/>
                <a:latin typeface="Cambria" panose="02040503050406030204" pitchFamily="18" charset="0"/>
                <a:ea typeface="Cambria" panose="02040503050406030204" pitchFamily="18" charset="0"/>
              </a:rPr>
              <a:t>5 Vs of Big Data</a:t>
            </a:r>
            <a:r>
              <a:rPr lang="en-IN" sz="1800" dirty="0">
                <a:effectLst/>
                <a:latin typeface="Cambria" panose="02040503050406030204" pitchFamily="18" charset="0"/>
                <a:ea typeface="Cambria" panose="02040503050406030204" pitchFamily="18" charset="0"/>
              </a:rPr>
              <a:t>—</a:t>
            </a:r>
            <a:r>
              <a:rPr lang="en-IN" sz="1800" b="1" dirty="0">
                <a:effectLst/>
                <a:latin typeface="Cambria" panose="02040503050406030204" pitchFamily="18" charset="0"/>
                <a:ea typeface="Cambria" panose="02040503050406030204" pitchFamily="18" charset="0"/>
              </a:rPr>
              <a:t>Volume, Velocity, Variety, Veracity, and Value</a:t>
            </a:r>
            <a:r>
              <a:rPr lang="en-IN" sz="1800" dirty="0">
                <a:effectLst/>
                <a:latin typeface="Cambria" panose="02040503050406030204" pitchFamily="18" charset="0"/>
                <a:ea typeface="Cambria" panose="02040503050406030204" pitchFamily="18" charset="0"/>
              </a:rPr>
              <a:t>—and enable organizations to extract meaningful insights in real time.</a:t>
            </a:r>
          </a:p>
          <a:p>
            <a:pPr>
              <a:buNone/>
            </a:pPr>
            <a:endParaRPr lang="en-IN" dirty="0">
              <a:latin typeface="Cambria" panose="02040503050406030204" pitchFamily="18" charset="0"/>
              <a:ea typeface="Cambria" panose="02040503050406030204" pitchFamily="18" charset="0"/>
            </a:endParaRPr>
          </a:p>
          <a:p>
            <a:r>
              <a:rPr lang="en-IN" b="1" dirty="0">
                <a:solidFill>
                  <a:srgbClr val="FF0000"/>
                </a:solidFill>
                <a:latin typeface="Cambria" panose="02040503050406030204" pitchFamily="18" charset="0"/>
                <a:ea typeface="Cambria" panose="02040503050406030204" pitchFamily="18" charset="0"/>
              </a:rPr>
              <a:t>1. Big Data Storage Technologies</a:t>
            </a:r>
            <a:endParaRPr lang="en-IN" dirty="0">
              <a:solidFill>
                <a:srgbClr val="FF0000"/>
              </a:solidFill>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(a) Hadoop Distributed File System (HDFS)</a:t>
            </a: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HDFS is the primary storage system used in the Hadoop ecosystem. It is designed to store extremely large datasets (in terabytes or petabytes) by breaking them into smaller blocks and distributing them across multiple nodes in a cluster. HDFS follows a </a:t>
            </a:r>
            <a:r>
              <a:rPr lang="en-IN" b="1" dirty="0">
                <a:latin typeface="Cambria" panose="02040503050406030204" pitchFamily="18" charset="0"/>
                <a:ea typeface="Cambria" panose="02040503050406030204" pitchFamily="18" charset="0"/>
              </a:rPr>
              <a:t>master–slave architecture</a:t>
            </a:r>
            <a:r>
              <a:rPr lang="en-IN" dirty="0">
                <a:latin typeface="Cambria" panose="02040503050406030204" pitchFamily="18" charset="0"/>
                <a:ea typeface="Cambria" panose="02040503050406030204" pitchFamily="18" charset="0"/>
              </a:rPr>
              <a:t> consisting of the </a:t>
            </a:r>
            <a:r>
              <a:rPr lang="en-IN" b="1" dirty="0" err="1">
                <a:latin typeface="Cambria" panose="02040503050406030204" pitchFamily="18" charset="0"/>
                <a:ea typeface="Cambria" panose="02040503050406030204" pitchFamily="18" charset="0"/>
              </a:rPr>
              <a:t>NameNode</a:t>
            </a:r>
            <a:r>
              <a:rPr lang="en-IN" dirty="0">
                <a:latin typeface="Cambria" panose="02040503050406030204" pitchFamily="18" charset="0"/>
                <a:ea typeface="Cambria" panose="02040503050406030204" pitchFamily="18" charset="0"/>
              </a:rPr>
              <a:t> (master) and </a:t>
            </a:r>
            <a:r>
              <a:rPr lang="en-IN" b="1" dirty="0" err="1">
                <a:latin typeface="Cambria" panose="02040503050406030204" pitchFamily="18" charset="0"/>
                <a:ea typeface="Cambria" panose="02040503050406030204" pitchFamily="18" charset="0"/>
              </a:rPr>
              <a:t>DataNodes</a:t>
            </a:r>
            <a:r>
              <a:rPr lang="en-IN" dirty="0">
                <a:latin typeface="Cambria" panose="02040503050406030204" pitchFamily="18" charset="0"/>
                <a:ea typeface="Cambria" panose="02040503050406030204" pitchFamily="18" charset="0"/>
              </a:rPr>
              <a:t> (slaves). The </a:t>
            </a:r>
            <a:r>
              <a:rPr lang="en-IN" dirty="0" err="1">
                <a:latin typeface="Cambria" panose="02040503050406030204" pitchFamily="18" charset="0"/>
                <a:ea typeface="Cambria" panose="02040503050406030204" pitchFamily="18" charset="0"/>
              </a:rPr>
              <a:t>NameNode</a:t>
            </a:r>
            <a:r>
              <a:rPr lang="en-IN" dirty="0">
                <a:latin typeface="Cambria" panose="02040503050406030204" pitchFamily="18" charset="0"/>
                <a:ea typeface="Cambria" panose="02040503050406030204" pitchFamily="18" charset="0"/>
              </a:rPr>
              <a:t> manages metadata such as block locations, while </a:t>
            </a:r>
            <a:r>
              <a:rPr lang="en-IN" dirty="0" err="1">
                <a:latin typeface="Cambria" panose="02040503050406030204" pitchFamily="18" charset="0"/>
                <a:ea typeface="Cambria" panose="02040503050406030204" pitchFamily="18" charset="0"/>
              </a:rPr>
              <a:t>DataNodes</a:t>
            </a:r>
            <a:r>
              <a:rPr lang="en-IN" dirty="0">
                <a:latin typeface="Cambria" panose="02040503050406030204" pitchFamily="18" charset="0"/>
                <a:ea typeface="Cambria" panose="02040503050406030204" pitchFamily="18" charset="0"/>
              </a:rPr>
              <a:t> store the actual data blocks. One of its biggest advantages is </a:t>
            </a:r>
            <a:r>
              <a:rPr lang="en-IN" b="1" dirty="0">
                <a:latin typeface="Cambria" panose="02040503050406030204" pitchFamily="18" charset="0"/>
                <a:ea typeface="Cambria" panose="02040503050406030204" pitchFamily="18" charset="0"/>
              </a:rPr>
              <a:t>fault tolerance</a:t>
            </a:r>
            <a:r>
              <a:rPr lang="en-IN" dirty="0">
                <a:latin typeface="Cambria" panose="02040503050406030204" pitchFamily="18" charset="0"/>
                <a:ea typeface="Cambria" panose="02040503050406030204" pitchFamily="18" charset="0"/>
              </a:rPr>
              <a:t>—data blocks are replicated (usually 3 copies) across different nodes. This ensures that even if a node goes down, data is not lost.</a:t>
            </a:r>
          </a:p>
          <a:p>
            <a:endParaRPr lang="en-IN" b="1"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Example:</a:t>
            </a: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An e-commerce company stores billions of customer clickstream logs and product viewing histories on HDFS because traditional file systems cannot handle data at such a massive scale.</a:t>
            </a:r>
          </a:p>
        </p:txBody>
      </p:sp>
    </p:spTree>
    <p:extLst>
      <p:ext uri="{BB962C8B-B14F-4D97-AF65-F5344CB8AC3E}">
        <p14:creationId xmlns:p14="http://schemas.microsoft.com/office/powerpoint/2010/main" val="1863371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E68ABC-0E42-662A-765B-59322FCED89B}"/>
              </a:ext>
            </a:extLst>
          </p:cNvPr>
          <p:cNvSpPr txBox="1"/>
          <p:nvPr/>
        </p:nvSpPr>
        <p:spPr>
          <a:xfrm>
            <a:off x="422786" y="243373"/>
            <a:ext cx="11297265" cy="3970318"/>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(b) NoSQL Databases</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NoSQL (Not Only SQL) databases are designed to manage semi-structured, unstructured, and flexible data formats. Unlike relational databases, NoSQL systems do not require a fixed schema and can scale horizontally by adding more servers.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Types of NoSQL Databases</a:t>
            </a:r>
            <a:endParaRPr lang="en-IN" sz="1800" kern="100" dirty="0">
              <a:effectLst/>
              <a:latin typeface="Times New Roman" panose="02020603050405020304" pitchFamily="18" charset="0"/>
              <a:ea typeface="Aptos" panose="020B0004020202020204" pitchFamily="34" charset="0"/>
            </a:endParaRPr>
          </a:p>
          <a:p>
            <a:pPr marL="342900" lvl="0" indent="-342900">
              <a:buFont typeface="+mj-lt"/>
              <a:buAutoNum type="arabicPeriod"/>
              <a:tabLst>
                <a:tab pos="457200" algn="l"/>
              </a:tabLst>
            </a:pPr>
            <a:r>
              <a:rPr lang="en-IN" sz="1800" b="1" kern="100" dirty="0">
                <a:effectLst/>
                <a:latin typeface="Times New Roman" panose="02020603050405020304" pitchFamily="18" charset="0"/>
                <a:ea typeface="Aptos" panose="020B0004020202020204" pitchFamily="34" charset="0"/>
              </a:rPr>
              <a:t>Document Databases</a:t>
            </a:r>
            <a:r>
              <a:rPr lang="en-IN" sz="1800" kern="100" dirty="0">
                <a:effectLst/>
                <a:latin typeface="Times New Roman" panose="02020603050405020304" pitchFamily="18" charset="0"/>
                <a:ea typeface="Aptos" panose="020B0004020202020204" pitchFamily="34" charset="0"/>
              </a:rPr>
              <a:t> (e.g., MongoDB): Store data in JSON-like documents.</a:t>
            </a:r>
          </a:p>
          <a:p>
            <a:pPr marL="342900" lvl="0" indent="-342900">
              <a:buFont typeface="+mj-lt"/>
              <a:buAutoNum type="arabicPeriod"/>
              <a:tabLst>
                <a:tab pos="457200" algn="l"/>
              </a:tabLst>
            </a:pPr>
            <a:r>
              <a:rPr lang="en-IN" sz="1800" b="1" kern="100" dirty="0">
                <a:effectLst/>
                <a:latin typeface="Times New Roman" panose="02020603050405020304" pitchFamily="18" charset="0"/>
                <a:ea typeface="Aptos" panose="020B0004020202020204" pitchFamily="34" charset="0"/>
              </a:rPr>
              <a:t>Column-Family Databases</a:t>
            </a:r>
            <a:r>
              <a:rPr lang="en-IN" sz="1800" kern="100" dirty="0">
                <a:effectLst/>
                <a:latin typeface="Times New Roman" panose="02020603050405020304" pitchFamily="18" charset="0"/>
                <a:ea typeface="Aptos" panose="020B0004020202020204" pitchFamily="34" charset="0"/>
              </a:rPr>
              <a:t> (e.g., HBase, Cassandra): Store data in columns instead of rows.</a:t>
            </a:r>
          </a:p>
          <a:p>
            <a:pPr marL="342900" lvl="0" indent="-342900">
              <a:buFont typeface="+mj-lt"/>
              <a:buAutoNum type="arabicPeriod"/>
              <a:tabLst>
                <a:tab pos="457200" algn="l"/>
              </a:tabLst>
            </a:pPr>
            <a:r>
              <a:rPr lang="en-IN" sz="1800" b="1" kern="100" dirty="0">
                <a:effectLst/>
                <a:latin typeface="Times New Roman" panose="02020603050405020304" pitchFamily="18" charset="0"/>
                <a:ea typeface="Aptos" panose="020B0004020202020204" pitchFamily="34" charset="0"/>
              </a:rPr>
              <a:t>Key–Value Stores</a:t>
            </a:r>
            <a:r>
              <a:rPr lang="en-IN" sz="1800" kern="100" dirty="0">
                <a:effectLst/>
                <a:latin typeface="Times New Roman" panose="02020603050405020304" pitchFamily="18" charset="0"/>
                <a:ea typeface="Aptos" panose="020B0004020202020204" pitchFamily="34" charset="0"/>
              </a:rPr>
              <a:t> (e.g., Redis): Store data as key–value pairs.</a:t>
            </a:r>
          </a:p>
          <a:p>
            <a:pPr marL="342900" lvl="0" indent="-342900">
              <a:buFont typeface="+mj-lt"/>
              <a:buAutoNum type="arabicPeriod"/>
              <a:tabLst>
                <a:tab pos="457200" algn="l"/>
              </a:tabLst>
            </a:pPr>
            <a:r>
              <a:rPr lang="en-IN" sz="1800" b="1" kern="100" dirty="0">
                <a:effectLst/>
                <a:latin typeface="Times New Roman" panose="02020603050405020304" pitchFamily="18" charset="0"/>
                <a:ea typeface="Aptos" panose="020B0004020202020204" pitchFamily="34" charset="0"/>
              </a:rPr>
              <a:t>Graph Databases</a:t>
            </a:r>
            <a:r>
              <a:rPr lang="en-IN" sz="1800" kern="100" dirty="0">
                <a:effectLst/>
                <a:latin typeface="Times New Roman" panose="02020603050405020304" pitchFamily="18" charset="0"/>
                <a:ea typeface="Aptos" panose="020B0004020202020204" pitchFamily="34" charset="0"/>
              </a:rPr>
              <a:t> (e.g., Neo4j): Store relationships between entities.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A delivery company uses MongoDB to store delivery routes, real-time GPS locations, and customer addresses because the data formats are dynamic and grow quickly.</a:t>
            </a:r>
            <a:endParaRPr lang="en-IN" dirty="0"/>
          </a:p>
        </p:txBody>
      </p:sp>
    </p:spTree>
    <p:extLst>
      <p:ext uri="{BB962C8B-B14F-4D97-AF65-F5344CB8AC3E}">
        <p14:creationId xmlns:p14="http://schemas.microsoft.com/office/powerpoint/2010/main" val="1099590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81D9B9-ED6D-F0E8-2F38-2F594C4EDD75}"/>
              </a:ext>
            </a:extLst>
          </p:cNvPr>
          <p:cNvSpPr txBox="1"/>
          <p:nvPr/>
        </p:nvSpPr>
        <p:spPr>
          <a:xfrm>
            <a:off x="491613" y="453241"/>
            <a:ext cx="11277600" cy="3139321"/>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2. Big Data Processing Frameworks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(a) MapReduce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MapReduce is a programming model used to process large volumes of data in parallel across a distributed cluster. It has two major phases:</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Map Phase:</a:t>
            </a:r>
            <a:r>
              <a:rPr lang="en-IN" sz="1800" kern="100" dirty="0">
                <a:effectLst/>
                <a:latin typeface="Times New Roman" panose="02020603050405020304" pitchFamily="18" charset="0"/>
                <a:ea typeface="Aptos" panose="020B0004020202020204" pitchFamily="34" charset="0"/>
              </a:rPr>
              <a:t> Converts input data into key–value pairs.</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Reduce Phase:</a:t>
            </a:r>
            <a:r>
              <a:rPr lang="en-IN" sz="1800" kern="100" dirty="0">
                <a:effectLst/>
                <a:latin typeface="Times New Roman" panose="02020603050405020304" pitchFamily="18" charset="0"/>
                <a:ea typeface="Aptos" panose="020B0004020202020204" pitchFamily="34" charset="0"/>
              </a:rPr>
              <a:t> Aggregates or processes these key–value pairs.</a:t>
            </a:r>
          </a:p>
          <a:p>
            <a:pPr>
              <a:buNone/>
            </a:pPr>
            <a:r>
              <a:rPr lang="en-IN" sz="1800" kern="100" dirty="0">
                <a:effectLst/>
                <a:latin typeface="Times New Roman" panose="02020603050405020304" pitchFamily="18" charset="0"/>
                <a:ea typeface="Aptos" panose="020B0004020202020204" pitchFamily="34" charset="0"/>
              </a:rPr>
              <a:t>Despite being highly reliable, MapReduce is slower because it reads and writes data to disk repeatedly.</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If a company needs to count the frequency of each product in millions of purchase receipts, MapReduce can divide the task across multiple nodes and process it simultaneously.</a:t>
            </a:r>
            <a:endParaRPr lang="en-IN" dirty="0"/>
          </a:p>
        </p:txBody>
      </p:sp>
    </p:spTree>
    <p:extLst>
      <p:ext uri="{BB962C8B-B14F-4D97-AF65-F5344CB8AC3E}">
        <p14:creationId xmlns:p14="http://schemas.microsoft.com/office/powerpoint/2010/main" val="2211889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2E25E0-548B-7487-AB3A-4AB6C9FF6E42}"/>
              </a:ext>
            </a:extLst>
          </p:cNvPr>
          <p:cNvSpPr txBox="1"/>
          <p:nvPr/>
        </p:nvSpPr>
        <p:spPr>
          <a:xfrm>
            <a:off x="393290" y="335253"/>
            <a:ext cx="11415252" cy="3970318"/>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(b) Apache Spark</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Spark is a powerful in-memory data processing engine designed to overcome the limitations of MapReduce. It performs computations in RAM instead of repeatedly writing to disk, making it significantly faster.</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Key 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In-Memory Computing:</a:t>
            </a:r>
            <a:r>
              <a:rPr lang="en-IN" sz="1800" kern="100" dirty="0">
                <a:effectLst/>
                <a:latin typeface="Times New Roman" panose="02020603050405020304" pitchFamily="18" charset="0"/>
                <a:ea typeface="Aptos" panose="020B0004020202020204" pitchFamily="34" charset="0"/>
              </a:rPr>
              <a:t> Speeds up batch processing.</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Real-Time Data Processing:</a:t>
            </a:r>
            <a:r>
              <a:rPr lang="en-IN" sz="1800" kern="100" dirty="0">
                <a:effectLst/>
                <a:latin typeface="Times New Roman" panose="02020603050405020304" pitchFamily="18" charset="0"/>
                <a:ea typeface="Aptos" panose="020B0004020202020204" pitchFamily="34" charset="0"/>
              </a:rPr>
              <a:t> With Spark Streaming.</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Machine Learning Support:</a:t>
            </a:r>
            <a:r>
              <a:rPr lang="en-IN" sz="1800" kern="100" dirty="0">
                <a:effectLst/>
                <a:latin typeface="Times New Roman" panose="02020603050405020304" pitchFamily="18" charset="0"/>
                <a:ea typeface="Aptos" panose="020B0004020202020204" pitchFamily="34" charset="0"/>
              </a:rPr>
              <a:t> Using </a:t>
            </a:r>
            <a:r>
              <a:rPr lang="en-IN" sz="1800" kern="100" dirty="0" err="1">
                <a:effectLst/>
                <a:latin typeface="Times New Roman" panose="02020603050405020304" pitchFamily="18" charset="0"/>
                <a:ea typeface="Aptos" panose="020B0004020202020204" pitchFamily="34" charset="0"/>
              </a:rPr>
              <a:t>MLlib</a:t>
            </a:r>
            <a:r>
              <a:rPr lang="en-IN" sz="1800" kern="100" dirty="0">
                <a:effectLst/>
                <a:latin typeface="Times New Roman" panose="02020603050405020304" pitchFamily="18" charset="0"/>
                <a:ea typeface="Aptos" panose="020B0004020202020204" pitchFamily="34" charset="0"/>
              </a:rPr>
              <a:t>.</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SQL Queries:</a:t>
            </a:r>
            <a:r>
              <a:rPr lang="en-IN" sz="1800" kern="100" dirty="0">
                <a:effectLst/>
                <a:latin typeface="Times New Roman" panose="02020603050405020304" pitchFamily="18" charset="0"/>
                <a:ea typeface="Aptos" panose="020B0004020202020204" pitchFamily="34" charset="0"/>
              </a:rPr>
              <a:t> Through Spark SQL.</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Fault Tolerance:</a:t>
            </a:r>
            <a:r>
              <a:rPr lang="en-IN" sz="1800" kern="100" dirty="0">
                <a:effectLst/>
                <a:latin typeface="Times New Roman" panose="02020603050405020304" pitchFamily="18" charset="0"/>
                <a:ea typeface="Aptos" panose="020B0004020202020204" pitchFamily="34" charset="0"/>
              </a:rPr>
              <a:t> Via RDD (Resilient Distributed Dataset).</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Banks use Spark to detect fraudulent credit card transactions in real time by </a:t>
            </a:r>
            <a:r>
              <a:rPr lang="en-IN" sz="1800" kern="100" dirty="0" err="1">
                <a:effectLst/>
                <a:latin typeface="Times New Roman" panose="02020603050405020304" pitchFamily="18" charset="0"/>
                <a:ea typeface="Aptos" panose="020B0004020202020204" pitchFamily="34" charset="0"/>
              </a:rPr>
              <a:t>analyzing</a:t>
            </a:r>
            <a:r>
              <a:rPr lang="en-IN" sz="1800" kern="100" dirty="0">
                <a:effectLst/>
                <a:latin typeface="Times New Roman" panose="02020603050405020304" pitchFamily="18" charset="0"/>
                <a:ea typeface="Aptos" panose="020B0004020202020204" pitchFamily="34" charset="0"/>
              </a:rPr>
              <a:t> thousands of transactions per second.</a:t>
            </a:r>
          </a:p>
        </p:txBody>
      </p:sp>
    </p:spTree>
    <p:extLst>
      <p:ext uri="{BB962C8B-B14F-4D97-AF65-F5344CB8AC3E}">
        <p14:creationId xmlns:p14="http://schemas.microsoft.com/office/powerpoint/2010/main" val="650037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A760F9-7A97-B385-09F5-A4A7859936EC}"/>
              </a:ext>
            </a:extLst>
          </p:cNvPr>
          <p:cNvSpPr txBox="1"/>
          <p:nvPr/>
        </p:nvSpPr>
        <p:spPr>
          <a:xfrm>
            <a:off x="412955" y="346782"/>
            <a:ext cx="11346426" cy="3693319"/>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(c) Apache Flink</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Apache Flink is a framework designed for real-time and batch data processing. It supports </a:t>
            </a:r>
            <a:r>
              <a:rPr lang="en-IN" sz="1800" b="1" kern="100" dirty="0">
                <a:effectLst/>
                <a:latin typeface="Times New Roman" panose="02020603050405020304" pitchFamily="18" charset="0"/>
                <a:ea typeface="Aptos" panose="020B0004020202020204" pitchFamily="34" charset="0"/>
              </a:rPr>
              <a:t>event-driven computation</a:t>
            </a:r>
            <a:r>
              <a:rPr lang="en-IN" sz="1800" kern="100" dirty="0">
                <a:effectLst/>
                <a:latin typeface="Times New Roman" panose="02020603050405020304" pitchFamily="18" charset="0"/>
                <a:ea typeface="Aptos" panose="020B0004020202020204" pitchFamily="34" charset="0"/>
              </a:rPr>
              <a:t>, which allows processing data as soon as it is generated.</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Low latency</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High throughput</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Fault-tolerant streaming engine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State management for complex workflows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Telecommunication companies use Flink to monitor network traffic in real time to immediately detect connectivity failures.</a:t>
            </a:r>
            <a:endParaRPr lang="en-IN" dirty="0"/>
          </a:p>
        </p:txBody>
      </p:sp>
    </p:spTree>
    <p:extLst>
      <p:ext uri="{BB962C8B-B14F-4D97-AF65-F5344CB8AC3E}">
        <p14:creationId xmlns:p14="http://schemas.microsoft.com/office/powerpoint/2010/main" val="3026538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625D7A-BC34-B303-5A49-18DB8EFC9760}"/>
              </a:ext>
            </a:extLst>
          </p:cNvPr>
          <p:cNvSpPr txBox="1"/>
          <p:nvPr/>
        </p:nvSpPr>
        <p:spPr>
          <a:xfrm>
            <a:off x="521110" y="220658"/>
            <a:ext cx="11228438" cy="2862322"/>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(d) Apache Storm</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Storm is a distributed real-time computation system used for tasks that require continuous, fast processing.</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How It Works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Data is processed as “tuples” flowing through a topology of spouts (sources) and bolts (processors).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Provides high-speed real-time analytics.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Twitter uses Apache Storm to process real-time tweets, identify trending topics, and compute user engagement metrics instantly.</a:t>
            </a:r>
            <a:endParaRPr lang="en-IN" dirty="0"/>
          </a:p>
        </p:txBody>
      </p:sp>
    </p:spTree>
    <p:extLst>
      <p:ext uri="{BB962C8B-B14F-4D97-AF65-F5344CB8AC3E}">
        <p14:creationId xmlns:p14="http://schemas.microsoft.com/office/powerpoint/2010/main" val="1918993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F37DA2-1C78-FC39-AD23-2F34EEAD9B4F}"/>
              </a:ext>
            </a:extLst>
          </p:cNvPr>
          <p:cNvSpPr txBox="1"/>
          <p:nvPr/>
        </p:nvSpPr>
        <p:spPr>
          <a:xfrm>
            <a:off x="599767" y="325422"/>
            <a:ext cx="11169445" cy="3970318"/>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3. Distributed Computing &amp; Cluster Management</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(a) YARN (Yet Another Resource Negotiator)</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YARN is the resource manager in the Hadoop ecosystem. It allocates cluster resources such as CPU and memory to various applications running on the cluster (like Spark, MapReduce, Hive).</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Responsibilities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Job scheduling</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Resource allocation</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Monitoring and managing tasks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If two jobs—social media sentiment analysis and log processing—run simultaneously, YARN divides cluster resources efficiently between them.</a:t>
            </a:r>
          </a:p>
        </p:txBody>
      </p:sp>
    </p:spTree>
    <p:extLst>
      <p:ext uri="{BB962C8B-B14F-4D97-AF65-F5344CB8AC3E}">
        <p14:creationId xmlns:p14="http://schemas.microsoft.com/office/powerpoint/2010/main" val="1786686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0CF944-6DE8-F322-F89E-7C470CB1CBF3}"/>
              </a:ext>
            </a:extLst>
          </p:cNvPr>
          <p:cNvSpPr txBox="1"/>
          <p:nvPr/>
        </p:nvSpPr>
        <p:spPr>
          <a:xfrm>
            <a:off x="471947" y="356614"/>
            <a:ext cx="11139949" cy="3416320"/>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(b) Kubernetes</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Kubernetes is a container orchestration platform used to deploy, scale, and manage distributed applications—including big data tools.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Why Kubernetes Matters in Big Data</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Applications run in isolated containers.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Automatic scaling based on workload.</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Simplifies deployment of Spark clusters, Kafka brokers, and machine learning models.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analytics company uses Kubernetes to deploy Spark jobs on demand, scaling up resources during high traffic hours.</a:t>
            </a:r>
          </a:p>
        </p:txBody>
      </p:sp>
    </p:spTree>
    <p:extLst>
      <p:ext uri="{BB962C8B-B14F-4D97-AF65-F5344CB8AC3E}">
        <p14:creationId xmlns:p14="http://schemas.microsoft.com/office/powerpoint/2010/main" val="2679692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129656-4E30-0F7C-4FFA-2E31270ED4EF}"/>
              </a:ext>
            </a:extLst>
          </p:cNvPr>
          <p:cNvSpPr txBox="1"/>
          <p:nvPr/>
        </p:nvSpPr>
        <p:spPr>
          <a:xfrm>
            <a:off x="403122" y="258292"/>
            <a:ext cx="11326762" cy="3693319"/>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4. Data Ingestion &amp; Streaming Technologies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(a) Apache Kafka</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Kafka is a highly scalable, distributed streaming platform used to collect and process real-time data streams.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Key 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Handles millions of events per second</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Stores data in fault-tolerant logs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Works well with Spark, Flink, and Storm</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Netflix uses Kafka to collect real-time data about content being watched, buffering issues, and user interactions to improve recommendation systems.</a:t>
            </a:r>
          </a:p>
        </p:txBody>
      </p:sp>
    </p:spTree>
    <p:extLst>
      <p:ext uri="{BB962C8B-B14F-4D97-AF65-F5344CB8AC3E}">
        <p14:creationId xmlns:p14="http://schemas.microsoft.com/office/powerpoint/2010/main" val="1527105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37FBB8-99C7-F1AC-E309-9C2CE0D88AB2}"/>
              </a:ext>
            </a:extLst>
          </p:cNvPr>
          <p:cNvSpPr txBox="1"/>
          <p:nvPr/>
        </p:nvSpPr>
        <p:spPr>
          <a:xfrm>
            <a:off x="452283" y="230490"/>
            <a:ext cx="11307098" cy="2862322"/>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(b) Apache Flume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Flume is used for collecting, aggregating, and moving large amounts of </a:t>
            </a:r>
            <a:r>
              <a:rPr lang="en-IN" sz="1800" b="1" kern="100" dirty="0">
                <a:effectLst/>
                <a:latin typeface="Times New Roman" panose="02020603050405020304" pitchFamily="18" charset="0"/>
                <a:ea typeface="Aptos" panose="020B0004020202020204" pitchFamily="34" charset="0"/>
              </a:rPr>
              <a:t>log data</a:t>
            </a:r>
            <a:r>
              <a:rPr lang="en-IN" sz="1800" kern="100" dirty="0">
                <a:effectLst/>
                <a:latin typeface="Times New Roman" panose="02020603050405020304" pitchFamily="18" charset="0"/>
                <a:ea typeface="Aptos" panose="020B0004020202020204" pitchFamily="34" charset="0"/>
              </a:rPr>
              <a:t> from multiple sources to HDFS.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Reliable and scalable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Ideal for event-based data</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Works best with web server logs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Web servers generate massive log files. Flume collects these logs and stores them in Hadoop for further analytics.</a:t>
            </a:r>
          </a:p>
        </p:txBody>
      </p:sp>
    </p:spTree>
    <p:extLst>
      <p:ext uri="{BB962C8B-B14F-4D97-AF65-F5344CB8AC3E}">
        <p14:creationId xmlns:p14="http://schemas.microsoft.com/office/powerpoint/2010/main" val="3874461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239260-E09E-790F-0D56-C8E4486FE797}"/>
              </a:ext>
            </a:extLst>
          </p:cNvPr>
          <p:cNvSpPr txBox="1"/>
          <p:nvPr/>
        </p:nvSpPr>
        <p:spPr>
          <a:xfrm>
            <a:off x="373626" y="259987"/>
            <a:ext cx="11503742" cy="2862322"/>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(c) Apache Sqoop</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Sqoop is used to transfer data between Hadoop and traditional relational databases like MySQL, SQL Server, and Oracle.</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Use Cases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Import data from RDBMS to HDFS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Export processed Hadoop data back to RDBMS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A banking company stores customer transaction files in MySQL but needs to </a:t>
            </a:r>
            <a:r>
              <a:rPr lang="en-IN" sz="1800" dirty="0" err="1">
                <a:effectLst/>
                <a:latin typeface="Times New Roman" panose="02020603050405020304" pitchFamily="18" charset="0"/>
                <a:ea typeface="Aptos" panose="020B0004020202020204" pitchFamily="34" charset="0"/>
              </a:rPr>
              <a:t>analyze</a:t>
            </a:r>
            <a:r>
              <a:rPr lang="en-IN" sz="1800" dirty="0">
                <a:effectLst/>
                <a:latin typeface="Times New Roman" panose="02020603050405020304" pitchFamily="18" charset="0"/>
                <a:ea typeface="Aptos" panose="020B0004020202020204" pitchFamily="34" charset="0"/>
              </a:rPr>
              <a:t> them using Hadoop. Sqoop imports the data efficiently.</a:t>
            </a:r>
            <a:endParaRPr lang="en-IN" dirty="0"/>
          </a:p>
        </p:txBody>
      </p:sp>
    </p:spTree>
    <p:extLst>
      <p:ext uri="{BB962C8B-B14F-4D97-AF65-F5344CB8AC3E}">
        <p14:creationId xmlns:p14="http://schemas.microsoft.com/office/powerpoint/2010/main" val="2304302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5113D4-B041-33E9-A05E-595D20B390C1}"/>
              </a:ext>
            </a:extLst>
          </p:cNvPr>
          <p:cNvSpPr txBox="1"/>
          <p:nvPr/>
        </p:nvSpPr>
        <p:spPr>
          <a:xfrm>
            <a:off x="422787" y="305757"/>
            <a:ext cx="11366089" cy="3970318"/>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5. Data Querying &amp; Warehousing</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(a) Apache Hive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Hive is a data warehousing tool that allows users to query large datasets stored in HDFS using a SQL-like language called HiveQL. It simplifies big data analytics for users who are familiar with SQL.</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Converts SQL queries into MapReduce or Spark tasks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Supports batch queries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Ideal for data summarization, analysis, and reporting</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finance company uses Hive to generate monthly sales, customer segmentation, and revenue summary reports from terabytes of data.</a:t>
            </a:r>
          </a:p>
        </p:txBody>
      </p:sp>
    </p:spTree>
    <p:extLst>
      <p:ext uri="{BB962C8B-B14F-4D97-AF65-F5344CB8AC3E}">
        <p14:creationId xmlns:p14="http://schemas.microsoft.com/office/powerpoint/2010/main" val="1620362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97ECE4-5D3D-C749-F063-0BF0B3DCAF4F}"/>
              </a:ext>
            </a:extLst>
          </p:cNvPr>
          <p:cNvSpPr txBox="1"/>
          <p:nvPr/>
        </p:nvSpPr>
        <p:spPr>
          <a:xfrm>
            <a:off x="383457" y="240323"/>
            <a:ext cx="11474245" cy="5078313"/>
          </a:xfrm>
          <a:prstGeom prst="rect">
            <a:avLst/>
          </a:prstGeom>
          <a:noFill/>
        </p:spPr>
        <p:txBody>
          <a:bodyPr wrap="square">
            <a:spAutoFit/>
          </a:bodyPr>
          <a:lstStyle/>
          <a:p>
            <a:pPr>
              <a:buNone/>
            </a:pPr>
            <a:r>
              <a:rPr lang="en-IN" sz="1800" b="1" kern="100" dirty="0">
                <a:effectLst/>
                <a:latin typeface="Times New Roman" panose="02020603050405020304" pitchFamily="18" charset="0"/>
                <a:ea typeface="Aptos" panose="020B0004020202020204" pitchFamily="34" charset="0"/>
              </a:rPr>
              <a:t>(b) Apache HBase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HBase is a distributed NoSQL database built on top of HDFS. It is designed for real-time read and write operations.</a:t>
            </a:r>
          </a:p>
          <a:p>
            <a:pPr>
              <a:buNone/>
            </a:pPr>
            <a:r>
              <a:rPr lang="en-IN" sz="1800" b="1" kern="100" dirty="0">
                <a:effectLst/>
                <a:latin typeface="Times New Roman" panose="02020603050405020304" pitchFamily="18" charset="0"/>
                <a:ea typeface="Aptos" panose="020B0004020202020204" pitchFamily="34" charset="0"/>
              </a:rPr>
              <a:t>Features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Column-oriented storage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Scales horizontally</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Ideal for sparse datasets</a:t>
            </a: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Facebook uses HBase to store and retrieve real-time messages and news feed data from millions of users.</a:t>
            </a:r>
          </a:p>
          <a:p>
            <a:pPr>
              <a:buNone/>
            </a:pPr>
            <a:endParaRPr lang="en-IN" kern="100" dirty="0">
              <a:latin typeface="Times New Roman" panose="02020603050405020304" pitchFamily="18" charset="0"/>
              <a:ea typeface="Aptos" panose="020B0004020202020204" pitchFamily="34" charset="0"/>
            </a:endParaRPr>
          </a:p>
          <a:p>
            <a:r>
              <a:rPr lang="en-IN" b="1" dirty="0"/>
              <a:t>(c) Impala</a:t>
            </a:r>
            <a:endParaRPr lang="en-IN" dirty="0"/>
          </a:p>
          <a:p>
            <a:r>
              <a:rPr lang="en-IN" dirty="0"/>
              <a:t>Impala is a massively parallel processing (MPP) engine that enables fast SQL queries directly on Hadoop data without converting queries into MapReduce operations.</a:t>
            </a:r>
          </a:p>
          <a:p>
            <a:r>
              <a:rPr lang="en-IN" b="1" dirty="0"/>
              <a:t>Benefits</a:t>
            </a:r>
            <a:endParaRPr lang="en-IN" dirty="0"/>
          </a:p>
          <a:p>
            <a:pPr lvl="0"/>
            <a:r>
              <a:rPr lang="en-IN" dirty="0"/>
              <a:t>Extremely low query latency</a:t>
            </a:r>
          </a:p>
          <a:p>
            <a:pPr lvl="0"/>
            <a:r>
              <a:rPr lang="en-IN" dirty="0"/>
              <a:t>Suitable for BI tools</a:t>
            </a:r>
          </a:p>
          <a:p>
            <a:r>
              <a:rPr lang="en-IN" b="1" dirty="0"/>
              <a:t>Example:</a:t>
            </a:r>
            <a:endParaRPr lang="en-IN" dirty="0"/>
          </a:p>
          <a:p>
            <a:r>
              <a:rPr lang="en-IN" dirty="0"/>
              <a:t>Tableau dashboards use Impala to display real-time business metrics from Hadoop datasets.</a:t>
            </a:r>
          </a:p>
          <a:p>
            <a:pPr>
              <a:buNone/>
            </a:pPr>
            <a:endParaRPr lang="en-IN" sz="1800" kern="1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3517792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619D52-7D50-59ED-F406-C50993445C18}"/>
              </a:ext>
            </a:extLst>
          </p:cNvPr>
          <p:cNvSpPr txBox="1"/>
          <p:nvPr/>
        </p:nvSpPr>
        <p:spPr>
          <a:xfrm>
            <a:off x="304799" y="170650"/>
            <a:ext cx="11533239" cy="5632311"/>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6. Big Data Analytics &amp; Machine Learning Tools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b="1" kern="100" dirty="0">
                <a:effectLst/>
                <a:latin typeface="Times New Roman" panose="02020603050405020304" pitchFamily="18" charset="0"/>
                <a:ea typeface="Aptos" panose="020B0004020202020204" pitchFamily="34" charset="0"/>
              </a:rPr>
              <a:t>(a) Apache Mahout</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Mahout is a distributed machine learning library designed for scalable clustering, classification, and collaborative filtering.</a:t>
            </a:r>
          </a:p>
          <a:p>
            <a:pPr>
              <a:buNone/>
            </a:pPr>
            <a:r>
              <a:rPr lang="en-IN" sz="1800" b="1" kern="100" dirty="0">
                <a:effectLst/>
                <a:latin typeface="Times New Roman" panose="02020603050405020304" pitchFamily="18" charset="0"/>
                <a:ea typeface="Aptos" panose="020B0004020202020204" pitchFamily="34" charset="0"/>
              </a:rPr>
              <a:t>Use Cases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Recommendation engines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Customer segmentation</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Large-scale pattern detection</a:t>
            </a: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An online bookstore uses Mahout to recommend books to users based on their reading history.</a:t>
            </a:r>
          </a:p>
          <a:p>
            <a:pPr>
              <a:buNone/>
            </a:pPr>
            <a:endParaRPr lang="en-IN" kern="100" dirty="0">
              <a:latin typeface="Times New Roman" panose="02020603050405020304" pitchFamily="18" charset="0"/>
              <a:ea typeface="Aptos" panose="020B0004020202020204" pitchFamily="34" charset="0"/>
            </a:endParaRPr>
          </a:p>
          <a:p>
            <a:r>
              <a:rPr lang="en-IN" b="1" dirty="0"/>
              <a:t>(b) Spark </a:t>
            </a:r>
            <a:r>
              <a:rPr lang="en-IN" b="1" dirty="0" err="1"/>
              <a:t>MLlib</a:t>
            </a:r>
            <a:endParaRPr lang="en-IN" dirty="0"/>
          </a:p>
          <a:p>
            <a:r>
              <a:rPr lang="en-IN" dirty="0" err="1"/>
              <a:t>MLlib</a:t>
            </a:r>
            <a:r>
              <a:rPr lang="en-IN" dirty="0"/>
              <a:t> is a scalable machine learning library within Apache Spark. It offers tools for classification, clustering, regression, and model evaluation.</a:t>
            </a:r>
          </a:p>
          <a:p>
            <a:r>
              <a:rPr lang="en-IN" b="1" dirty="0"/>
              <a:t>Advantages</a:t>
            </a:r>
            <a:endParaRPr lang="en-IN" dirty="0"/>
          </a:p>
          <a:p>
            <a:pPr lvl="0"/>
            <a:r>
              <a:rPr lang="en-IN" dirty="0"/>
              <a:t>In-memory processing speeds up ML tasks</a:t>
            </a:r>
          </a:p>
          <a:p>
            <a:pPr lvl="0"/>
            <a:r>
              <a:rPr lang="en-IN" dirty="0"/>
              <a:t>Works well with other Spark modules</a:t>
            </a:r>
          </a:p>
          <a:p>
            <a:pPr lvl="0"/>
            <a:r>
              <a:rPr lang="en-IN" dirty="0"/>
              <a:t>Can train models on billions of data records</a:t>
            </a:r>
          </a:p>
          <a:p>
            <a:r>
              <a:rPr lang="en-IN" b="1" dirty="0"/>
              <a:t>Example:</a:t>
            </a:r>
            <a:endParaRPr lang="en-IN" dirty="0"/>
          </a:p>
          <a:p>
            <a:r>
              <a:rPr lang="en-IN" dirty="0"/>
              <a:t>Telecom companies use </a:t>
            </a:r>
            <a:r>
              <a:rPr lang="en-IN" dirty="0" err="1"/>
              <a:t>MLlib</a:t>
            </a:r>
            <a:r>
              <a:rPr lang="en-IN" dirty="0"/>
              <a:t> for predicting customer churn based on customer usage data.</a:t>
            </a:r>
          </a:p>
          <a:p>
            <a:pPr>
              <a:buNone/>
            </a:pPr>
            <a:endParaRPr lang="en-IN" sz="1800" kern="1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2004693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53D4A-E0D0-BCCA-D6DF-8FFB946A7103}"/>
              </a:ext>
            </a:extLst>
          </p:cNvPr>
          <p:cNvSpPr txBox="1"/>
          <p:nvPr/>
        </p:nvSpPr>
        <p:spPr>
          <a:xfrm>
            <a:off x="383458" y="261341"/>
            <a:ext cx="11425083" cy="5355312"/>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7. Cloud-Based Big Data Technologies</a:t>
            </a:r>
          </a:p>
          <a:p>
            <a:pPr>
              <a:buNone/>
            </a:pP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Modern organizations increasingly use cloud services for big data storage and processing to reduce infrastructure management costs.</a:t>
            </a:r>
          </a:p>
          <a:p>
            <a:pPr>
              <a:buNone/>
            </a:pPr>
            <a:r>
              <a:rPr lang="en-IN" sz="1800" b="1" kern="100" dirty="0">
                <a:effectLst/>
                <a:latin typeface="Times New Roman" panose="02020603050405020304" pitchFamily="18" charset="0"/>
                <a:ea typeface="Aptos" panose="020B0004020202020204" pitchFamily="34" charset="0"/>
              </a:rPr>
              <a:t>Amazon Web Services (AWS)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Amazon S3:</a:t>
            </a:r>
            <a:r>
              <a:rPr lang="en-IN" sz="1800" kern="100" dirty="0">
                <a:effectLst/>
                <a:latin typeface="Times New Roman" panose="02020603050405020304" pitchFamily="18" charset="0"/>
                <a:ea typeface="Aptos" panose="020B0004020202020204" pitchFamily="34" charset="0"/>
              </a:rPr>
              <a:t> Scalable object storage.</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Amazon EMR:</a:t>
            </a:r>
            <a:r>
              <a:rPr lang="en-IN" sz="1800" kern="100" dirty="0">
                <a:effectLst/>
                <a:latin typeface="Times New Roman" panose="02020603050405020304" pitchFamily="18" charset="0"/>
                <a:ea typeface="Aptos" panose="020B0004020202020204" pitchFamily="34" charset="0"/>
              </a:rPr>
              <a:t> Managed Hadoop and Spark clusters.</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Kinesis:</a:t>
            </a:r>
            <a:r>
              <a:rPr lang="en-IN" sz="1800" kern="100" dirty="0">
                <a:effectLst/>
                <a:latin typeface="Times New Roman" panose="02020603050405020304" pitchFamily="18" charset="0"/>
                <a:ea typeface="Aptos" panose="020B0004020202020204" pitchFamily="34" charset="0"/>
              </a:rPr>
              <a:t> Real-time data streaming platform.</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Redshift:</a:t>
            </a:r>
            <a:r>
              <a:rPr lang="en-IN" sz="1800" kern="100" dirty="0">
                <a:effectLst/>
                <a:latin typeface="Times New Roman" panose="02020603050405020304" pitchFamily="18" charset="0"/>
                <a:ea typeface="Aptos" panose="020B0004020202020204" pitchFamily="34" charset="0"/>
              </a:rPr>
              <a:t> Data warehousing service.</a:t>
            </a:r>
          </a:p>
          <a:p>
            <a:pPr>
              <a:buNone/>
            </a:pPr>
            <a:r>
              <a:rPr lang="en-IN" sz="1800" b="1" kern="100" dirty="0">
                <a:effectLst/>
                <a:latin typeface="Times New Roman" panose="02020603050405020304" pitchFamily="18" charset="0"/>
                <a:ea typeface="Aptos" panose="020B0004020202020204" pitchFamily="34" charset="0"/>
              </a:rPr>
              <a:t>Google Cloud Platform (GCP)</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b="1" kern="100" dirty="0" err="1">
                <a:effectLst/>
                <a:latin typeface="Times New Roman" panose="02020603050405020304" pitchFamily="18" charset="0"/>
                <a:ea typeface="Aptos" panose="020B0004020202020204" pitchFamily="34" charset="0"/>
              </a:rPr>
              <a:t>BigQuery</a:t>
            </a:r>
            <a:r>
              <a:rPr lang="en-IN" sz="1800" b="1" kern="100" dirty="0">
                <a:effectLst/>
                <a:latin typeface="Times New Roman" panose="02020603050405020304" pitchFamily="18" charset="0"/>
                <a:ea typeface="Aptos" panose="020B0004020202020204" pitchFamily="34" charset="0"/>
              </a:rPr>
              <a:t>:</a:t>
            </a:r>
            <a:r>
              <a:rPr lang="en-IN" sz="1800" kern="100" dirty="0">
                <a:effectLst/>
                <a:latin typeface="Times New Roman" panose="02020603050405020304" pitchFamily="18" charset="0"/>
                <a:ea typeface="Aptos" panose="020B0004020202020204" pitchFamily="34" charset="0"/>
              </a:rPr>
              <a:t> Fully managed serverless analytics engine.</a:t>
            </a:r>
          </a:p>
          <a:p>
            <a:pPr marL="342900" lvl="0" indent="-342900">
              <a:buSzPts val="1000"/>
              <a:buFont typeface="Symbol" panose="05050102010706020507" pitchFamily="18" charset="2"/>
              <a:buChar char=""/>
              <a:tabLst>
                <a:tab pos="457200" algn="l"/>
              </a:tabLst>
            </a:pPr>
            <a:r>
              <a:rPr lang="en-IN" sz="1800" b="1" kern="100" dirty="0" err="1">
                <a:effectLst/>
                <a:latin typeface="Times New Roman" panose="02020603050405020304" pitchFamily="18" charset="0"/>
                <a:ea typeface="Aptos" panose="020B0004020202020204" pitchFamily="34" charset="0"/>
              </a:rPr>
              <a:t>DataProc</a:t>
            </a:r>
            <a:r>
              <a:rPr lang="en-IN" sz="1800" b="1" kern="100" dirty="0">
                <a:effectLst/>
                <a:latin typeface="Times New Roman" panose="02020603050405020304" pitchFamily="18" charset="0"/>
                <a:ea typeface="Aptos" panose="020B0004020202020204" pitchFamily="34" charset="0"/>
              </a:rPr>
              <a:t>:</a:t>
            </a:r>
            <a:r>
              <a:rPr lang="en-IN" sz="1800" kern="100" dirty="0">
                <a:effectLst/>
                <a:latin typeface="Times New Roman" panose="02020603050405020304" pitchFamily="18" charset="0"/>
                <a:ea typeface="Aptos" panose="020B0004020202020204" pitchFamily="34" charset="0"/>
              </a:rPr>
              <a:t> Hadoop/Spark clusters.</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Pub/Sub:</a:t>
            </a:r>
            <a:r>
              <a:rPr lang="en-IN" sz="1800" kern="100" dirty="0">
                <a:effectLst/>
                <a:latin typeface="Times New Roman" panose="02020603050405020304" pitchFamily="18" charset="0"/>
                <a:ea typeface="Aptos" panose="020B0004020202020204" pitchFamily="34" charset="0"/>
              </a:rPr>
              <a:t> Event streaming system.</a:t>
            </a:r>
          </a:p>
          <a:p>
            <a:pPr>
              <a:buNone/>
            </a:pPr>
            <a:r>
              <a:rPr lang="en-IN" sz="1800" b="1" kern="100" dirty="0">
                <a:effectLst/>
                <a:latin typeface="Times New Roman" panose="02020603050405020304" pitchFamily="18" charset="0"/>
                <a:ea typeface="Aptos" panose="020B0004020202020204" pitchFamily="34" charset="0"/>
              </a:rPr>
              <a:t>Microsoft Azure</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HDInsight:</a:t>
            </a:r>
            <a:r>
              <a:rPr lang="en-IN" sz="1800" kern="100" dirty="0">
                <a:effectLst/>
                <a:latin typeface="Times New Roman" panose="02020603050405020304" pitchFamily="18" charset="0"/>
                <a:ea typeface="Aptos" panose="020B0004020202020204" pitchFamily="34" charset="0"/>
              </a:rPr>
              <a:t> Hadoop ecosystem-based service.</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Azure Data Lake:</a:t>
            </a:r>
            <a:r>
              <a:rPr lang="en-IN" sz="1800" kern="100" dirty="0">
                <a:effectLst/>
                <a:latin typeface="Times New Roman" panose="02020603050405020304" pitchFamily="18" charset="0"/>
                <a:ea typeface="Aptos" panose="020B0004020202020204" pitchFamily="34" charset="0"/>
              </a:rPr>
              <a:t> Storage for large datasets.</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Stream Analytics:</a:t>
            </a:r>
            <a:r>
              <a:rPr lang="en-IN" sz="1800" kern="100" dirty="0">
                <a:effectLst/>
                <a:latin typeface="Times New Roman" panose="02020603050405020304" pitchFamily="18" charset="0"/>
                <a:ea typeface="Aptos" panose="020B0004020202020204" pitchFamily="34" charset="0"/>
              </a:rPr>
              <a:t> Real-time stream processing.</a:t>
            </a: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multinational company uses </a:t>
            </a:r>
            <a:r>
              <a:rPr lang="en-IN" sz="1800" kern="100" dirty="0" err="1">
                <a:effectLst/>
                <a:latin typeface="Times New Roman" panose="02020603050405020304" pitchFamily="18" charset="0"/>
                <a:ea typeface="Aptos" panose="020B0004020202020204" pitchFamily="34" charset="0"/>
              </a:rPr>
              <a:t>BigQuery</a:t>
            </a:r>
            <a:r>
              <a:rPr lang="en-IN" sz="1800" kern="100" dirty="0">
                <a:effectLst/>
                <a:latin typeface="Times New Roman" panose="02020603050405020304" pitchFamily="18" charset="0"/>
                <a:ea typeface="Aptos" panose="020B0004020202020204" pitchFamily="34" charset="0"/>
              </a:rPr>
              <a:t> to </a:t>
            </a:r>
            <a:r>
              <a:rPr lang="en-IN" sz="1800" kern="100" dirty="0" err="1">
                <a:effectLst/>
                <a:latin typeface="Times New Roman" panose="02020603050405020304" pitchFamily="18" charset="0"/>
                <a:ea typeface="Aptos" panose="020B0004020202020204" pitchFamily="34" charset="0"/>
              </a:rPr>
              <a:t>analyze</a:t>
            </a:r>
            <a:r>
              <a:rPr lang="en-IN" sz="1800" kern="100" dirty="0">
                <a:effectLst/>
                <a:latin typeface="Times New Roman" panose="02020603050405020304" pitchFamily="18" charset="0"/>
                <a:ea typeface="Aptos" panose="020B0004020202020204" pitchFamily="34" charset="0"/>
              </a:rPr>
              <a:t> global sales data across continents within seconds.</a:t>
            </a:r>
          </a:p>
        </p:txBody>
      </p:sp>
    </p:spTree>
    <p:extLst>
      <p:ext uri="{BB962C8B-B14F-4D97-AF65-F5344CB8AC3E}">
        <p14:creationId xmlns:p14="http://schemas.microsoft.com/office/powerpoint/2010/main" val="356763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F4BC08-2C8A-3267-7BB7-EBA5CEAA6E02}"/>
              </a:ext>
            </a:extLst>
          </p:cNvPr>
          <p:cNvSpPr txBox="1"/>
          <p:nvPr/>
        </p:nvSpPr>
        <p:spPr>
          <a:xfrm>
            <a:off x="432619" y="286941"/>
            <a:ext cx="11356258" cy="3693319"/>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8. Big Data Security &amp; Governance Technologies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Big Data environments need proper security because they handle sensitive information such as financial transactions, personal data, and confidential business documents.</a:t>
            </a:r>
          </a:p>
          <a:p>
            <a:pPr>
              <a:buNone/>
            </a:pPr>
            <a:r>
              <a:rPr lang="en-IN" sz="1800" b="1" kern="100" dirty="0">
                <a:effectLst/>
                <a:latin typeface="Times New Roman" panose="02020603050405020304" pitchFamily="18" charset="0"/>
                <a:ea typeface="Aptos" panose="020B0004020202020204" pitchFamily="34" charset="0"/>
              </a:rPr>
              <a:t>Key Security Measures</a:t>
            </a:r>
            <a:endParaRPr lang="en-IN" sz="1800" kern="100" dirty="0">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Kerberos:</a:t>
            </a:r>
            <a:r>
              <a:rPr lang="en-IN" sz="1800" kern="100" dirty="0">
                <a:effectLst/>
                <a:latin typeface="Times New Roman" panose="02020603050405020304" pitchFamily="18" charset="0"/>
                <a:ea typeface="Aptos" panose="020B0004020202020204" pitchFamily="34" charset="0"/>
              </a:rPr>
              <a:t> Authentication mechanism.</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Apache Ranger:</a:t>
            </a:r>
            <a:r>
              <a:rPr lang="en-IN" sz="1800" kern="100" dirty="0">
                <a:effectLst/>
                <a:latin typeface="Times New Roman" panose="02020603050405020304" pitchFamily="18" charset="0"/>
                <a:ea typeface="Aptos" panose="020B0004020202020204" pitchFamily="34" charset="0"/>
              </a:rPr>
              <a:t> Access control and policy management.</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Apache Sentry:</a:t>
            </a:r>
            <a:r>
              <a:rPr lang="en-IN" sz="1800" kern="100" dirty="0">
                <a:effectLst/>
                <a:latin typeface="Times New Roman" panose="02020603050405020304" pitchFamily="18" charset="0"/>
                <a:ea typeface="Aptos" panose="020B0004020202020204" pitchFamily="34" charset="0"/>
              </a:rPr>
              <a:t> Fine-grained authorization.</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Encryption:</a:t>
            </a:r>
            <a:r>
              <a:rPr lang="en-IN" sz="1800" kern="100" dirty="0">
                <a:effectLst/>
                <a:latin typeface="Times New Roman" panose="02020603050405020304" pitchFamily="18" charset="0"/>
                <a:ea typeface="Aptos" panose="020B0004020202020204" pitchFamily="34" charset="0"/>
              </a:rPr>
              <a:t> Protect data at rest and in transit.</a:t>
            </a:r>
          </a:p>
          <a:p>
            <a:pPr marL="342900" lvl="0" indent="-342900">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Aptos" panose="020B0004020202020204" pitchFamily="34" charset="0"/>
              </a:rPr>
              <a:t>Auditing:</a:t>
            </a:r>
            <a:r>
              <a:rPr lang="en-IN" sz="1800" kern="100" dirty="0">
                <a:effectLst/>
                <a:latin typeface="Times New Roman" panose="02020603050405020304" pitchFamily="18" charset="0"/>
                <a:ea typeface="Aptos" panose="020B0004020202020204" pitchFamily="34" charset="0"/>
              </a:rPr>
              <a:t> Tracks who accessed what data.</a:t>
            </a:r>
          </a:p>
          <a:p>
            <a:pPr>
              <a:buNone/>
            </a:pPr>
            <a:r>
              <a:rPr lang="en-IN" sz="1800" b="1" kern="100" dirty="0">
                <a:effectLst/>
                <a:latin typeface="Times New Roman" panose="02020603050405020304" pitchFamily="18" charset="0"/>
                <a:ea typeface="Aptos" panose="020B0004020202020204" pitchFamily="34" charset="0"/>
              </a:rPr>
              <a:t>Example:</a:t>
            </a:r>
            <a:endParaRPr lang="en-IN" sz="1800" kern="100" dirty="0">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Banks use encryption and policy-based access controls to secure customer banking transactions stored in Hadoop.</a:t>
            </a:r>
          </a:p>
          <a:p>
            <a:pPr>
              <a:buNone/>
            </a:pPr>
            <a:endParaRPr lang="en-IN" dirty="0">
              <a:latin typeface="Times New Roman" panose="02020603050405020304" pitchFamily="18" charset="0"/>
            </a:endParaRPr>
          </a:p>
          <a:p>
            <a:pPr>
              <a:buNone/>
            </a:pPr>
            <a:endParaRPr lang="en-IN" dirty="0">
              <a:latin typeface="Times New Roman" panose="02020603050405020304" pitchFamily="18" charset="0"/>
            </a:endParaRPr>
          </a:p>
        </p:txBody>
      </p:sp>
      <p:sp>
        <p:nvSpPr>
          <p:cNvPr id="4" name="TextBox 3">
            <a:extLst>
              <a:ext uri="{FF2B5EF4-FFF2-40B4-BE49-F238E27FC236}">
                <a16:creationId xmlns:a16="http://schemas.microsoft.com/office/drawing/2014/main" id="{F2FF74F1-2B71-6023-38F3-8F6382BC521C}"/>
              </a:ext>
            </a:extLst>
          </p:cNvPr>
          <p:cNvSpPr txBox="1"/>
          <p:nvPr/>
        </p:nvSpPr>
        <p:spPr>
          <a:xfrm>
            <a:off x="432619" y="3866053"/>
            <a:ext cx="11326762" cy="1477328"/>
          </a:xfrm>
          <a:prstGeom prst="rect">
            <a:avLst/>
          </a:prstGeom>
          <a:solidFill>
            <a:schemeClr val="accent1">
              <a:lumMod val="20000"/>
              <a:lumOff val="80000"/>
            </a:schemeClr>
          </a:solidFill>
          <a:ln>
            <a:solidFill>
              <a:schemeClr val="accent1"/>
            </a:solidFill>
          </a:ln>
        </p:spPr>
        <p:txBody>
          <a:bodyPr wrap="square">
            <a:spAutoFit/>
          </a:bodyPr>
          <a:lstStyle/>
          <a:p>
            <a:pPr>
              <a:buNone/>
            </a:pPr>
            <a:r>
              <a:rPr lang="en-IN" dirty="0"/>
              <a:t>Big Data Technology forms the backbone of modern data-driven applications. From data storage (HDFS, NoSQL) to distributed processing engines (Spark, Flink), to real-time streaming platforms (Kafka), and cloud-based solutions (AWS, Azure), these technologies work together to help organizations store, </a:t>
            </a:r>
            <a:r>
              <a:rPr lang="en-IN" dirty="0" err="1"/>
              <a:t>analyze</a:t>
            </a:r>
            <a:r>
              <a:rPr lang="en-IN" dirty="0"/>
              <a:t>, and extract insights from massive and complex datasets. With advancements in machine learning, AI, and cloud computing, big data technologies continue to evolve, enabling real-time decision-making and predictive analytics across industries.</a:t>
            </a:r>
          </a:p>
        </p:txBody>
      </p:sp>
    </p:spTree>
    <p:extLst>
      <p:ext uri="{BB962C8B-B14F-4D97-AF65-F5344CB8AC3E}">
        <p14:creationId xmlns:p14="http://schemas.microsoft.com/office/powerpoint/2010/main" val="3852218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CEFF8D-0086-556A-8B94-BC0BC951BA86}"/>
              </a:ext>
            </a:extLst>
          </p:cNvPr>
          <p:cNvSpPr txBox="1"/>
          <p:nvPr/>
        </p:nvSpPr>
        <p:spPr>
          <a:xfrm>
            <a:off x="491613" y="286941"/>
            <a:ext cx="11287432" cy="2308324"/>
          </a:xfrm>
          <a:prstGeom prst="rect">
            <a:avLst/>
          </a:prstGeom>
          <a:noFill/>
        </p:spPr>
        <p:txBody>
          <a:bodyPr wrap="square">
            <a:spAutoFit/>
          </a:bodyPr>
          <a:lstStyle/>
          <a:p>
            <a:pPr algn="just">
              <a:buNone/>
            </a:pPr>
            <a:r>
              <a:rPr lang="en-US" b="1" dirty="0">
                <a:solidFill>
                  <a:srgbClr val="FF0000"/>
                </a:solidFill>
              </a:rPr>
              <a:t>DATA SCIENCE USERS</a:t>
            </a:r>
          </a:p>
          <a:p>
            <a:pPr algn="just">
              <a:buNone/>
            </a:pPr>
            <a:endParaRPr lang="en-US" b="1" dirty="0"/>
          </a:p>
          <a:p>
            <a:pPr algn="just">
              <a:buNone/>
            </a:pPr>
            <a:r>
              <a:rPr lang="en-US" dirty="0"/>
              <a:t>Data Science users are the individuals or groups who interact with data science systems, tools, and outputs to derive insights, make decisions, build models, or support business strategies. These users belong to different professional backgrounds and have varying levels of technical expertise. Each user plays a crucial role in the data science lifecycle, from data collection and preparation to model deployment and decision-making. Understanding the roles of data science users helps organizations build effective data-driven teams and maximize the value of data science initiatives.</a:t>
            </a:r>
          </a:p>
        </p:txBody>
      </p:sp>
    </p:spTree>
    <p:extLst>
      <p:ext uri="{BB962C8B-B14F-4D97-AF65-F5344CB8AC3E}">
        <p14:creationId xmlns:p14="http://schemas.microsoft.com/office/powerpoint/2010/main" val="1890512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DAA2D4-CF8C-3C2F-1100-6651DDAAF8B9}"/>
              </a:ext>
            </a:extLst>
          </p:cNvPr>
          <p:cNvSpPr txBox="1"/>
          <p:nvPr/>
        </p:nvSpPr>
        <p:spPr>
          <a:xfrm>
            <a:off x="324465" y="419506"/>
            <a:ext cx="11366090" cy="4524315"/>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1. Data Scientist</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Scientist is the core user in the data science ecosystem. This role involves </a:t>
            </a:r>
            <a:r>
              <a:rPr lang="en-IN" sz="1800" kern="100" dirty="0" err="1">
                <a:effectLst/>
                <a:latin typeface="Times New Roman" panose="02020603050405020304" pitchFamily="18" charset="0"/>
                <a:ea typeface="Aptos" panose="020B0004020202020204" pitchFamily="34" charset="0"/>
              </a:rPr>
              <a:t>analyzing</a:t>
            </a:r>
            <a:r>
              <a:rPr lang="en-IN" sz="1800" kern="100" dirty="0">
                <a:effectLst/>
                <a:latin typeface="Times New Roman" panose="02020603050405020304" pitchFamily="18" charset="0"/>
                <a:ea typeface="Aptos" panose="020B0004020202020204" pitchFamily="34" charset="0"/>
              </a:rPr>
              <a:t> large and complex datasets to extract meaningful patterns, build predictive models, and generate actionable insights. Data scientists combine knowledge of statistics, mathematics, machine learning, programming, and domain expertise. They are responsible for data exploration, feature engineering, model selection, model training, validation, and interpretation of results.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Data cleaning and preprocessing</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Exploratory data analysis (EDA)</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Developing machine learning and statistical models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Evaluating model performance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Communicating insights to stakeholders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In an e-commerce company, a data scientist builds a recommendation system that suggests products to customers based on their browsing and purchase history.</a:t>
            </a:r>
          </a:p>
        </p:txBody>
      </p:sp>
    </p:spTree>
    <p:extLst>
      <p:ext uri="{BB962C8B-B14F-4D97-AF65-F5344CB8AC3E}">
        <p14:creationId xmlns:p14="http://schemas.microsoft.com/office/powerpoint/2010/main" val="3692062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F032C8-53D3-480C-87ED-DC9595B2BCA4}"/>
              </a:ext>
            </a:extLst>
          </p:cNvPr>
          <p:cNvSpPr txBox="1"/>
          <p:nvPr/>
        </p:nvSpPr>
        <p:spPr>
          <a:xfrm>
            <a:off x="412955" y="403232"/>
            <a:ext cx="11366090" cy="3693319"/>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2. Data Analyst</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Analyst focuses on </a:t>
            </a:r>
            <a:r>
              <a:rPr lang="en-IN" sz="1800" kern="100" dirty="0" err="1">
                <a:effectLst/>
                <a:latin typeface="Times New Roman" panose="02020603050405020304" pitchFamily="18" charset="0"/>
                <a:ea typeface="Aptos" panose="020B0004020202020204" pitchFamily="34" charset="0"/>
              </a:rPr>
              <a:t>analyzing</a:t>
            </a:r>
            <a:r>
              <a:rPr lang="en-IN" sz="1800" kern="100" dirty="0">
                <a:effectLst/>
                <a:latin typeface="Times New Roman" panose="02020603050405020304" pitchFamily="18" charset="0"/>
                <a:ea typeface="Aptos" panose="020B0004020202020204" pitchFamily="34" charset="0"/>
              </a:rPr>
              <a:t> structured data to identify trends, patterns, and business insights. Unlike data scientists, data analysts usually work with historical data and use descriptive and diagnostic analytics rather than predictive </a:t>
            </a:r>
            <a:r>
              <a:rPr lang="en-IN" sz="1800" kern="100" dirty="0" err="1">
                <a:effectLst/>
                <a:latin typeface="Times New Roman" panose="02020603050405020304" pitchFamily="18" charset="0"/>
                <a:ea typeface="Aptos" panose="020B0004020202020204" pitchFamily="34" charset="0"/>
              </a:rPr>
              <a:t>modeling</a:t>
            </a:r>
            <a:r>
              <a:rPr lang="en-IN" sz="1800" kern="100" dirty="0">
                <a:effectLst/>
                <a:latin typeface="Times New Roman" panose="02020603050405020304" pitchFamily="18" charset="0"/>
                <a:ea typeface="Aptos" panose="020B0004020202020204" pitchFamily="34" charset="0"/>
              </a:rPr>
              <a:t>. They frequently use tools like SQL, Excel, Power BI, and Tableau to create dashboards and reports.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Querying databases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Data visualization and reporting</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Identifying trends and anomalies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Supporting business decision-making</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retail data analyst </a:t>
            </a:r>
            <a:r>
              <a:rPr lang="en-IN" sz="1800" kern="100" dirty="0" err="1">
                <a:effectLst/>
                <a:latin typeface="Times New Roman" panose="02020603050405020304" pitchFamily="18" charset="0"/>
                <a:ea typeface="Aptos" panose="020B0004020202020204" pitchFamily="34" charset="0"/>
              </a:rPr>
              <a:t>analyzes</a:t>
            </a:r>
            <a:r>
              <a:rPr lang="en-IN" sz="1800" kern="100" dirty="0">
                <a:effectLst/>
                <a:latin typeface="Times New Roman" panose="02020603050405020304" pitchFamily="18" charset="0"/>
                <a:ea typeface="Aptos" panose="020B0004020202020204" pitchFamily="34" charset="0"/>
              </a:rPr>
              <a:t> monthly sales data to determine which products perform well during festival seasons.</a:t>
            </a:r>
          </a:p>
        </p:txBody>
      </p:sp>
    </p:spTree>
    <p:extLst>
      <p:ext uri="{BB962C8B-B14F-4D97-AF65-F5344CB8AC3E}">
        <p14:creationId xmlns:p14="http://schemas.microsoft.com/office/powerpoint/2010/main" val="1727671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B54D49-07F0-42ED-CDCB-37BD4AA487FC}"/>
              </a:ext>
            </a:extLst>
          </p:cNvPr>
          <p:cNvSpPr txBox="1"/>
          <p:nvPr/>
        </p:nvSpPr>
        <p:spPr>
          <a:xfrm>
            <a:off x="481781" y="304909"/>
            <a:ext cx="11130116" cy="3970318"/>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3. Data Engineer</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Engineer is responsible for building and maintaining the infrastructure required for data generation, storage, and processing. They ensure that data pipelines are scalable, reliable, and efficient. Data engineers work closely with data scientists to provide clean and well-structured data.</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Designing data pipelines (ETL/ELT)</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Managing big data platforms (Hadoop, Spark)</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Optimizing data storage and retrieval</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Ensuring data quality and reliability</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In a telecom company, a data engineer designs a pipeline that collects call detail records from millions of users every day and stores them in a data lake.</a:t>
            </a:r>
          </a:p>
        </p:txBody>
      </p:sp>
    </p:spTree>
    <p:extLst>
      <p:ext uri="{BB962C8B-B14F-4D97-AF65-F5344CB8AC3E}">
        <p14:creationId xmlns:p14="http://schemas.microsoft.com/office/powerpoint/2010/main" val="1639930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FBE4C2-83CC-2B55-C418-DDA1E3B94241}"/>
              </a:ext>
            </a:extLst>
          </p:cNvPr>
          <p:cNvSpPr txBox="1"/>
          <p:nvPr/>
        </p:nvSpPr>
        <p:spPr>
          <a:xfrm>
            <a:off x="550605" y="403232"/>
            <a:ext cx="11061291" cy="3970318"/>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4. Machine Learning Engineer</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Machine Learning Engineer bridges the gap between data science and software engineering. Their primary role is to deploy, monitor, and scale machine learning models in production environments. They focus on model performance, scalability, and reliability.</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Deploying ML models into production</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Monitoring model performance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Automating model training pipelines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Optimizing algorithms for scalability</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machine learning engineer deploys a real-time fraud detection model that evaluates thousands of credit card transactions per second.</a:t>
            </a:r>
          </a:p>
        </p:txBody>
      </p:sp>
    </p:spTree>
    <p:extLst>
      <p:ext uri="{BB962C8B-B14F-4D97-AF65-F5344CB8AC3E}">
        <p14:creationId xmlns:p14="http://schemas.microsoft.com/office/powerpoint/2010/main" val="3877563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816AD0-06F6-1D9E-3523-32BC8B8F6996}"/>
              </a:ext>
            </a:extLst>
          </p:cNvPr>
          <p:cNvSpPr txBox="1"/>
          <p:nvPr/>
        </p:nvSpPr>
        <p:spPr>
          <a:xfrm>
            <a:off x="501444" y="395096"/>
            <a:ext cx="11071123" cy="3416320"/>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5. Business Analyst / Domain Expert</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Business analysts or domain experts provide contextual understanding of the business problem. They translate business requirements into data science problems and help interpret analytical results in a business-friendly manner.</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Defining business objectives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Providing domain knowledge</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Validating insights and models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Recommending business actions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In healthcare analytics, a domain expert helps interpret patient risk prediction models to improve treatment plans.</a:t>
            </a:r>
            <a:endParaRPr lang="en-IN" dirty="0"/>
          </a:p>
        </p:txBody>
      </p:sp>
    </p:spTree>
    <p:extLst>
      <p:ext uri="{BB962C8B-B14F-4D97-AF65-F5344CB8AC3E}">
        <p14:creationId xmlns:p14="http://schemas.microsoft.com/office/powerpoint/2010/main" val="1992967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7AD4BA-5508-7C3A-EA3A-BD208CC04EED}"/>
              </a:ext>
            </a:extLst>
          </p:cNvPr>
          <p:cNvSpPr txBox="1"/>
          <p:nvPr/>
        </p:nvSpPr>
        <p:spPr>
          <a:xfrm>
            <a:off x="501445" y="376279"/>
            <a:ext cx="11208774" cy="3416320"/>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6. Data Architect</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Architect designs the overall data framework of an organization. They define how data is collected, stored, integrated, and accessed across systems.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Designing data models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Defining data standards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Selecting storage technologies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Ensuring data security and compliance</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architect designs a cloud-based data lake to store customer data collected from multiple platforms.</a:t>
            </a:r>
          </a:p>
        </p:txBody>
      </p:sp>
    </p:spTree>
    <p:extLst>
      <p:ext uri="{BB962C8B-B14F-4D97-AF65-F5344CB8AC3E}">
        <p14:creationId xmlns:p14="http://schemas.microsoft.com/office/powerpoint/2010/main" val="1028234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504744-CEC3-6FBB-1FA2-EF31A169E1BB}"/>
              </a:ext>
            </a:extLst>
          </p:cNvPr>
          <p:cNvSpPr txBox="1"/>
          <p:nvPr/>
        </p:nvSpPr>
        <p:spPr>
          <a:xfrm>
            <a:off x="471948" y="523762"/>
            <a:ext cx="11130117" cy="3416320"/>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7. Data Steward</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Data Steward ensures data governance, quality, and compliance. They focus on data accuracy, consistency, and regulatory standards.</a:t>
            </a:r>
          </a:p>
          <a:p>
            <a:pPr>
              <a:buNone/>
            </a:pPr>
            <a:endParaRPr lang="en-IN" sz="1800" b="1" kern="100" dirty="0">
              <a:solidFill>
                <a:srgbClr val="FF0000"/>
              </a:solidFill>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Managing data policies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Ensuring data quality</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Maintaining metadata</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Supporting compliance (GDPR, HIPAA)</a:t>
            </a:r>
          </a:p>
          <a:p>
            <a:pPr>
              <a:buNone/>
            </a:pPr>
            <a:endParaRPr lang="en-IN" sz="1800" b="1" kern="100" dirty="0">
              <a:solidFill>
                <a:srgbClr val="FF0000"/>
              </a:solidFill>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banking data steward ensures customer financial data complies with regulatory requirements.</a:t>
            </a:r>
          </a:p>
        </p:txBody>
      </p:sp>
    </p:spTree>
    <p:extLst>
      <p:ext uri="{BB962C8B-B14F-4D97-AF65-F5344CB8AC3E}">
        <p14:creationId xmlns:p14="http://schemas.microsoft.com/office/powerpoint/2010/main" val="1148015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8CFFF1-697D-8B77-9A16-77C885F6F54D}"/>
              </a:ext>
            </a:extLst>
          </p:cNvPr>
          <p:cNvSpPr txBox="1"/>
          <p:nvPr/>
        </p:nvSpPr>
        <p:spPr>
          <a:xfrm>
            <a:off x="516193" y="197346"/>
            <a:ext cx="11159613" cy="6463308"/>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8. Decision Makers / Managers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Managers and executives are data science users who consume analytical outputs rather than performing analysis. They use dashboards, reports, and predictive insights to make strategic decisions.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Reviewing data-driven insights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Making strategic decisions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Setting data-driven goals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A CEO uses sales forecasts to decide expansion strategies for the next financial year.</a:t>
            </a:r>
          </a:p>
          <a:p>
            <a:pPr>
              <a:buNone/>
            </a:pPr>
            <a:endParaRPr lang="en-IN" kern="100" dirty="0">
              <a:latin typeface="Times New Roman" panose="02020603050405020304" pitchFamily="18" charset="0"/>
              <a:ea typeface="Aptos" panose="020B0004020202020204" pitchFamily="34" charset="0"/>
            </a:endParaRPr>
          </a:p>
          <a:p>
            <a:r>
              <a:rPr lang="en-IN" b="1" dirty="0">
                <a:solidFill>
                  <a:srgbClr val="FF0000"/>
                </a:solidFill>
              </a:rPr>
              <a:t>9. End Users / Consumers</a:t>
            </a:r>
            <a:endParaRPr lang="en-IN" dirty="0">
              <a:solidFill>
                <a:srgbClr val="FF0000"/>
              </a:solidFill>
            </a:endParaRPr>
          </a:p>
          <a:p>
            <a:r>
              <a:rPr lang="en-IN" dirty="0"/>
              <a:t>End users interact indirectly with data science outputs through applications and services. They may not be aware that data science is working behind the scenes.</a:t>
            </a:r>
          </a:p>
          <a:p>
            <a:endParaRPr lang="en-IN" b="1" dirty="0">
              <a:solidFill>
                <a:srgbClr val="FF0000"/>
              </a:solidFill>
            </a:endParaRPr>
          </a:p>
          <a:p>
            <a:r>
              <a:rPr lang="en-IN" b="1" dirty="0">
                <a:solidFill>
                  <a:srgbClr val="FF0000"/>
                </a:solidFill>
              </a:rPr>
              <a:t>Responsibilities</a:t>
            </a:r>
            <a:endParaRPr lang="en-IN" dirty="0">
              <a:solidFill>
                <a:srgbClr val="FF0000"/>
              </a:solidFill>
            </a:endParaRPr>
          </a:p>
          <a:p>
            <a:pPr lvl="0"/>
            <a:r>
              <a:rPr lang="en-IN" dirty="0"/>
              <a:t>Providing data through interactions</a:t>
            </a:r>
          </a:p>
          <a:p>
            <a:pPr lvl="0"/>
            <a:r>
              <a:rPr lang="en-IN" dirty="0"/>
              <a:t>Benefiting from personalized services</a:t>
            </a:r>
          </a:p>
          <a:p>
            <a:endParaRPr lang="en-IN" b="1" dirty="0">
              <a:solidFill>
                <a:srgbClr val="FF0000"/>
              </a:solidFill>
            </a:endParaRPr>
          </a:p>
          <a:p>
            <a:r>
              <a:rPr lang="en-IN" b="1" dirty="0">
                <a:solidFill>
                  <a:srgbClr val="FF0000"/>
                </a:solidFill>
              </a:rPr>
              <a:t>Example</a:t>
            </a:r>
            <a:endParaRPr lang="en-IN" dirty="0">
              <a:solidFill>
                <a:srgbClr val="FF0000"/>
              </a:solidFill>
            </a:endParaRPr>
          </a:p>
          <a:p>
            <a:r>
              <a:rPr lang="en-IN" dirty="0"/>
              <a:t>Netflix users receive personalized movie recommendations based on data science algorithms.</a:t>
            </a:r>
          </a:p>
          <a:p>
            <a:pPr>
              <a:buNone/>
            </a:pPr>
            <a:endParaRPr lang="en-IN" sz="1800" kern="1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622938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D14345-1BC0-667A-D220-A848BAA5D44F}"/>
              </a:ext>
            </a:extLst>
          </p:cNvPr>
          <p:cNvSpPr txBox="1"/>
          <p:nvPr/>
        </p:nvSpPr>
        <p:spPr>
          <a:xfrm>
            <a:off x="452284" y="200146"/>
            <a:ext cx="11267768" cy="3139321"/>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10. Researchers and Academicians</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Researchers use data science tools for experimentation, hypothesis testing, and innovation. They focus on developing new algorithms, models, and techniques.</a:t>
            </a:r>
          </a:p>
          <a:p>
            <a:pPr>
              <a:buNone/>
            </a:pPr>
            <a:endParaRPr lang="en-IN" sz="1800" b="1" kern="100" dirty="0">
              <a:effectLst/>
              <a:latin typeface="Times New Roman" panose="02020603050405020304" pitchFamily="18" charset="0"/>
              <a:ea typeface="Aptos" panose="020B0004020202020204" pitchFamily="34" charset="0"/>
            </a:endParaRPr>
          </a:p>
          <a:p>
            <a:pPr>
              <a:buNone/>
            </a:pPr>
            <a:r>
              <a:rPr lang="en-IN" sz="1800" b="1" kern="100" dirty="0">
                <a:solidFill>
                  <a:srgbClr val="FF0000"/>
                </a:solidFill>
                <a:effectLst/>
                <a:latin typeface="Times New Roman" panose="02020603050405020304" pitchFamily="18" charset="0"/>
                <a:ea typeface="Aptos" panose="020B0004020202020204" pitchFamily="34" charset="0"/>
              </a:rPr>
              <a:t>Responsibilities</a:t>
            </a:r>
            <a:endParaRPr lang="en-IN" sz="1800" kern="100" dirty="0">
              <a:solidFill>
                <a:srgbClr val="FF0000"/>
              </a:solidFill>
              <a:effectLst/>
              <a:latin typeface="Times New Roman" panose="02020603050405020304" pitchFamily="18" charset="0"/>
              <a:ea typeface="Aptos" panose="020B0004020202020204" pitchFamily="34" charset="0"/>
            </a:endParaRP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Conducting data-driven research</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Publishing findings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Improving data science methods</a:t>
            </a:r>
          </a:p>
          <a:p>
            <a:pPr>
              <a:buNone/>
            </a:pPr>
            <a:br>
              <a:rPr lang="en-IN" sz="1800" b="1" kern="100" dirty="0">
                <a:effectLst/>
                <a:latin typeface="Times New Roman" panose="02020603050405020304" pitchFamily="18" charset="0"/>
                <a:ea typeface="Aptos" panose="020B0004020202020204" pitchFamily="34" charset="0"/>
              </a:rPr>
            </a:br>
            <a:r>
              <a:rPr lang="en-IN" sz="1800" b="1" kern="100" dirty="0">
                <a:solidFill>
                  <a:srgbClr val="FF0000"/>
                </a:solidFill>
                <a:effectLst/>
                <a:latin typeface="Times New Roman" panose="02020603050405020304" pitchFamily="18" charset="0"/>
                <a:ea typeface="Aptos" panose="020B0004020202020204" pitchFamily="34" charset="0"/>
              </a:rPr>
              <a:t>Example</a:t>
            </a:r>
            <a:endParaRPr lang="en-IN" sz="1800" kern="100" dirty="0">
              <a:solidFill>
                <a:srgbClr val="FF0000"/>
              </a:solidFill>
              <a:effectLst/>
              <a:latin typeface="Times New Roman" panose="02020603050405020304" pitchFamily="18" charset="0"/>
              <a:ea typeface="Aptos" panose="020B0004020202020204" pitchFamily="34" charset="0"/>
            </a:endParaRPr>
          </a:p>
          <a:p>
            <a:pPr>
              <a:buNone/>
            </a:pPr>
            <a:r>
              <a:rPr lang="en-IN" sz="1800" dirty="0">
                <a:effectLst/>
                <a:latin typeface="Times New Roman" panose="02020603050405020304" pitchFamily="18" charset="0"/>
                <a:ea typeface="Aptos" panose="020B0004020202020204" pitchFamily="34" charset="0"/>
              </a:rPr>
              <a:t>University researchers </a:t>
            </a:r>
            <a:r>
              <a:rPr lang="en-IN" sz="1800" dirty="0" err="1">
                <a:effectLst/>
                <a:latin typeface="Times New Roman" panose="02020603050405020304" pitchFamily="18" charset="0"/>
                <a:ea typeface="Aptos" panose="020B0004020202020204" pitchFamily="34" charset="0"/>
              </a:rPr>
              <a:t>analyze</a:t>
            </a:r>
            <a:r>
              <a:rPr lang="en-IN" sz="1800" dirty="0">
                <a:effectLst/>
                <a:latin typeface="Times New Roman" panose="02020603050405020304" pitchFamily="18" charset="0"/>
                <a:ea typeface="Aptos" panose="020B0004020202020204" pitchFamily="34" charset="0"/>
              </a:rPr>
              <a:t> climate data to study global warming trends.</a:t>
            </a:r>
            <a:endParaRPr lang="en-IN" dirty="0"/>
          </a:p>
        </p:txBody>
      </p:sp>
      <p:sp>
        <p:nvSpPr>
          <p:cNvPr id="5" name="TextBox 4">
            <a:extLst>
              <a:ext uri="{FF2B5EF4-FFF2-40B4-BE49-F238E27FC236}">
                <a16:creationId xmlns:a16="http://schemas.microsoft.com/office/drawing/2014/main" id="{2BA96237-55B2-EEA4-9CD8-81B805879967}"/>
              </a:ext>
            </a:extLst>
          </p:cNvPr>
          <p:cNvSpPr txBox="1"/>
          <p:nvPr/>
        </p:nvSpPr>
        <p:spPr>
          <a:xfrm>
            <a:off x="462116" y="4135593"/>
            <a:ext cx="11267768" cy="1200329"/>
          </a:xfrm>
          <a:prstGeom prst="rect">
            <a:avLst/>
          </a:prstGeom>
          <a:solidFill>
            <a:schemeClr val="accent4">
              <a:lumMod val="20000"/>
              <a:lumOff val="80000"/>
            </a:schemeClr>
          </a:solidFill>
          <a:ln>
            <a:solidFill>
              <a:schemeClr val="accent1"/>
            </a:solidFill>
          </a:ln>
        </p:spPr>
        <p:txBody>
          <a:bodyPr wrap="square">
            <a:spAutoFit/>
          </a:bodyPr>
          <a:lstStyle/>
          <a:p>
            <a:pPr>
              <a:buNone/>
            </a:pPr>
            <a:r>
              <a:rPr lang="en-IN" sz="1800" kern="100" dirty="0">
                <a:effectLst/>
                <a:latin typeface="Times New Roman" panose="02020603050405020304" pitchFamily="18" charset="0"/>
                <a:ea typeface="Aptos" panose="020B0004020202020204" pitchFamily="34" charset="0"/>
              </a:rPr>
              <a:t>Data science users form a diverse ecosystem of professionals who collaborate to turn raw data into valuable insights. From data engineers who build pipelines to data scientists who create models, and managers who make decisions, each user plays a vital role. Effective collaboration among these users ensures successful implementation of data science solutions and helps organizations gain competitive advantages through data-driven decision-making.</a:t>
            </a:r>
          </a:p>
        </p:txBody>
      </p:sp>
    </p:spTree>
    <p:extLst>
      <p:ext uri="{BB962C8B-B14F-4D97-AF65-F5344CB8AC3E}">
        <p14:creationId xmlns:p14="http://schemas.microsoft.com/office/powerpoint/2010/main" val="14050996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318843-6133-3622-0F4C-A5F844E4E435}"/>
              </a:ext>
            </a:extLst>
          </p:cNvPr>
          <p:cNvSpPr txBox="1"/>
          <p:nvPr/>
        </p:nvSpPr>
        <p:spPr>
          <a:xfrm>
            <a:off x="516194" y="58846"/>
            <a:ext cx="11159612" cy="6740307"/>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DATA SCIENCE USE CASES</a:t>
            </a:r>
          </a:p>
          <a:p>
            <a:pPr>
              <a:buNone/>
            </a:pPr>
            <a:endParaRPr lang="en-IN" sz="1800" kern="100" dirty="0">
              <a:effectLst/>
              <a:latin typeface="Times New Roman" panose="02020603050405020304" pitchFamily="18" charset="0"/>
              <a:ea typeface="Aptos" panose="020B0004020202020204" pitchFamily="34" charset="0"/>
            </a:endParaRPr>
          </a:p>
          <a:p>
            <a:pPr>
              <a:buNone/>
            </a:pPr>
            <a:r>
              <a:rPr lang="en-IN" sz="1800" kern="100" dirty="0">
                <a:effectLst/>
                <a:latin typeface="Times New Roman" panose="02020603050405020304" pitchFamily="18" charset="0"/>
                <a:ea typeface="Aptos" panose="020B0004020202020204" pitchFamily="34" charset="0"/>
              </a:rPr>
              <a:t>Data Science use cases describe practical, real-world applications where data science techniques are applied to solve business, scientific, or social problems. A use case typically involves collecting data, cleaning and processing it, applying statistical or machine learning models, and using the results to support decision-making. Data science use cases exist across almost every industry, including healthcare, finance, retail, manufacturing, education, transportation, and government. These use cases help organizations improve efficiency, reduce costs, increase revenue, and enhance customer satisfaction.</a:t>
            </a:r>
          </a:p>
          <a:p>
            <a:pPr>
              <a:buNone/>
            </a:pPr>
            <a:endParaRPr lang="en-IN" kern="100" dirty="0">
              <a:latin typeface="Times New Roman" panose="02020603050405020304" pitchFamily="18" charset="0"/>
              <a:ea typeface="Aptos" panose="020B0004020202020204" pitchFamily="34" charset="0"/>
            </a:endParaRPr>
          </a:p>
          <a:p>
            <a:r>
              <a:rPr lang="en-IN" b="1" dirty="0">
                <a:solidFill>
                  <a:srgbClr val="FF0000"/>
                </a:solidFill>
              </a:rPr>
              <a:t>1. Healthcare and Medical Analytics</a:t>
            </a:r>
          </a:p>
          <a:p>
            <a:r>
              <a:rPr lang="en-IN" dirty="0"/>
              <a:t>In healthcare, data science plays a critical role in improving patient outcomes and operational efficiency. Medical data such as electronic health records (EHRs), lab results, medical images, and wearable device data are </a:t>
            </a:r>
            <a:r>
              <a:rPr lang="en-IN" dirty="0" err="1"/>
              <a:t>analyzed</a:t>
            </a:r>
            <a:r>
              <a:rPr lang="en-IN" dirty="0"/>
              <a:t> to identify disease patterns, predict health risks, and personalize treatments.</a:t>
            </a:r>
          </a:p>
          <a:p>
            <a:endParaRPr lang="en-IN" dirty="0"/>
          </a:p>
          <a:p>
            <a:r>
              <a:rPr lang="en-IN" b="1" dirty="0">
                <a:solidFill>
                  <a:srgbClr val="FF0000"/>
                </a:solidFill>
              </a:rPr>
              <a:t>Applications</a:t>
            </a:r>
          </a:p>
          <a:p>
            <a:pPr lvl="0"/>
            <a:r>
              <a:rPr lang="en-IN" dirty="0"/>
              <a:t>Disease prediction and early diagnosis</a:t>
            </a:r>
          </a:p>
          <a:p>
            <a:pPr lvl="0"/>
            <a:r>
              <a:rPr lang="en-IN" dirty="0"/>
              <a:t>Personalized medicine</a:t>
            </a:r>
          </a:p>
          <a:p>
            <a:pPr lvl="0"/>
            <a:r>
              <a:rPr lang="en-IN" dirty="0"/>
              <a:t>Medical image analysis</a:t>
            </a:r>
          </a:p>
          <a:p>
            <a:pPr lvl="0"/>
            <a:r>
              <a:rPr lang="en-IN" dirty="0"/>
              <a:t>Hospital resource optimization</a:t>
            </a:r>
          </a:p>
          <a:p>
            <a:endParaRPr lang="en-IN" dirty="0"/>
          </a:p>
          <a:p>
            <a:r>
              <a:rPr lang="en-IN" b="1" dirty="0">
                <a:solidFill>
                  <a:srgbClr val="FF0000"/>
                </a:solidFill>
              </a:rPr>
              <a:t>Example</a:t>
            </a:r>
          </a:p>
          <a:p>
            <a:r>
              <a:rPr lang="en-IN" dirty="0"/>
              <a:t>A hospital uses machine learning models to predict the risk of heart disease based on patient age, lifestyle, and medical history, enabling early intervention and preventive care.</a:t>
            </a:r>
          </a:p>
          <a:p>
            <a:pPr>
              <a:buNone/>
            </a:pPr>
            <a:endParaRPr lang="en-IN" sz="1800" kern="1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1603735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4BA305-649C-6CC1-E722-4821400F47A5}"/>
              </a:ext>
            </a:extLst>
          </p:cNvPr>
          <p:cNvSpPr txBox="1"/>
          <p:nvPr/>
        </p:nvSpPr>
        <p:spPr>
          <a:xfrm>
            <a:off x="290052" y="58846"/>
            <a:ext cx="11611896" cy="6740307"/>
          </a:xfrm>
          <a:prstGeom prst="rect">
            <a:avLst/>
          </a:prstGeom>
          <a:noFill/>
        </p:spPr>
        <p:txBody>
          <a:bodyPr wrap="square">
            <a:spAutoFit/>
          </a:bodyPr>
          <a:lstStyle/>
          <a:p>
            <a:pPr>
              <a:buNone/>
            </a:pPr>
            <a:r>
              <a:rPr lang="en-IN" sz="1800" b="1" kern="100" dirty="0">
                <a:solidFill>
                  <a:srgbClr val="FF0000"/>
                </a:solidFill>
                <a:effectLst/>
                <a:latin typeface="Times New Roman" panose="02020603050405020304" pitchFamily="18" charset="0"/>
                <a:ea typeface="Aptos" panose="020B0004020202020204" pitchFamily="34" charset="0"/>
              </a:rPr>
              <a:t>2. Finance and Banking</a:t>
            </a:r>
          </a:p>
          <a:p>
            <a:pPr>
              <a:buNone/>
            </a:pPr>
            <a:r>
              <a:rPr lang="en-IN" sz="1800" kern="100" dirty="0">
                <a:effectLst/>
                <a:latin typeface="Times New Roman" panose="02020603050405020304" pitchFamily="18" charset="0"/>
                <a:ea typeface="Aptos" panose="020B0004020202020204" pitchFamily="34" charset="0"/>
              </a:rPr>
              <a:t>Financial institutions use data science to </a:t>
            </a:r>
            <a:r>
              <a:rPr lang="en-IN" sz="1800" kern="100" dirty="0" err="1">
                <a:effectLst/>
                <a:latin typeface="Times New Roman" panose="02020603050405020304" pitchFamily="18" charset="0"/>
                <a:ea typeface="Aptos" panose="020B0004020202020204" pitchFamily="34" charset="0"/>
              </a:rPr>
              <a:t>analyze</a:t>
            </a:r>
            <a:r>
              <a:rPr lang="en-IN" sz="1800" kern="100" dirty="0">
                <a:effectLst/>
                <a:latin typeface="Times New Roman" panose="02020603050405020304" pitchFamily="18" charset="0"/>
                <a:ea typeface="Aptos" panose="020B0004020202020204" pitchFamily="34" charset="0"/>
              </a:rPr>
              <a:t> large volumes of transaction data, customer </a:t>
            </a:r>
            <a:r>
              <a:rPr lang="en-IN" sz="1800" kern="100" dirty="0" err="1">
                <a:effectLst/>
                <a:latin typeface="Times New Roman" panose="02020603050405020304" pitchFamily="18" charset="0"/>
                <a:ea typeface="Aptos" panose="020B0004020202020204" pitchFamily="34" charset="0"/>
              </a:rPr>
              <a:t>behavior</a:t>
            </a:r>
            <a:r>
              <a:rPr lang="en-IN" sz="1800" kern="100" dirty="0">
                <a:effectLst/>
                <a:latin typeface="Times New Roman" panose="02020603050405020304" pitchFamily="18" charset="0"/>
                <a:ea typeface="Aptos" panose="020B0004020202020204" pitchFamily="34" charset="0"/>
              </a:rPr>
              <a:t>, and market trends. These insights help detect fraud, manage risks, and improve customer services.</a:t>
            </a:r>
          </a:p>
          <a:p>
            <a:pPr>
              <a:buNone/>
            </a:pPr>
            <a:r>
              <a:rPr lang="en-IN" sz="1800" b="1" kern="100" dirty="0">
                <a:solidFill>
                  <a:srgbClr val="FF0000"/>
                </a:solidFill>
                <a:effectLst/>
                <a:latin typeface="Times New Roman" panose="02020603050405020304" pitchFamily="18" charset="0"/>
                <a:ea typeface="Aptos" panose="020B0004020202020204" pitchFamily="34"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Fraud detection</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Credit risk assessment</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Algorithmic trading</a:t>
            </a:r>
          </a:p>
          <a:p>
            <a:pPr marL="342900" lvl="0" indent="-342900">
              <a:buSzPts val="1000"/>
              <a:buFont typeface="Symbol" panose="05050102010706020507" pitchFamily="18" charset="2"/>
              <a:buChar char=""/>
              <a:tabLst>
                <a:tab pos="457200" algn="l"/>
              </a:tabLst>
            </a:pPr>
            <a:r>
              <a:rPr lang="en-IN" sz="1800" kern="100" dirty="0">
                <a:effectLst/>
                <a:latin typeface="Times New Roman" panose="02020603050405020304" pitchFamily="18" charset="0"/>
                <a:ea typeface="Aptos" panose="020B0004020202020204" pitchFamily="34" charset="0"/>
              </a:rPr>
              <a:t>Customer segmentation</a:t>
            </a:r>
          </a:p>
          <a:p>
            <a:pPr>
              <a:buNone/>
            </a:pPr>
            <a:r>
              <a:rPr lang="en-IN" sz="1800" b="1" kern="100" dirty="0">
                <a:solidFill>
                  <a:srgbClr val="FF0000"/>
                </a:solidFill>
                <a:effectLst/>
                <a:latin typeface="Times New Roman" panose="02020603050405020304" pitchFamily="18" charset="0"/>
                <a:ea typeface="Aptos" panose="020B0004020202020204" pitchFamily="34" charset="0"/>
              </a:rPr>
              <a:t>Example</a:t>
            </a:r>
          </a:p>
          <a:p>
            <a:pPr>
              <a:buNone/>
            </a:pPr>
            <a:r>
              <a:rPr lang="en-IN" sz="1800" kern="100" dirty="0">
                <a:effectLst/>
                <a:latin typeface="Times New Roman" panose="02020603050405020304" pitchFamily="18" charset="0"/>
                <a:ea typeface="Aptos" panose="020B0004020202020204" pitchFamily="34" charset="0"/>
              </a:rPr>
              <a:t>Banks use real-time data analytics to detect suspicious credit card transactions and block fraudulent activities instantly.</a:t>
            </a:r>
          </a:p>
          <a:p>
            <a:pPr>
              <a:buNone/>
            </a:pPr>
            <a:endParaRPr lang="en-IN" kern="100" dirty="0">
              <a:latin typeface="Times New Roman" panose="02020603050405020304" pitchFamily="18" charset="0"/>
              <a:ea typeface="Aptos" panose="020B0004020202020204" pitchFamily="34" charset="0"/>
            </a:endParaRPr>
          </a:p>
          <a:p>
            <a:r>
              <a:rPr lang="en-IN" b="1" dirty="0">
                <a:solidFill>
                  <a:srgbClr val="FF0000"/>
                </a:solidFill>
              </a:rPr>
              <a:t>3. Retail and E-Commerce</a:t>
            </a:r>
          </a:p>
          <a:p>
            <a:r>
              <a:rPr lang="en-IN" dirty="0"/>
              <a:t>Retailers use data science to understand customer preferences, optimize pricing strategies, and manage inventory. Online platforms collect clickstream data, purchase history, and customer reviews to personalize experiences.</a:t>
            </a:r>
          </a:p>
          <a:p>
            <a:endParaRPr lang="en-IN" b="1" dirty="0">
              <a:solidFill>
                <a:srgbClr val="FF0000"/>
              </a:solidFill>
            </a:endParaRPr>
          </a:p>
          <a:p>
            <a:r>
              <a:rPr lang="en-IN" b="1" dirty="0">
                <a:solidFill>
                  <a:srgbClr val="FF0000"/>
                </a:solidFill>
              </a:rPr>
              <a:t>Applications</a:t>
            </a:r>
          </a:p>
          <a:p>
            <a:pPr lvl="0"/>
            <a:r>
              <a:rPr lang="en-IN" dirty="0"/>
              <a:t>Recommendation systems</a:t>
            </a:r>
          </a:p>
          <a:p>
            <a:pPr lvl="0"/>
            <a:r>
              <a:rPr lang="en-IN" dirty="0"/>
              <a:t>Demand forecasting</a:t>
            </a:r>
          </a:p>
          <a:p>
            <a:pPr lvl="0"/>
            <a:r>
              <a:rPr lang="en-IN" dirty="0"/>
              <a:t>Dynamic pricing</a:t>
            </a:r>
          </a:p>
          <a:p>
            <a:pPr lvl="0"/>
            <a:r>
              <a:rPr lang="en-IN" dirty="0"/>
              <a:t>Customer churn prediction</a:t>
            </a:r>
          </a:p>
          <a:p>
            <a:endParaRPr lang="en-IN" b="1" dirty="0">
              <a:solidFill>
                <a:srgbClr val="FF0000"/>
              </a:solidFill>
            </a:endParaRPr>
          </a:p>
          <a:p>
            <a:r>
              <a:rPr lang="en-IN" b="1" dirty="0">
                <a:solidFill>
                  <a:srgbClr val="FF0000"/>
                </a:solidFill>
              </a:rPr>
              <a:t>Example</a:t>
            </a:r>
          </a:p>
          <a:p>
            <a:r>
              <a:rPr lang="en-IN" dirty="0"/>
              <a:t>Amazon recommends products to customers based on their browsing and purchasing history using collaborative filtering techniques.</a:t>
            </a:r>
          </a:p>
        </p:txBody>
      </p:sp>
    </p:spTree>
    <p:extLst>
      <p:ext uri="{BB962C8B-B14F-4D97-AF65-F5344CB8AC3E}">
        <p14:creationId xmlns:p14="http://schemas.microsoft.com/office/powerpoint/2010/main" val="37564293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CC2EC4-3212-E13D-0E81-BBFD19F0E998}"/>
              </a:ext>
            </a:extLst>
          </p:cNvPr>
          <p:cNvSpPr txBox="1"/>
          <p:nvPr/>
        </p:nvSpPr>
        <p:spPr>
          <a:xfrm>
            <a:off x="422786" y="150137"/>
            <a:ext cx="11385755" cy="6186309"/>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4. Marketing and Customer Analytics</a:t>
            </a:r>
          </a:p>
          <a:p>
            <a:pPr>
              <a:buNone/>
            </a:pPr>
            <a:r>
              <a:rPr lang="en-IN" sz="1800" kern="100" dirty="0">
                <a:effectLst/>
                <a:latin typeface="Cambria" panose="02040503050406030204" pitchFamily="18" charset="0"/>
                <a:ea typeface="Cambria" panose="02040503050406030204" pitchFamily="18" charset="0"/>
              </a:rPr>
              <a:t>Marketing teams use data science to </a:t>
            </a:r>
            <a:r>
              <a:rPr lang="en-IN" sz="1800" kern="100" dirty="0" err="1">
                <a:effectLst/>
                <a:latin typeface="Cambria" panose="02040503050406030204" pitchFamily="18" charset="0"/>
                <a:ea typeface="Cambria" panose="02040503050406030204" pitchFamily="18" charset="0"/>
              </a:rPr>
              <a:t>analyze</a:t>
            </a:r>
            <a:r>
              <a:rPr lang="en-IN" sz="1800" kern="100" dirty="0">
                <a:effectLst/>
                <a:latin typeface="Cambria" panose="02040503050406030204" pitchFamily="18" charset="0"/>
                <a:ea typeface="Cambria" panose="02040503050406030204" pitchFamily="18" charset="0"/>
              </a:rPr>
              <a:t> customer </a:t>
            </a:r>
            <a:r>
              <a:rPr lang="en-IN" sz="1800" kern="100" dirty="0" err="1">
                <a:effectLst/>
                <a:latin typeface="Cambria" panose="02040503050406030204" pitchFamily="18" charset="0"/>
                <a:ea typeface="Cambria" panose="02040503050406030204" pitchFamily="18" charset="0"/>
              </a:rPr>
              <a:t>behavior</a:t>
            </a:r>
            <a:r>
              <a:rPr lang="en-IN" sz="1800" kern="100" dirty="0">
                <a:effectLst/>
                <a:latin typeface="Cambria" panose="02040503050406030204" pitchFamily="18" charset="0"/>
                <a:ea typeface="Cambria" panose="02040503050406030204" pitchFamily="18" charset="0"/>
              </a:rPr>
              <a:t>, campaign performance, and brand sentiment. These insights help in creating targeted marketing strategies.</a:t>
            </a:r>
          </a:p>
          <a:p>
            <a:pPr>
              <a:buNone/>
            </a:pPr>
            <a:r>
              <a:rPr lang="en-IN" sz="1800" b="1" kern="100" dirty="0">
                <a:solidFill>
                  <a:srgbClr val="FF0000"/>
                </a:solidFill>
                <a:effectLst/>
                <a:latin typeface="Cambria" panose="02040503050406030204" pitchFamily="18" charset="0"/>
                <a:ea typeface="Cambria" panose="02040503050406030204" pitchFamily="18"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Customer segmentation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Sentiment analysis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Campaign optimization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Customer lifetime value prediction</a:t>
            </a:r>
          </a:p>
          <a:p>
            <a:pPr>
              <a:buNone/>
            </a:pPr>
            <a:r>
              <a:rPr lang="en-IN" sz="1800" b="1" kern="100" dirty="0">
                <a:solidFill>
                  <a:srgbClr val="FF0000"/>
                </a:solidFill>
                <a:effectLst/>
                <a:latin typeface="Cambria" panose="02040503050406030204" pitchFamily="18" charset="0"/>
                <a:ea typeface="Cambria" panose="02040503050406030204" pitchFamily="18" charset="0"/>
              </a:rPr>
              <a:t>Example</a:t>
            </a:r>
          </a:p>
          <a:p>
            <a:pPr>
              <a:buNone/>
            </a:pPr>
            <a:r>
              <a:rPr lang="en-IN" sz="1800" kern="100" dirty="0">
                <a:effectLst/>
                <a:latin typeface="Cambria" panose="02040503050406030204" pitchFamily="18" charset="0"/>
                <a:ea typeface="Cambria" panose="02040503050406030204" pitchFamily="18" charset="0"/>
              </a:rPr>
              <a:t>A company </a:t>
            </a:r>
            <a:r>
              <a:rPr lang="en-IN" sz="1800" kern="100" dirty="0" err="1">
                <a:effectLst/>
                <a:latin typeface="Cambria" panose="02040503050406030204" pitchFamily="18" charset="0"/>
                <a:ea typeface="Cambria" panose="02040503050406030204" pitchFamily="18" charset="0"/>
              </a:rPr>
              <a:t>analyzes</a:t>
            </a:r>
            <a:r>
              <a:rPr lang="en-IN" sz="1800" kern="100" dirty="0">
                <a:effectLst/>
                <a:latin typeface="Cambria" panose="02040503050406030204" pitchFamily="18" charset="0"/>
                <a:ea typeface="Cambria" panose="02040503050406030204" pitchFamily="18" charset="0"/>
              </a:rPr>
              <a:t> social media comments to understand customer sentiment about a new product launch.</a:t>
            </a:r>
          </a:p>
          <a:p>
            <a:pPr>
              <a:buNone/>
            </a:pPr>
            <a:endParaRPr lang="en-IN" kern="100" dirty="0">
              <a:latin typeface="Cambria" panose="02040503050406030204" pitchFamily="18" charset="0"/>
              <a:ea typeface="Cambria" panose="02040503050406030204" pitchFamily="18" charset="0"/>
            </a:endParaRPr>
          </a:p>
          <a:p>
            <a:r>
              <a:rPr lang="en-IN" b="1" dirty="0">
                <a:solidFill>
                  <a:srgbClr val="FF0000"/>
                </a:solidFill>
                <a:latin typeface="Cambria" panose="02040503050406030204" pitchFamily="18" charset="0"/>
                <a:ea typeface="Cambria" panose="02040503050406030204" pitchFamily="18" charset="0"/>
              </a:rPr>
              <a:t>5. Manufacturing and Industrial Analytics</a:t>
            </a:r>
          </a:p>
          <a:p>
            <a:r>
              <a:rPr lang="en-IN" dirty="0">
                <a:latin typeface="Cambria" panose="02040503050406030204" pitchFamily="18" charset="0"/>
                <a:ea typeface="Cambria" panose="02040503050406030204" pitchFamily="18" charset="0"/>
              </a:rPr>
              <a:t>In manufacturing, data science improves efficiency, reduces downtime, and enhances product quality. Data from sensors and machines is </a:t>
            </a:r>
            <a:r>
              <a:rPr lang="en-IN" dirty="0" err="1">
                <a:latin typeface="Cambria" panose="02040503050406030204" pitchFamily="18" charset="0"/>
                <a:ea typeface="Cambria" panose="02040503050406030204" pitchFamily="18" charset="0"/>
              </a:rPr>
              <a:t>analyzed</a:t>
            </a:r>
            <a:r>
              <a:rPr lang="en-IN" dirty="0">
                <a:latin typeface="Cambria" panose="02040503050406030204" pitchFamily="18" charset="0"/>
                <a:ea typeface="Cambria" panose="02040503050406030204" pitchFamily="18" charset="0"/>
              </a:rPr>
              <a:t> to predict failures and optimize production.</a:t>
            </a:r>
          </a:p>
          <a:p>
            <a:r>
              <a:rPr lang="en-IN" b="1" dirty="0">
                <a:solidFill>
                  <a:srgbClr val="FF0000"/>
                </a:solidFill>
                <a:latin typeface="Cambria" panose="02040503050406030204" pitchFamily="18" charset="0"/>
                <a:ea typeface="Cambria" panose="02040503050406030204" pitchFamily="18" charset="0"/>
              </a:rPr>
              <a:t>Applications</a:t>
            </a:r>
          </a:p>
          <a:p>
            <a:pPr lvl="0"/>
            <a:r>
              <a:rPr lang="en-IN" dirty="0">
                <a:latin typeface="Cambria" panose="02040503050406030204" pitchFamily="18" charset="0"/>
                <a:ea typeface="Cambria" panose="02040503050406030204" pitchFamily="18" charset="0"/>
              </a:rPr>
              <a:t>Predictive maintenance</a:t>
            </a:r>
          </a:p>
          <a:p>
            <a:pPr lvl="0"/>
            <a:r>
              <a:rPr lang="en-IN" dirty="0">
                <a:latin typeface="Cambria" panose="02040503050406030204" pitchFamily="18" charset="0"/>
                <a:ea typeface="Cambria" panose="02040503050406030204" pitchFamily="18" charset="0"/>
              </a:rPr>
              <a:t>Quality control</a:t>
            </a:r>
          </a:p>
          <a:p>
            <a:pPr lvl="0"/>
            <a:r>
              <a:rPr lang="en-IN" dirty="0">
                <a:latin typeface="Cambria" panose="02040503050406030204" pitchFamily="18" charset="0"/>
                <a:ea typeface="Cambria" panose="02040503050406030204" pitchFamily="18" charset="0"/>
              </a:rPr>
              <a:t>Supply chain optimization</a:t>
            </a:r>
          </a:p>
          <a:p>
            <a:pPr lvl="0"/>
            <a:r>
              <a:rPr lang="en-IN" dirty="0">
                <a:latin typeface="Cambria" panose="02040503050406030204" pitchFamily="18" charset="0"/>
                <a:ea typeface="Cambria" panose="02040503050406030204" pitchFamily="18" charset="0"/>
              </a:rPr>
              <a:t>Process automation</a:t>
            </a:r>
          </a:p>
          <a:p>
            <a:r>
              <a:rPr lang="en-IN" b="1" dirty="0">
                <a:solidFill>
                  <a:srgbClr val="FF0000"/>
                </a:solidFill>
                <a:latin typeface="Cambria" panose="02040503050406030204" pitchFamily="18" charset="0"/>
                <a:ea typeface="Cambria" panose="02040503050406030204" pitchFamily="18" charset="0"/>
              </a:rPr>
              <a:t>Example</a:t>
            </a:r>
          </a:p>
          <a:p>
            <a:r>
              <a:rPr lang="en-IN" dirty="0">
                <a:latin typeface="Cambria" panose="02040503050406030204" pitchFamily="18" charset="0"/>
                <a:ea typeface="Cambria" panose="02040503050406030204" pitchFamily="18" charset="0"/>
              </a:rPr>
              <a:t>A manufacturing plant uses sensor data to predict machine failures before they occur, reducing maintenance costs and downtime.</a:t>
            </a:r>
            <a:endParaRPr lang="en-IN" sz="1800" kern="1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675178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3F7E22-0412-F179-5756-04B8977234DE}"/>
              </a:ext>
            </a:extLst>
          </p:cNvPr>
          <p:cNvSpPr txBox="1"/>
          <p:nvPr/>
        </p:nvSpPr>
        <p:spPr>
          <a:xfrm>
            <a:off x="422786" y="190314"/>
            <a:ext cx="11405419" cy="6186309"/>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6. Transportation and Logistics</a:t>
            </a:r>
          </a:p>
          <a:p>
            <a:pPr>
              <a:buNone/>
            </a:pPr>
            <a:r>
              <a:rPr lang="en-IN" sz="1800" kern="100" dirty="0">
                <a:effectLst/>
                <a:latin typeface="Cambria" panose="02040503050406030204" pitchFamily="18" charset="0"/>
                <a:ea typeface="Cambria" panose="02040503050406030204" pitchFamily="18" charset="0"/>
              </a:rPr>
              <a:t>Transportation companies use data science to optimize routes, reduce fuel consumption, and improve delivery efficiency.</a:t>
            </a:r>
          </a:p>
          <a:p>
            <a:pPr>
              <a:buNone/>
            </a:pPr>
            <a:r>
              <a:rPr lang="en-IN" sz="1800" b="1" kern="100" dirty="0">
                <a:solidFill>
                  <a:srgbClr val="FF0000"/>
                </a:solidFill>
                <a:effectLst/>
                <a:latin typeface="Cambria" panose="02040503050406030204" pitchFamily="18" charset="0"/>
                <a:ea typeface="Cambria" panose="02040503050406030204" pitchFamily="18"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Route optimization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Traffic prediction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Fleet management</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Demand forecasting</a:t>
            </a:r>
          </a:p>
          <a:p>
            <a:pPr>
              <a:buNone/>
            </a:pPr>
            <a:r>
              <a:rPr lang="en-IN" sz="1800" b="1" kern="100" dirty="0">
                <a:solidFill>
                  <a:srgbClr val="FF0000"/>
                </a:solidFill>
                <a:effectLst/>
                <a:latin typeface="Cambria" panose="02040503050406030204" pitchFamily="18" charset="0"/>
                <a:ea typeface="Cambria" panose="02040503050406030204" pitchFamily="18" charset="0"/>
              </a:rPr>
              <a:t>Example</a:t>
            </a:r>
          </a:p>
          <a:p>
            <a:pPr>
              <a:buNone/>
            </a:pPr>
            <a:r>
              <a:rPr lang="en-IN" sz="1800" kern="100" dirty="0">
                <a:effectLst/>
                <a:latin typeface="Cambria" panose="02040503050406030204" pitchFamily="18" charset="0"/>
                <a:ea typeface="Cambria" panose="02040503050406030204" pitchFamily="18" charset="0"/>
              </a:rPr>
              <a:t>Ride-sharing companies like Uber use data science to predict ride demand and dynamically adjust pricing.</a:t>
            </a:r>
          </a:p>
          <a:p>
            <a:pPr>
              <a:buNone/>
            </a:pPr>
            <a:endParaRPr lang="en-IN" kern="100" dirty="0">
              <a:latin typeface="Cambria" panose="02040503050406030204" pitchFamily="18" charset="0"/>
              <a:ea typeface="Cambria" panose="02040503050406030204" pitchFamily="18" charset="0"/>
            </a:endParaRPr>
          </a:p>
          <a:p>
            <a:r>
              <a:rPr lang="en-IN" b="1" dirty="0">
                <a:solidFill>
                  <a:srgbClr val="FF0000"/>
                </a:solidFill>
                <a:latin typeface="Cambria" panose="02040503050406030204" pitchFamily="18" charset="0"/>
                <a:ea typeface="Cambria" panose="02040503050406030204" pitchFamily="18" charset="0"/>
              </a:rPr>
              <a:t>7. Education and Learning Analytics</a:t>
            </a:r>
          </a:p>
          <a:p>
            <a:r>
              <a:rPr lang="en-IN" dirty="0">
                <a:latin typeface="Cambria" panose="02040503050406030204" pitchFamily="18" charset="0"/>
                <a:ea typeface="Cambria" panose="02040503050406030204" pitchFamily="18" charset="0"/>
              </a:rPr>
              <a:t>Educational institutions use data science to </a:t>
            </a:r>
            <a:r>
              <a:rPr lang="en-IN" dirty="0" err="1">
                <a:latin typeface="Cambria" panose="02040503050406030204" pitchFamily="18" charset="0"/>
                <a:ea typeface="Cambria" panose="02040503050406030204" pitchFamily="18" charset="0"/>
              </a:rPr>
              <a:t>analyze</a:t>
            </a:r>
            <a:r>
              <a:rPr lang="en-IN" dirty="0">
                <a:latin typeface="Cambria" panose="02040503050406030204" pitchFamily="18" charset="0"/>
                <a:ea typeface="Cambria" panose="02040503050406030204" pitchFamily="18" charset="0"/>
              </a:rPr>
              <a:t> student performance, engagement, and learning </a:t>
            </a:r>
            <a:r>
              <a:rPr lang="en-IN" dirty="0" err="1">
                <a:latin typeface="Cambria" panose="02040503050406030204" pitchFamily="18" charset="0"/>
                <a:ea typeface="Cambria" panose="02040503050406030204" pitchFamily="18" charset="0"/>
              </a:rPr>
              <a:t>behavior</a:t>
            </a:r>
            <a:r>
              <a:rPr lang="en-IN" dirty="0">
                <a:latin typeface="Cambria" panose="02040503050406030204" pitchFamily="18" charset="0"/>
                <a:ea typeface="Cambria" panose="02040503050406030204" pitchFamily="18" charset="0"/>
              </a:rPr>
              <a:t> to improve teaching methods.</a:t>
            </a:r>
          </a:p>
          <a:p>
            <a:r>
              <a:rPr lang="en-IN" b="1" dirty="0">
                <a:solidFill>
                  <a:srgbClr val="FF0000"/>
                </a:solidFill>
                <a:latin typeface="Cambria" panose="02040503050406030204" pitchFamily="18" charset="0"/>
                <a:ea typeface="Cambria" panose="02040503050406030204" pitchFamily="18" charset="0"/>
              </a:rPr>
              <a:t>Applications</a:t>
            </a:r>
          </a:p>
          <a:p>
            <a:pPr lvl="0"/>
            <a:r>
              <a:rPr lang="en-IN" dirty="0">
                <a:latin typeface="Cambria" panose="02040503050406030204" pitchFamily="18" charset="0"/>
                <a:ea typeface="Cambria" panose="02040503050406030204" pitchFamily="18" charset="0"/>
              </a:rPr>
              <a:t>Student performance prediction</a:t>
            </a:r>
          </a:p>
          <a:p>
            <a:pPr lvl="0"/>
            <a:r>
              <a:rPr lang="en-IN" dirty="0">
                <a:latin typeface="Cambria" panose="02040503050406030204" pitchFamily="18" charset="0"/>
                <a:ea typeface="Cambria" panose="02040503050406030204" pitchFamily="18" charset="0"/>
              </a:rPr>
              <a:t>Personalized learning</a:t>
            </a:r>
          </a:p>
          <a:p>
            <a:pPr lvl="0"/>
            <a:r>
              <a:rPr lang="en-IN" dirty="0">
                <a:latin typeface="Cambria" panose="02040503050406030204" pitchFamily="18" charset="0"/>
                <a:ea typeface="Cambria" panose="02040503050406030204" pitchFamily="18" charset="0"/>
              </a:rPr>
              <a:t>Dropout prediction</a:t>
            </a:r>
          </a:p>
          <a:p>
            <a:pPr lvl="0"/>
            <a:r>
              <a:rPr lang="en-IN" dirty="0">
                <a:latin typeface="Cambria" panose="02040503050406030204" pitchFamily="18" charset="0"/>
                <a:ea typeface="Cambria" panose="02040503050406030204" pitchFamily="18" charset="0"/>
              </a:rPr>
              <a:t>Curriculum improvement</a:t>
            </a:r>
          </a:p>
          <a:p>
            <a:r>
              <a:rPr lang="en-IN" b="1" dirty="0">
                <a:solidFill>
                  <a:srgbClr val="FF0000"/>
                </a:solidFill>
                <a:latin typeface="Cambria" panose="02040503050406030204" pitchFamily="18" charset="0"/>
                <a:ea typeface="Cambria" panose="02040503050406030204" pitchFamily="18" charset="0"/>
              </a:rPr>
              <a:t>Example</a:t>
            </a:r>
          </a:p>
          <a:p>
            <a:r>
              <a:rPr lang="en-IN" dirty="0">
                <a:latin typeface="Cambria" panose="02040503050406030204" pitchFamily="18" charset="0"/>
                <a:ea typeface="Cambria" panose="02040503050406030204" pitchFamily="18" charset="0"/>
              </a:rPr>
              <a:t>Online learning platforms recommend courses to students based on their learning history and interests.</a:t>
            </a:r>
          </a:p>
          <a:p>
            <a:pPr>
              <a:buNone/>
            </a:pPr>
            <a:endParaRPr lang="en-IN" sz="1800" kern="1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93140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593F6E-1CC8-DE5E-E7F1-1C6AADD7F783}"/>
              </a:ext>
            </a:extLst>
          </p:cNvPr>
          <p:cNvSpPr txBox="1"/>
          <p:nvPr/>
        </p:nvSpPr>
        <p:spPr>
          <a:xfrm>
            <a:off x="462115" y="238627"/>
            <a:ext cx="11307097" cy="6186309"/>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8. Social Media and Entertainment</a:t>
            </a:r>
          </a:p>
          <a:p>
            <a:pPr>
              <a:buNone/>
            </a:pPr>
            <a:r>
              <a:rPr lang="en-IN" sz="1800" kern="100" dirty="0">
                <a:effectLst/>
                <a:latin typeface="Cambria" panose="02040503050406030204" pitchFamily="18" charset="0"/>
                <a:ea typeface="Cambria" panose="02040503050406030204" pitchFamily="18" charset="0"/>
              </a:rPr>
              <a:t>Social media platforms generate massive amounts of data from user interactions, which are </a:t>
            </a:r>
            <a:r>
              <a:rPr lang="en-IN" sz="1800" kern="100" dirty="0" err="1">
                <a:effectLst/>
                <a:latin typeface="Cambria" panose="02040503050406030204" pitchFamily="18" charset="0"/>
                <a:ea typeface="Cambria" panose="02040503050406030204" pitchFamily="18" charset="0"/>
              </a:rPr>
              <a:t>analyzed</a:t>
            </a:r>
            <a:r>
              <a:rPr lang="en-IN" sz="1800" kern="100" dirty="0">
                <a:effectLst/>
                <a:latin typeface="Cambria" panose="02040503050406030204" pitchFamily="18" charset="0"/>
                <a:ea typeface="Cambria" panose="02040503050406030204" pitchFamily="18" charset="0"/>
              </a:rPr>
              <a:t> to improve user engagement and content delivery.</a:t>
            </a:r>
          </a:p>
          <a:p>
            <a:pPr>
              <a:buNone/>
            </a:pPr>
            <a:r>
              <a:rPr lang="en-IN" sz="1800" b="1" kern="100" dirty="0">
                <a:solidFill>
                  <a:srgbClr val="FF0000"/>
                </a:solidFill>
                <a:effectLst/>
                <a:latin typeface="Cambria" panose="02040503050406030204" pitchFamily="18" charset="0"/>
                <a:ea typeface="Cambria" panose="02040503050406030204" pitchFamily="18"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Content recommendation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Trend detection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User </a:t>
            </a:r>
            <a:r>
              <a:rPr lang="en-IN" sz="1800" kern="100" dirty="0" err="1">
                <a:effectLst/>
                <a:latin typeface="Cambria" panose="02040503050406030204" pitchFamily="18" charset="0"/>
                <a:ea typeface="Cambria" panose="02040503050406030204" pitchFamily="18" charset="0"/>
              </a:rPr>
              <a:t>behavior</a:t>
            </a:r>
            <a:r>
              <a:rPr lang="en-IN" sz="1800" kern="100" dirty="0">
                <a:effectLst/>
                <a:latin typeface="Cambria" panose="02040503050406030204" pitchFamily="18" charset="0"/>
                <a:ea typeface="Cambria" panose="02040503050406030204" pitchFamily="18" charset="0"/>
              </a:rPr>
              <a:t> analysis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Advertisement targeting</a:t>
            </a:r>
          </a:p>
          <a:p>
            <a:pPr>
              <a:buNone/>
            </a:pPr>
            <a:r>
              <a:rPr lang="en-IN" sz="1800" b="1" kern="100" dirty="0">
                <a:solidFill>
                  <a:srgbClr val="FF0000"/>
                </a:solidFill>
                <a:effectLst/>
                <a:latin typeface="Cambria" panose="02040503050406030204" pitchFamily="18" charset="0"/>
                <a:ea typeface="Cambria" panose="02040503050406030204" pitchFamily="18" charset="0"/>
              </a:rPr>
              <a:t>Example</a:t>
            </a:r>
          </a:p>
          <a:p>
            <a:pPr>
              <a:buNone/>
            </a:pPr>
            <a:r>
              <a:rPr lang="en-IN" sz="1800" kern="100" dirty="0">
                <a:effectLst/>
                <a:latin typeface="Cambria" panose="02040503050406030204" pitchFamily="18" charset="0"/>
                <a:ea typeface="Cambria" panose="02040503050406030204" pitchFamily="18" charset="0"/>
              </a:rPr>
              <a:t>Netflix uses data science to recommend movies and TV shows based on viewing history and preferences.</a:t>
            </a:r>
          </a:p>
          <a:p>
            <a:pPr>
              <a:buNone/>
            </a:pPr>
            <a:endParaRPr lang="en-IN" kern="100" dirty="0">
              <a:latin typeface="Cambria" panose="02040503050406030204" pitchFamily="18" charset="0"/>
              <a:ea typeface="Cambria" panose="02040503050406030204" pitchFamily="18" charset="0"/>
            </a:endParaRPr>
          </a:p>
          <a:p>
            <a:r>
              <a:rPr lang="en-IN" b="1" dirty="0">
                <a:solidFill>
                  <a:srgbClr val="FF0000"/>
                </a:solidFill>
                <a:latin typeface="Cambria" panose="02040503050406030204" pitchFamily="18" charset="0"/>
                <a:ea typeface="Cambria" panose="02040503050406030204" pitchFamily="18" charset="0"/>
              </a:rPr>
              <a:t>9. Government and Public Sector</a:t>
            </a:r>
          </a:p>
          <a:p>
            <a:r>
              <a:rPr lang="en-IN" dirty="0">
                <a:latin typeface="Cambria" panose="02040503050406030204" pitchFamily="18" charset="0"/>
                <a:ea typeface="Cambria" panose="02040503050406030204" pitchFamily="18" charset="0"/>
              </a:rPr>
              <a:t>Governments use data science for policy planning, public safety, and service improvement. Large datasets such as census data and public records are </a:t>
            </a:r>
            <a:r>
              <a:rPr lang="en-IN" dirty="0" err="1">
                <a:latin typeface="Cambria" panose="02040503050406030204" pitchFamily="18" charset="0"/>
                <a:ea typeface="Cambria" panose="02040503050406030204" pitchFamily="18" charset="0"/>
              </a:rPr>
              <a:t>analyzed</a:t>
            </a:r>
            <a:r>
              <a:rPr lang="en-IN" dirty="0">
                <a:latin typeface="Cambria" panose="02040503050406030204" pitchFamily="18" charset="0"/>
                <a:ea typeface="Cambria" panose="02040503050406030204" pitchFamily="18" charset="0"/>
              </a:rPr>
              <a:t>.</a:t>
            </a:r>
          </a:p>
          <a:p>
            <a:r>
              <a:rPr lang="en-IN" b="1" dirty="0">
                <a:solidFill>
                  <a:srgbClr val="FF0000"/>
                </a:solidFill>
                <a:latin typeface="Cambria" panose="02040503050406030204" pitchFamily="18" charset="0"/>
                <a:ea typeface="Cambria" panose="02040503050406030204" pitchFamily="18" charset="0"/>
              </a:rPr>
              <a:t>Applications</a:t>
            </a:r>
          </a:p>
          <a:p>
            <a:pPr lvl="0"/>
            <a:r>
              <a:rPr lang="en-IN" dirty="0">
                <a:latin typeface="Cambria" panose="02040503050406030204" pitchFamily="18" charset="0"/>
                <a:ea typeface="Cambria" panose="02040503050406030204" pitchFamily="18" charset="0"/>
              </a:rPr>
              <a:t>Crime prediction</a:t>
            </a:r>
          </a:p>
          <a:p>
            <a:pPr lvl="0"/>
            <a:r>
              <a:rPr lang="en-IN" dirty="0">
                <a:latin typeface="Cambria" panose="02040503050406030204" pitchFamily="18" charset="0"/>
                <a:ea typeface="Cambria" panose="02040503050406030204" pitchFamily="18" charset="0"/>
              </a:rPr>
              <a:t>Traffic management</a:t>
            </a:r>
          </a:p>
          <a:p>
            <a:pPr lvl="0"/>
            <a:r>
              <a:rPr lang="en-IN" dirty="0">
                <a:latin typeface="Cambria" panose="02040503050406030204" pitchFamily="18" charset="0"/>
                <a:ea typeface="Cambria" panose="02040503050406030204" pitchFamily="18" charset="0"/>
              </a:rPr>
              <a:t>Public health monitoring</a:t>
            </a:r>
          </a:p>
          <a:p>
            <a:pPr lvl="0"/>
            <a:r>
              <a:rPr lang="en-IN" dirty="0">
                <a:latin typeface="Cambria" panose="02040503050406030204" pitchFamily="18" charset="0"/>
                <a:ea typeface="Cambria" panose="02040503050406030204" pitchFamily="18" charset="0"/>
              </a:rPr>
              <a:t>Smart city planning</a:t>
            </a:r>
          </a:p>
          <a:p>
            <a:r>
              <a:rPr lang="en-IN" b="1" dirty="0">
                <a:solidFill>
                  <a:srgbClr val="FF0000"/>
                </a:solidFill>
                <a:latin typeface="Cambria" panose="02040503050406030204" pitchFamily="18" charset="0"/>
                <a:ea typeface="Cambria" panose="02040503050406030204" pitchFamily="18" charset="0"/>
              </a:rPr>
              <a:t>Example</a:t>
            </a:r>
          </a:p>
          <a:p>
            <a:r>
              <a:rPr lang="en-IN" dirty="0">
                <a:latin typeface="Cambria" panose="02040503050406030204" pitchFamily="18" charset="0"/>
                <a:ea typeface="Cambria" panose="02040503050406030204" pitchFamily="18" charset="0"/>
              </a:rPr>
              <a:t>City authorities use traffic data to optimize signal timings and reduce congestion.</a:t>
            </a:r>
          </a:p>
          <a:p>
            <a:pPr>
              <a:buNone/>
            </a:pPr>
            <a:endParaRPr lang="en-IN" sz="1800" kern="1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83822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2748C-C273-1A9B-10C7-FEC00DD89EA0}"/>
              </a:ext>
            </a:extLst>
          </p:cNvPr>
          <p:cNvSpPr txBox="1"/>
          <p:nvPr/>
        </p:nvSpPr>
        <p:spPr>
          <a:xfrm>
            <a:off x="324463" y="209130"/>
            <a:ext cx="11533239" cy="5909310"/>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10. Agriculture and Environmental Analytics</a:t>
            </a:r>
          </a:p>
          <a:p>
            <a:pPr>
              <a:buNone/>
            </a:pPr>
            <a:r>
              <a:rPr lang="en-IN" sz="1800" kern="100" dirty="0">
                <a:effectLst/>
                <a:latin typeface="Cambria" panose="02040503050406030204" pitchFamily="18" charset="0"/>
                <a:ea typeface="Cambria" panose="02040503050406030204" pitchFamily="18" charset="0"/>
              </a:rPr>
              <a:t>Data science supports sustainable agriculture and environmental protection by </a:t>
            </a:r>
            <a:r>
              <a:rPr lang="en-IN" sz="1800" kern="100" dirty="0" err="1">
                <a:effectLst/>
                <a:latin typeface="Cambria" panose="02040503050406030204" pitchFamily="18" charset="0"/>
                <a:ea typeface="Cambria" panose="02040503050406030204" pitchFamily="18" charset="0"/>
              </a:rPr>
              <a:t>analyzing</a:t>
            </a:r>
            <a:r>
              <a:rPr lang="en-IN" sz="1800" kern="100" dirty="0">
                <a:effectLst/>
                <a:latin typeface="Cambria" panose="02040503050406030204" pitchFamily="18" charset="0"/>
                <a:ea typeface="Cambria" panose="02040503050406030204" pitchFamily="18" charset="0"/>
              </a:rPr>
              <a:t> climate data, soil conditions, and satellite images.</a:t>
            </a:r>
          </a:p>
          <a:p>
            <a:pPr>
              <a:buNone/>
            </a:pPr>
            <a:r>
              <a:rPr lang="en-IN" sz="1800" b="1" kern="100" dirty="0">
                <a:solidFill>
                  <a:srgbClr val="FF0000"/>
                </a:solidFill>
                <a:effectLst/>
                <a:latin typeface="Cambria" panose="02040503050406030204" pitchFamily="18" charset="0"/>
                <a:ea typeface="Cambria" panose="02040503050406030204" pitchFamily="18"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Crop yield prediction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Weather forecasting</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Pest detection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Resource optimization</a:t>
            </a:r>
          </a:p>
          <a:p>
            <a:pPr>
              <a:buNone/>
            </a:pPr>
            <a:r>
              <a:rPr lang="en-IN" sz="1800" b="1" kern="100" dirty="0">
                <a:solidFill>
                  <a:srgbClr val="FF0000"/>
                </a:solidFill>
                <a:effectLst/>
                <a:latin typeface="Cambria" panose="02040503050406030204" pitchFamily="18" charset="0"/>
                <a:ea typeface="Cambria" panose="02040503050406030204" pitchFamily="18" charset="0"/>
              </a:rPr>
              <a:t>Example</a:t>
            </a:r>
          </a:p>
          <a:p>
            <a:pPr>
              <a:buNone/>
            </a:pPr>
            <a:r>
              <a:rPr lang="en-IN" sz="1800" dirty="0">
                <a:effectLst/>
                <a:latin typeface="Cambria" panose="02040503050406030204" pitchFamily="18" charset="0"/>
                <a:ea typeface="Cambria" panose="02040503050406030204" pitchFamily="18" charset="0"/>
              </a:rPr>
              <a:t>Farmers use predictive models to determine the best time for irrigation and harvesting.</a:t>
            </a:r>
          </a:p>
          <a:p>
            <a:pPr>
              <a:buNone/>
            </a:pPr>
            <a:endParaRPr lang="en-IN" dirty="0">
              <a:latin typeface="Cambria" panose="02040503050406030204" pitchFamily="18" charset="0"/>
              <a:ea typeface="Cambria" panose="02040503050406030204" pitchFamily="18" charset="0"/>
            </a:endParaRPr>
          </a:p>
          <a:p>
            <a:r>
              <a:rPr lang="en-IN" b="1" dirty="0">
                <a:solidFill>
                  <a:srgbClr val="FF0000"/>
                </a:solidFill>
                <a:latin typeface="Cambria" panose="02040503050406030204" pitchFamily="18" charset="0"/>
                <a:ea typeface="Cambria" panose="02040503050406030204" pitchFamily="18" charset="0"/>
              </a:rPr>
              <a:t>11. Human Resources and Workforce Analytics</a:t>
            </a:r>
          </a:p>
          <a:p>
            <a:r>
              <a:rPr lang="en-IN" dirty="0">
                <a:latin typeface="Cambria" panose="02040503050406030204" pitchFamily="18" charset="0"/>
                <a:ea typeface="Cambria" panose="02040503050406030204" pitchFamily="18" charset="0"/>
              </a:rPr>
              <a:t>Organizations use data science to manage workforce performance, recruitment, and employee retention.</a:t>
            </a:r>
          </a:p>
          <a:p>
            <a:r>
              <a:rPr lang="en-IN" b="1" dirty="0">
                <a:solidFill>
                  <a:srgbClr val="FF0000"/>
                </a:solidFill>
                <a:latin typeface="Cambria" panose="02040503050406030204" pitchFamily="18" charset="0"/>
                <a:ea typeface="Cambria" panose="02040503050406030204" pitchFamily="18" charset="0"/>
              </a:rPr>
              <a:t>Applications</a:t>
            </a:r>
          </a:p>
          <a:p>
            <a:pPr lvl="0"/>
            <a:r>
              <a:rPr lang="en-IN" dirty="0">
                <a:latin typeface="Cambria" panose="02040503050406030204" pitchFamily="18" charset="0"/>
                <a:ea typeface="Cambria" panose="02040503050406030204" pitchFamily="18" charset="0"/>
              </a:rPr>
              <a:t>Resume screening</a:t>
            </a:r>
          </a:p>
          <a:p>
            <a:pPr lvl="0"/>
            <a:r>
              <a:rPr lang="en-IN" dirty="0">
                <a:latin typeface="Cambria" panose="02040503050406030204" pitchFamily="18" charset="0"/>
                <a:ea typeface="Cambria" panose="02040503050406030204" pitchFamily="18" charset="0"/>
              </a:rPr>
              <a:t>Attrition prediction</a:t>
            </a:r>
          </a:p>
          <a:p>
            <a:pPr lvl="0"/>
            <a:r>
              <a:rPr lang="en-IN" dirty="0">
                <a:latin typeface="Cambria" panose="02040503050406030204" pitchFamily="18" charset="0"/>
                <a:ea typeface="Cambria" panose="02040503050406030204" pitchFamily="18" charset="0"/>
              </a:rPr>
              <a:t>Performance analysis</a:t>
            </a:r>
          </a:p>
          <a:p>
            <a:pPr lvl="0"/>
            <a:r>
              <a:rPr lang="en-IN" dirty="0">
                <a:latin typeface="Cambria" panose="02040503050406030204" pitchFamily="18" charset="0"/>
                <a:ea typeface="Cambria" panose="02040503050406030204" pitchFamily="18" charset="0"/>
              </a:rPr>
              <a:t>Workforce planning</a:t>
            </a:r>
          </a:p>
          <a:p>
            <a:r>
              <a:rPr lang="en-IN" b="1" dirty="0">
                <a:solidFill>
                  <a:srgbClr val="FF0000"/>
                </a:solidFill>
                <a:latin typeface="Cambria" panose="02040503050406030204" pitchFamily="18" charset="0"/>
                <a:ea typeface="Cambria" panose="02040503050406030204" pitchFamily="18" charset="0"/>
              </a:rPr>
              <a:t>Example</a:t>
            </a:r>
          </a:p>
          <a:p>
            <a:r>
              <a:rPr lang="en-IN" dirty="0">
                <a:latin typeface="Cambria" panose="02040503050406030204" pitchFamily="18" charset="0"/>
                <a:ea typeface="Cambria" panose="02040503050406030204" pitchFamily="18" charset="0"/>
              </a:rPr>
              <a:t>HR teams predict employee attrition using historical employee data and implement retention strategies.</a:t>
            </a:r>
          </a:p>
          <a:p>
            <a:pPr>
              <a:buNone/>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52285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0B7376-431C-224A-312F-BC1BAD6838A3}"/>
              </a:ext>
            </a:extLst>
          </p:cNvPr>
          <p:cNvSpPr txBox="1"/>
          <p:nvPr/>
        </p:nvSpPr>
        <p:spPr>
          <a:xfrm>
            <a:off x="491612" y="289679"/>
            <a:ext cx="11228439" cy="2585323"/>
          </a:xfrm>
          <a:prstGeom prst="rect">
            <a:avLst/>
          </a:prstGeom>
          <a:noFill/>
        </p:spPr>
        <p:txBody>
          <a:bodyPr wrap="square">
            <a:spAutoFit/>
          </a:bodyPr>
          <a:lstStyle/>
          <a:p>
            <a:pPr>
              <a:buNone/>
            </a:pPr>
            <a:r>
              <a:rPr lang="en-IN" sz="1800" b="1" kern="100" dirty="0">
                <a:solidFill>
                  <a:srgbClr val="FF0000"/>
                </a:solidFill>
                <a:effectLst/>
                <a:latin typeface="Cambria" panose="02040503050406030204" pitchFamily="18" charset="0"/>
                <a:ea typeface="Cambria" panose="02040503050406030204" pitchFamily="18" charset="0"/>
              </a:rPr>
              <a:t>12. Cybersecurity and Fraud Prevention</a:t>
            </a:r>
          </a:p>
          <a:p>
            <a:pPr>
              <a:buNone/>
            </a:pPr>
            <a:r>
              <a:rPr lang="en-IN" sz="1800" kern="100" dirty="0">
                <a:effectLst/>
                <a:latin typeface="Cambria" panose="02040503050406030204" pitchFamily="18" charset="0"/>
                <a:ea typeface="Cambria" panose="02040503050406030204" pitchFamily="18" charset="0"/>
              </a:rPr>
              <a:t>Data science is widely used in cybersecurity to detect anomalies and prevent cyberattacks.</a:t>
            </a:r>
          </a:p>
          <a:p>
            <a:pPr>
              <a:buNone/>
            </a:pPr>
            <a:r>
              <a:rPr lang="en-IN" sz="1800" b="1" kern="100" dirty="0">
                <a:solidFill>
                  <a:srgbClr val="FF0000"/>
                </a:solidFill>
                <a:effectLst/>
                <a:latin typeface="Cambria" panose="02040503050406030204" pitchFamily="18" charset="0"/>
                <a:ea typeface="Cambria" panose="02040503050406030204" pitchFamily="18" charset="0"/>
              </a:rPr>
              <a:t>Applications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Intrusion detection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Malware detection</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Network traffic analysis</a:t>
            </a:r>
          </a:p>
          <a:p>
            <a:pPr marL="342900" lvl="0" indent="-342900">
              <a:buSzPts val="1000"/>
              <a:buFont typeface="Symbol" panose="05050102010706020507" pitchFamily="18" charset="2"/>
              <a:buChar char=""/>
              <a:tabLst>
                <a:tab pos="457200" algn="l"/>
              </a:tabLst>
            </a:pPr>
            <a:r>
              <a:rPr lang="en-IN" sz="1800" kern="100" dirty="0">
                <a:effectLst/>
                <a:latin typeface="Cambria" panose="02040503050406030204" pitchFamily="18" charset="0"/>
                <a:ea typeface="Cambria" panose="02040503050406030204" pitchFamily="18" charset="0"/>
              </a:rPr>
              <a:t>Risk assessment</a:t>
            </a:r>
          </a:p>
          <a:p>
            <a:pPr>
              <a:buNone/>
            </a:pPr>
            <a:r>
              <a:rPr lang="en-IN" sz="1800" b="1" kern="100" dirty="0">
                <a:solidFill>
                  <a:srgbClr val="FF0000"/>
                </a:solidFill>
                <a:effectLst/>
                <a:latin typeface="Cambria" panose="02040503050406030204" pitchFamily="18" charset="0"/>
                <a:ea typeface="Cambria" panose="02040503050406030204" pitchFamily="18" charset="0"/>
              </a:rPr>
              <a:t>Example</a:t>
            </a:r>
          </a:p>
          <a:p>
            <a:pPr>
              <a:buNone/>
            </a:pPr>
            <a:r>
              <a:rPr lang="en-IN" sz="1800" kern="100" dirty="0">
                <a:effectLst/>
                <a:latin typeface="Cambria" panose="02040503050406030204" pitchFamily="18" charset="0"/>
                <a:ea typeface="Cambria" panose="02040503050406030204" pitchFamily="18" charset="0"/>
              </a:rPr>
              <a:t>Security systems </a:t>
            </a:r>
            <a:r>
              <a:rPr lang="en-IN" sz="1800" kern="100" dirty="0" err="1">
                <a:effectLst/>
                <a:latin typeface="Cambria" panose="02040503050406030204" pitchFamily="18" charset="0"/>
                <a:ea typeface="Cambria" panose="02040503050406030204" pitchFamily="18" charset="0"/>
              </a:rPr>
              <a:t>analyze</a:t>
            </a:r>
            <a:r>
              <a:rPr lang="en-IN" sz="1800" kern="100" dirty="0">
                <a:effectLst/>
                <a:latin typeface="Cambria" panose="02040503050406030204" pitchFamily="18" charset="0"/>
                <a:ea typeface="Cambria" panose="02040503050406030204" pitchFamily="18" charset="0"/>
              </a:rPr>
              <a:t> network traffic patterns to detect unauthorized access attempts.</a:t>
            </a:r>
          </a:p>
        </p:txBody>
      </p:sp>
      <p:sp>
        <p:nvSpPr>
          <p:cNvPr id="5" name="TextBox 4">
            <a:extLst>
              <a:ext uri="{FF2B5EF4-FFF2-40B4-BE49-F238E27FC236}">
                <a16:creationId xmlns:a16="http://schemas.microsoft.com/office/drawing/2014/main" id="{01DB7D6E-0BF9-80C0-8417-B287BF5DC8C7}"/>
              </a:ext>
            </a:extLst>
          </p:cNvPr>
          <p:cNvSpPr txBox="1"/>
          <p:nvPr/>
        </p:nvSpPr>
        <p:spPr>
          <a:xfrm>
            <a:off x="491611" y="3429000"/>
            <a:ext cx="11228439" cy="1477328"/>
          </a:xfrm>
          <a:prstGeom prst="rect">
            <a:avLst/>
          </a:prstGeom>
          <a:solidFill>
            <a:schemeClr val="accent4">
              <a:lumMod val="20000"/>
              <a:lumOff val="80000"/>
            </a:schemeClr>
          </a:solidFill>
          <a:ln>
            <a:solidFill>
              <a:schemeClr val="accent1"/>
            </a:solidFill>
          </a:ln>
        </p:spPr>
        <p:txBody>
          <a:bodyPr wrap="square">
            <a:spAutoFit/>
          </a:bodyPr>
          <a:lstStyle/>
          <a:p>
            <a:r>
              <a:rPr lang="en-IN" sz="1800" dirty="0">
                <a:effectLst/>
                <a:latin typeface="Cambria" panose="02040503050406030204" pitchFamily="18" charset="0"/>
                <a:ea typeface="Cambria" panose="02040503050406030204" pitchFamily="18" charset="0"/>
              </a:rPr>
              <a:t>Data science use cases demonstrate the practical impact of data-driven decision-making across various industries. By applying statistical analysis, machine learning, and big data technologies, organizations can solve complex problems, improve efficiency, and create innovative solutions. As data continues to grow, data science use cases will expand further, playing an increasingly important role in shaping the future of technology and business.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85886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4757</TotalTime>
  <Words>5370</Words>
  <Application>Microsoft Office PowerPoint</Application>
  <PresentationFormat>Widescreen</PresentationFormat>
  <Paragraphs>683</Paragraphs>
  <Slides>49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Aptos</vt:lpstr>
      <vt:lpstr>Aptos Display</vt:lpstr>
      <vt:lpstr>Arial</vt:lpstr>
      <vt:lpstr>Cambria</vt:lpstr>
      <vt:lpstr>Symbol</vt:lpstr>
      <vt:lpstr>Times New Roman</vt:lpstr>
      <vt:lpstr>Office Theme</vt:lpstr>
      <vt:lpstr>Unit 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Sapna Yadav Ph.D. (Commputer Science)</dc:creator>
  <cp:lastModifiedBy>Sapna Yadav Ph.D. (Commputer Science)</cp:lastModifiedBy>
  <cp:revision>8</cp:revision>
  <dcterms:created xsi:type="dcterms:W3CDTF">2025-12-12T05:49:11Z</dcterms:created>
  <dcterms:modified xsi:type="dcterms:W3CDTF">2025-12-24T06:08:10Z</dcterms:modified>
</cp:coreProperties>
</file>