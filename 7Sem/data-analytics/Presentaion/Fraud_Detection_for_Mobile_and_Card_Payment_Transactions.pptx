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1" r:id="rId6"/>
    <p:sldId id="273" r:id="rId7"/>
    <p:sldId id="267" r:id="rId8"/>
    <p:sldId id="260" r:id="rId9"/>
    <p:sldId id="268" r:id="rId10"/>
    <p:sldId id="266" r:id="rId11"/>
    <p:sldId id="262" r:id="rId12"/>
    <p:sldId id="270" r:id="rId13"/>
    <p:sldId id="269" r:id="rId14"/>
    <p:sldId id="271" r:id="rId15"/>
    <p:sldId id="272" r:id="rId16"/>
    <p:sldId id="263" r:id="rId17"/>
    <p:sldId id="264" r:id="rId18"/>
    <p:sldId id="265" r:id="rId19"/>
  </p:sldIdLst>
  <p:sldSz cx="14630400" cy="8229600"/>
  <p:notesSz cx="8229600" cy="14630400"/>
  <p:embeddedFontLst>
    <p:embeddedFont>
      <p:font typeface="Consolas" panose="020B0609020204030204" pitchFamily="49" charset="0"/>
      <p:regular r:id="rId21"/>
      <p:bold r:id="rId22"/>
      <p:italic r:id="rId23"/>
      <p:boldItalic r:id="rId24"/>
    </p:embeddedFont>
    <p:embeddedFont>
      <p:font typeface="Fraunces Extra Bold" panose="020B0604020202020204" charset="0"/>
      <p:regular r:id="rId25"/>
    </p:embeddedFont>
    <p:embeddedFont>
      <p:font typeface="Nobile" panose="020B060402020202020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271" autoAdjust="0"/>
    <p:restoredTop sz="94610"/>
  </p:normalViewPr>
  <p:slideViewPr>
    <p:cSldViewPr snapToGrid="0" snapToObjects="1">
      <p:cViewPr>
        <p:scale>
          <a:sx n="50" d="100"/>
          <a:sy n="50" d="100"/>
        </p:scale>
        <p:origin x="2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88300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49EF8-F495-7721-9D25-4509C7364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13C2CB-FA83-249F-D099-F50779C9AB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B67FA6-8DF7-BF3A-EC92-84029D4B4E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B9017D-46B5-0748-6470-E9C42A8D55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3907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8033FB-3C5B-F980-DD85-E7F10CB8E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8495AC-EB4F-ED65-EF58-5FD485ACC0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B202F9-8E80-ABA1-FD96-38AA408B1F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F4CA6E-A5BB-0C9E-BAA8-5B46BDE896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217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9F3E90-65CE-B0C7-55F8-E61932940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367AA1-47D7-EB28-441A-C5B680AF51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47321E-48BA-21F4-32B6-E16BBC5D14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A30273-BE14-BDFC-046A-086C3203AC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5393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3569D-1ABA-E267-3696-7DD4948E6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248434-F9DB-BA2F-5EB3-79BF228B90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F39919-40AA-4716-079A-AB6E77955B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31D7C2-D5BD-0F90-3A06-9B240686E2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8107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D368F-AA3B-FCCD-ECCE-3BEE90708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C4360E-D975-1910-5554-A208CB5A8A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3FFBDB-23E4-B97B-EBF9-BB841B0DCA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5902C5-4562-A905-14B1-25B4D03724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1051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A4F71-B91C-2C11-2562-8B169962A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9D28BB-167E-A39F-FDD9-733FB7203F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107BCD-5F8B-AC66-CA03-A3F0828115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B50457-3B37-CCB8-09A6-B12049C9BB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4250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26561-5F29-AEE7-0E19-9009E9965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C9B23A-0F6E-C4EB-BC30-120D254170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3A38BC-43FE-424B-E542-8507F62FA9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A43D7F-22F6-19C1-7AA3-DA05DEE3B8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6225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8352A-E00D-B565-5F0E-2F153246D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3827ED-CC13-8AC8-989E-CAB60C8A6F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CADDC3-0D38-0493-B23F-CA324823FB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63C1E1-3DC9-48E9-4D92-0B5076E955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803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hyperlink" Target="https://www.kaggle.com/datasets/mlg-ulb/creditcardfraud" TargetMode="External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sv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Relationship Id="rId9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19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19.png"/><Relationship Id="rId7" Type="http://schemas.openxmlformats.org/officeDocument/2006/relationships/image" Target="../media/image39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37.svg"/><Relationship Id="rId10" Type="http://schemas.openxmlformats.org/officeDocument/2006/relationships/image" Target="../media/image18.png"/><Relationship Id="rId4" Type="http://schemas.openxmlformats.org/officeDocument/2006/relationships/image" Target="../media/image36.png"/><Relationship Id="rId9" Type="http://schemas.openxmlformats.org/officeDocument/2006/relationships/image" Target="../media/image41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4.png"/><Relationship Id="rId5" Type="http://schemas.openxmlformats.org/officeDocument/2006/relationships/image" Target="../media/image18.png"/><Relationship Id="rId4" Type="http://schemas.openxmlformats.org/officeDocument/2006/relationships/image" Target="../media/image43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7.png"/><Relationship Id="rId4" Type="http://schemas.openxmlformats.org/officeDocument/2006/relationships/image" Target="../media/image4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5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8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sv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7.svg"/><Relationship Id="rId11" Type="http://schemas.openxmlformats.org/officeDocument/2006/relationships/image" Target="../media/image18.png"/><Relationship Id="rId5" Type="http://schemas.openxmlformats.org/officeDocument/2006/relationships/image" Target="../media/image56.png"/><Relationship Id="rId10" Type="http://schemas.openxmlformats.org/officeDocument/2006/relationships/image" Target="../media/image61.svg"/><Relationship Id="rId4" Type="http://schemas.openxmlformats.org/officeDocument/2006/relationships/image" Target="../media/image55.svg"/><Relationship Id="rId9" Type="http://schemas.openxmlformats.org/officeDocument/2006/relationships/image" Target="../media/image6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381012"/>
            <a:ext cx="7556421" cy="1860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Fraud Detection for Mobile and Card Payment Transactions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93790" y="4320540"/>
            <a:ext cx="4731068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 Machine Learning Case Study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793790" y="4990267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By: 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Ishaan Jain – 06117702722 (CSE B)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Archita Sinha – 09117702722 (CSE B)</a:t>
            </a:r>
            <a:endParaRPr lang="en-US" sz="1550" b="1" dirty="0"/>
          </a:p>
        </p:txBody>
      </p:sp>
      <p:sp>
        <p:nvSpPr>
          <p:cNvPr id="6" name="Text 3"/>
          <p:cNvSpPr/>
          <p:nvPr/>
        </p:nvSpPr>
        <p:spPr>
          <a:xfrm>
            <a:off x="793790" y="6280350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Subject: Machine Learning and Data Analytics</a:t>
            </a:r>
            <a:endParaRPr lang="en-US" sz="155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362" y="732353"/>
            <a:ext cx="7524512" cy="3807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The Growing Need for Advanced Fraud Detection</a:t>
            </a:r>
            <a:endParaRPr lang="en-US" sz="2350" dirty="0"/>
          </a:p>
        </p:txBody>
      </p:sp>
      <p:sp>
        <p:nvSpPr>
          <p:cNvPr id="4" name="Text 1"/>
          <p:cNvSpPr/>
          <p:nvPr/>
        </p:nvSpPr>
        <p:spPr>
          <a:xfrm>
            <a:off x="609362" y="1341596"/>
            <a:ext cx="792527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rapid expansion of online and mobile payments has unfortunately fueled a surge in sophisticated fraudulent activities. Financial institutions face an immense challenge in combating these evolving threats.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609362" y="2000607"/>
            <a:ext cx="7925276" cy="1730693"/>
          </a:xfrm>
          <a:prstGeom prst="roundRect">
            <a:avLst>
              <a:gd name="adj" fmla="val 7922"/>
            </a:avLst>
          </a:prstGeom>
          <a:solidFill>
            <a:srgbClr val="E8F3E8"/>
          </a:solidFill>
          <a:ln/>
        </p:spPr>
      </p:sp>
      <p:sp>
        <p:nvSpPr>
          <p:cNvPr id="6" name="Shape 3"/>
          <p:cNvSpPr/>
          <p:nvPr/>
        </p:nvSpPr>
        <p:spPr>
          <a:xfrm>
            <a:off x="761643" y="2152888"/>
            <a:ext cx="456962" cy="456962"/>
          </a:xfrm>
          <a:prstGeom prst="roundRect">
            <a:avLst>
              <a:gd name="adj" fmla="val 20008416"/>
            </a:avLst>
          </a:prstGeom>
          <a:solidFill>
            <a:srgbClr val="438951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7254" y="2278499"/>
            <a:ext cx="205621" cy="20562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61643" y="2762131"/>
            <a:ext cx="2334578" cy="237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Escalating Digital Fraud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761643" y="3091339"/>
            <a:ext cx="762071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Digital transactions create countless opportunities for fraudsters, with global losses projected to exceed </a:t>
            </a:r>
            <a:r>
              <a:rPr lang="en-US" sz="1150" dirty="0">
                <a:solidFill>
                  <a:srgbClr val="438951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$400 billion by 2030</a:t>
            </a: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609362" y="3883581"/>
            <a:ext cx="7925276" cy="1730693"/>
          </a:xfrm>
          <a:prstGeom prst="roundRect">
            <a:avLst>
              <a:gd name="adj" fmla="val 7922"/>
            </a:avLst>
          </a:prstGeom>
          <a:solidFill>
            <a:srgbClr val="E8F3E8"/>
          </a:solidFill>
          <a:ln/>
        </p:spPr>
      </p:sp>
      <p:sp>
        <p:nvSpPr>
          <p:cNvPr id="11" name="Shape 7"/>
          <p:cNvSpPr/>
          <p:nvPr/>
        </p:nvSpPr>
        <p:spPr>
          <a:xfrm>
            <a:off x="761643" y="4035862"/>
            <a:ext cx="456962" cy="456962"/>
          </a:xfrm>
          <a:prstGeom prst="roundRect">
            <a:avLst>
              <a:gd name="adj" fmla="val 20008416"/>
            </a:avLst>
          </a:prstGeom>
          <a:solidFill>
            <a:srgbClr val="438951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7254" y="4161472"/>
            <a:ext cx="205621" cy="20562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61643" y="4645104"/>
            <a:ext cx="3358039" cy="237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Limitations of Traditional Systems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761643" y="4974312"/>
            <a:ext cx="762071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Static, rule-based systems struggle to adapt to new schemes, leading to high false positives and missed complex fraud patterns.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609362" y="5766554"/>
            <a:ext cx="7925276" cy="1730693"/>
          </a:xfrm>
          <a:prstGeom prst="roundRect">
            <a:avLst>
              <a:gd name="adj" fmla="val 7922"/>
            </a:avLst>
          </a:prstGeom>
          <a:solidFill>
            <a:srgbClr val="E8F3E8"/>
          </a:solidFill>
          <a:ln/>
        </p:spPr>
      </p:sp>
      <p:sp>
        <p:nvSpPr>
          <p:cNvPr id="16" name="Shape 11"/>
          <p:cNvSpPr/>
          <p:nvPr/>
        </p:nvSpPr>
        <p:spPr>
          <a:xfrm>
            <a:off x="761643" y="5918835"/>
            <a:ext cx="456962" cy="456962"/>
          </a:xfrm>
          <a:prstGeom prst="roundRect">
            <a:avLst>
              <a:gd name="adj" fmla="val 20008416"/>
            </a:avLst>
          </a:prstGeom>
          <a:solidFill>
            <a:srgbClr val="438951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87254" y="6044446"/>
            <a:ext cx="205621" cy="20562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61643" y="6528078"/>
            <a:ext cx="3980617" cy="237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Machine Learning: The Adaptive Solution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761643" y="6857286"/>
            <a:ext cx="762071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ML offers a powerful way to automatically identify subtle, unusual patterns and complex, hidden relationships within vast transaction data.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577810"/>
            <a:ext cx="411230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Section 1: Defining the Challenge</a:t>
            </a:r>
            <a:endParaRPr lang="en-US" sz="1950" dirty="0"/>
          </a:p>
        </p:txBody>
      </p:sp>
      <p:sp>
        <p:nvSpPr>
          <p:cNvPr id="4" name="Text 1"/>
          <p:cNvSpPr/>
          <p:nvPr/>
        </p:nvSpPr>
        <p:spPr>
          <a:xfrm>
            <a:off x="793790" y="967264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Problem Statement: Moving Beyond Static Rules</a:t>
            </a:r>
            <a:endParaRPr lang="en-US" sz="3900" dirty="0"/>
          </a:p>
        </p:txBody>
      </p:sp>
      <p:sp>
        <p:nvSpPr>
          <p:cNvPr id="5" name="Text 2"/>
          <p:cNvSpPr/>
          <p:nvPr/>
        </p:nvSpPr>
        <p:spPr>
          <a:xfrm>
            <a:off x="793790" y="2505075"/>
            <a:ext cx="7556421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Traditional fraud detection systems depend on fixed, rule-based logic (e.g., blocking transactions above a certain limit or from specific locations). But fraudsters constantly change their strategies and adapt their techniques, making static rules increasingly ineffective and prone to being bypassed.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793790" y="3998476"/>
            <a:ext cx="7556421" cy="1568648"/>
          </a:xfrm>
          <a:prstGeom prst="roundRect">
            <a:avLst>
              <a:gd name="adj" fmla="val 6995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70930" y="3998476"/>
            <a:ext cx="91440" cy="1568648"/>
          </a:xfrm>
          <a:prstGeom prst="roundRect">
            <a:avLst>
              <a:gd name="adj" fmla="val 195349"/>
            </a:avLst>
          </a:prstGeom>
          <a:solidFill>
            <a:srgbClr val="438951"/>
          </a:solidFill>
          <a:ln/>
        </p:spPr>
      </p:sp>
      <p:sp>
        <p:nvSpPr>
          <p:cNvPr id="8" name="Text 5"/>
          <p:cNvSpPr/>
          <p:nvPr/>
        </p:nvSpPr>
        <p:spPr>
          <a:xfrm>
            <a:off x="1083588" y="4219694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The Key Challenge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1083588" y="4710827"/>
            <a:ext cx="704540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Identify fraudulent transactions hidden among millions of legitimate ones, in real-time, with minimal false alarms (false positives).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793790" y="5765483"/>
            <a:ext cx="7556421" cy="1886188"/>
          </a:xfrm>
          <a:prstGeom prst="roundRect">
            <a:avLst>
              <a:gd name="adj" fmla="val 5817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70930" y="5765483"/>
            <a:ext cx="91440" cy="1886188"/>
          </a:xfrm>
          <a:prstGeom prst="roundRect">
            <a:avLst>
              <a:gd name="adj" fmla="val 195349"/>
            </a:avLst>
          </a:prstGeom>
          <a:solidFill>
            <a:srgbClr val="438951"/>
          </a:solidFill>
          <a:ln/>
        </p:spPr>
      </p:sp>
      <p:sp>
        <p:nvSpPr>
          <p:cNvPr id="12" name="Text 9"/>
          <p:cNvSpPr/>
          <p:nvPr/>
        </p:nvSpPr>
        <p:spPr>
          <a:xfrm>
            <a:off x="1083588" y="5986701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ML Solution Goal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1083588" y="6477833"/>
            <a:ext cx="7045404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Develop a predictive model that can analyze complex transaction data, learn patterns of normal and abnormal behavior, and predict whether a transaction is fraudulent before it completes.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07100"/>
            <a:ext cx="343590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Section 2: Data Exploration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93790" y="926544"/>
            <a:ext cx="8232338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Dataset and Feature Engineering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793790" y="1695926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This case study utilized a public Credit Card Fraud Detection dataset (e.g., Kaggle European Card Transaction data), which contained over 280,000 transactions.</a:t>
            </a:r>
          </a:p>
          <a:p>
            <a:pPr>
              <a:lnSpc>
                <a:spcPts val="2500"/>
              </a:lnSpc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</a:rPr>
              <a:t>Dataset Link:- </a:t>
            </a:r>
            <a:r>
              <a:rPr lang="en-US" sz="1550" dirty="0">
                <a:solidFill>
                  <a:srgbClr val="405449"/>
                </a:solidFill>
                <a:latin typeface="Nobile" pitchFamily="34" charset="0"/>
                <a:hlinkClick r:id="rId3"/>
              </a:rPr>
              <a:t>https://www.kaggle.com/datasets/mlg-ulb/creditcardfraud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93790" y="3070265"/>
            <a:ext cx="4215289" cy="3168253"/>
          </a:xfrm>
          <a:prstGeom prst="roundRect">
            <a:avLst>
              <a:gd name="adj" fmla="val 3463"/>
            </a:avLst>
          </a:prstGeom>
          <a:solidFill>
            <a:srgbClr val="FAFFFA"/>
          </a:solidFill>
          <a:ln/>
        </p:spPr>
      </p:sp>
      <p:sp>
        <p:nvSpPr>
          <p:cNvPr id="6" name="Shape 4"/>
          <p:cNvSpPr/>
          <p:nvPr/>
        </p:nvSpPr>
        <p:spPr>
          <a:xfrm>
            <a:off x="793790" y="3047405"/>
            <a:ext cx="4215289" cy="91440"/>
          </a:xfrm>
          <a:prstGeom prst="roundRect">
            <a:avLst>
              <a:gd name="adj" fmla="val 195349"/>
            </a:avLst>
          </a:prstGeom>
          <a:solidFill>
            <a:srgbClr val="438951"/>
          </a:solidFill>
          <a:ln/>
        </p:spPr>
      </p:sp>
      <p:sp>
        <p:nvSpPr>
          <p:cNvPr id="7" name="Shape 5"/>
          <p:cNvSpPr/>
          <p:nvPr/>
        </p:nvSpPr>
        <p:spPr>
          <a:xfrm>
            <a:off x="2603778" y="2772608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438951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82372" y="2951202"/>
            <a:ext cx="238125" cy="23812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15008" y="3566398"/>
            <a:ext cx="352734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Severe Class Imbalance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1015008" y="4057531"/>
            <a:ext cx="377285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Only </a:t>
            </a:r>
            <a:r>
              <a:rPr lang="en-US" sz="1550" dirty="0">
                <a:solidFill>
                  <a:srgbClr val="438951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492 transactions (0.17%)</a:t>
            </a: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were fraudulent. This high imbalance is the primary challenge in modeling.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5207437" y="3070265"/>
            <a:ext cx="4215408" cy="3168253"/>
          </a:xfrm>
          <a:prstGeom prst="roundRect">
            <a:avLst>
              <a:gd name="adj" fmla="val 3463"/>
            </a:avLst>
          </a:prstGeom>
          <a:solidFill>
            <a:srgbClr val="FAFFFA"/>
          </a:solidFill>
          <a:ln/>
        </p:spPr>
      </p:sp>
      <p:sp>
        <p:nvSpPr>
          <p:cNvPr id="12" name="Shape 9"/>
          <p:cNvSpPr/>
          <p:nvPr/>
        </p:nvSpPr>
        <p:spPr>
          <a:xfrm>
            <a:off x="5207437" y="3047405"/>
            <a:ext cx="4215408" cy="91440"/>
          </a:xfrm>
          <a:prstGeom prst="roundRect">
            <a:avLst>
              <a:gd name="adj" fmla="val 195349"/>
            </a:avLst>
          </a:prstGeom>
          <a:solidFill>
            <a:srgbClr val="438951"/>
          </a:solidFill>
          <a:ln/>
        </p:spPr>
      </p:sp>
      <p:sp>
        <p:nvSpPr>
          <p:cNvPr id="13" name="Shape 10"/>
          <p:cNvSpPr/>
          <p:nvPr/>
        </p:nvSpPr>
        <p:spPr>
          <a:xfrm>
            <a:off x="7017425" y="2772608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438951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96018" y="2951202"/>
            <a:ext cx="238125" cy="23812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28655" y="3566398"/>
            <a:ext cx="3772972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PCA-Transformed Features</a:t>
            </a:r>
            <a:endParaRPr lang="en-US" sz="2300" dirty="0"/>
          </a:p>
        </p:txBody>
      </p:sp>
      <p:sp>
        <p:nvSpPr>
          <p:cNvPr id="16" name="Text 12"/>
          <p:cNvSpPr/>
          <p:nvPr/>
        </p:nvSpPr>
        <p:spPr>
          <a:xfrm>
            <a:off x="5428655" y="4429601"/>
            <a:ext cx="3772972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Features </a:t>
            </a:r>
            <a:r>
              <a:rPr lang="en-US" sz="15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V1 through V28</a:t>
            </a: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are anonymized using Principal Component Analysis (PCA) to protect privacy, representing hidden patterns in user behavior.</a:t>
            </a:r>
            <a:endParaRPr lang="en-US" sz="1550" dirty="0"/>
          </a:p>
        </p:txBody>
      </p:sp>
      <p:sp>
        <p:nvSpPr>
          <p:cNvPr id="17" name="Shape 13"/>
          <p:cNvSpPr/>
          <p:nvPr/>
        </p:nvSpPr>
        <p:spPr>
          <a:xfrm>
            <a:off x="9621203" y="3070265"/>
            <a:ext cx="4215289" cy="3168253"/>
          </a:xfrm>
          <a:prstGeom prst="roundRect">
            <a:avLst>
              <a:gd name="adj" fmla="val 3463"/>
            </a:avLst>
          </a:prstGeom>
          <a:solidFill>
            <a:srgbClr val="FAFFFA"/>
          </a:solidFill>
          <a:ln/>
        </p:spPr>
      </p:sp>
      <p:sp>
        <p:nvSpPr>
          <p:cNvPr id="18" name="Shape 14"/>
          <p:cNvSpPr/>
          <p:nvPr/>
        </p:nvSpPr>
        <p:spPr>
          <a:xfrm>
            <a:off x="9621203" y="3047405"/>
            <a:ext cx="4215289" cy="91440"/>
          </a:xfrm>
          <a:prstGeom prst="roundRect">
            <a:avLst>
              <a:gd name="adj" fmla="val 195349"/>
            </a:avLst>
          </a:prstGeom>
          <a:solidFill>
            <a:srgbClr val="438951"/>
          </a:solidFill>
          <a:ln/>
        </p:spPr>
      </p:sp>
      <p:sp>
        <p:nvSpPr>
          <p:cNvPr id="19" name="Shape 15"/>
          <p:cNvSpPr/>
          <p:nvPr/>
        </p:nvSpPr>
        <p:spPr>
          <a:xfrm>
            <a:off x="11431191" y="2772608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438951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609784" y="2951202"/>
            <a:ext cx="238125" cy="23812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842421" y="356639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Time and Amount</a:t>
            </a:r>
            <a:endParaRPr lang="en-US" sz="2300" dirty="0"/>
          </a:p>
        </p:txBody>
      </p:sp>
      <p:sp>
        <p:nvSpPr>
          <p:cNvPr id="22" name="Text 17"/>
          <p:cNvSpPr/>
          <p:nvPr/>
        </p:nvSpPr>
        <p:spPr>
          <a:xfrm>
            <a:off x="9842421" y="4057531"/>
            <a:ext cx="3772853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Time</a:t>
            </a: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(seconds elapsed since the first transaction) and </a:t>
            </a:r>
            <a:r>
              <a:rPr lang="en-US" sz="15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Amount</a:t>
            </a: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(transaction value) are the only raw, non-PCA features.</a:t>
            </a:r>
            <a:endParaRPr lang="en-US" sz="1550" dirty="0"/>
          </a:p>
        </p:txBody>
      </p:sp>
      <p:sp>
        <p:nvSpPr>
          <p:cNvPr id="23" name="Shape 18"/>
          <p:cNvSpPr/>
          <p:nvPr/>
        </p:nvSpPr>
        <p:spPr>
          <a:xfrm>
            <a:off x="793790" y="6461760"/>
            <a:ext cx="13042821" cy="1160740"/>
          </a:xfrm>
          <a:prstGeom prst="roundRect">
            <a:avLst>
              <a:gd name="adj" fmla="val 15389"/>
            </a:avLst>
          </a:prstGeom>
          <a:solidFill>
            <a:srgbClr val="CCE6D1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2148" y="6749415"/>
            <a:ext cx="248007" cy="19835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438513" y="6709648"/>
            <a:ext cx="1219973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extreme class imbalance dictates that standard accuracy metrics are unreliable; the model must be evaluated on its ability to detect the minority class.</a:t>
            </a:r>
            <a:endParaRPr lang="en-US" sz="155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6211FF5A-EA03-A6E1-CAD1-C3E352F8CE5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681693" y="7800915"/>
            <a:ext cx="1867161" cy="42868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104334" y="374178"/>
            <a:ext cx="7470696" cy="482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32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Exploratory Data Analysis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6104334" y="1443395"/>
            <a:ext cx="7908131" cy="494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104334" y="1304914"/>
            <a:ext cx="7689414" cy="2606446"/>
          </a:xfrm>
          <a:prstGeom prst="roundRect">
            <a:avLst>
              <a:gd name="adj" fmla="val 12395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7" name="Shape 13"/>
          <p:cNvSpPr/>
          <p:nvPr/>
        </p:nvSpPr>
        <p:spPr>
          <a:xfrm>
            <a:off x="5885615" y="1127325"/>
            <a:ext cx="7908131" cy="22860"/>
          </a:xfrm>
          <a:prstGeom prst="roundRect">
            <a:avLst>
              <a:gd name="adj" fmla="val 608268"/>
            </a:avLst>
          </a:prstGeom>
          <a:solidFill>
            <a:srgbClr val="CED9CE"/>
          </a:solidFill>
          <a:ln/>
        </p:spPr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5ABEA5EB-CE6D-D2BC-8C7A-9930649913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63238" y="7803832"/>
            <a:ext cx="1867161" cy="359599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82867E1-6062-32C3-84EE-A23AA71C060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982" t="12719" r="65461" b="9210"/>
          <a:stretch>
            <a:fillRect/>
          </a:stretch>
        </p:blipFill>
        <p:spPr>
          <a:xfrm>
            <a:off x="441405" y="1366948"/>
            <a:ext cx="4617018" cy="6414024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8385E7D0-D64B-FFE1-B1AD-53253C6DCEB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018" t="55965" r="37499" b="30965"/>
          <a:stretch>
            <a:fillRect/>
          </a:stretch>
        </p:blipFill>
        <p:spPr>
          <a:xfrm>
            <a:off x="6748200" y="1489962"/>
            <a:ext cx="6620395" cy="194836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35" name="Shape 4">
            <a:extLst>
              <a:ext uri="{FF2B5EF4-FFF2-40B4-BE49-F238E27FC236}">
                <a16:creationId xmlns:a16="http://schemas.microsoft.com/office/drawing/2014/main" id="{85ED2CA6-F1EE-B2FB-B6D4-EF4248BF056A}"/>
              </a:ext>
            </a:extLst>
          </p:cNvPr>
          <p:cNvSpPr/>
          <p:nvPr/>
        </p:nvSpPr>
        <p:spPr>
          <a:xfrm>
            <a:off x="5622510" y="4265211"/>
            <a:ext cx="8902011" cy="3042723"/>
          </a:xfrm>
          <a:prstGeom prst="roundRect">
            <a:avLst>
              <a:gd name="adj" fmla="val 12395"/>
            </a:avLst>
          </a:prstGeom>
          <a:solidFill>
            <a:srgbClr val="E8F3E8"/>
          </a:solidFill>
          <a:ln/>
        </p:spPr>
        <p:txBody>
          <a:bodyPr/>
          <a:lstStyle/>
          <a:p>
            <a:r>
              <a:rPr lang="en-IN" dirty="0"/>
              <a:t>S</a:t>
            </a:r>
          </a:p>
        </p:txBody>
      </p:sp>
      <p:sp>
        <p:nvSpPr>
          <p:cNvPr id="36" name="Shape 13">
            <a:extLst>
              <a:ext uri="{FF2B5EF4-FFF2-40B4-BE49-F238E27FC236}">
                <a16:creationId xmlns:a16="http://schemas.microsoft.com/office/drawing/2014/main" id="{8AA8F97B-A279-58F0-B6C3-19B2E04BC648}"/>
              </a:ext>
            </a:extLst>
          </p:cNvPr>
          <p:cNvSpPr/>
          <p:nvPr/>
        </p:nvSpPr>
        <p:spPr>
          <a:xfrm>
            <a:off x="5885617" y="4121015"/>
            <a:ext cx="7908131" cy="22860"/>
          </a:xfrm>
          <a:prstGeom prst="roundRect">
            <a:avLst>
              <a:gd name="adj" fmla="val 608268"/>
            </a:avLst>
          </a:prstGeom>
          <a:solidFill>
            <a:srgbClr val="CED9CE"/>
          </a:solidFill>
          <a:ln/>
        </p:spPr>
      </p:sp>
      <p:sp>
        <p:nvSpPr>
          <p:cNvPr id="37" name="Shape 18">
            <a:extLst>
              <a:ext uri="{FF2B5EF4-FFF2-40B4-BE49-F238E27FC236}">
                <a16:creationId xmlns:a16="http://schemas.microsoft.com/office/drawing/2014/main" id="{A3CDCBC2-D96B-6069-4149-CCF9A73EC414}"/>
              </a:ext>
            </a:extLst>
          </p:cNvPr>
          <p:cNvSpPr/>
          <p:nvPr/>
        </p:nvSpPr>
        <p:spPr>
          <a:xfrm>
            <a:off x="5885617" y="7780972"/>
            <a:ext cx="7908131" cy="22860"/>
          </a:xfrm>
          <a:prstGeom prst="roundRect">
            <a:avLst>
              <a:gd name="adj" fmla="val 608268"/>
            </a:avLst>
          </a:prstGeom>
          <a:solidFill>
            <a:srgbClr val="CED9CE"/>
          </a:solidFill>
          <a:ln/>
        </p:spPr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76E2D42-755F-D9D0-ECBE-8685B8E547C6}"/>
              </a:ext>
            </a:extLst>
          </p:cNvPr>
          <p:cNvSpPr txBox="1"/>
          <p:nvPr/>
        </p:nvSpPr>
        <p:spPr>
          <a:xfrm>
            <a:off x="8433061" y="3501771"/>
            <a:ext cx="3031958" cy="383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Reading the  Data</a:t>
            </a:r>
            <a:endParaRPr lang="en-US" sz="18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119F7B6-5CBE-65DD-4DB5-979648329BA3}"/>
              </a:ext>
            </a:extLst>
          </p:cNvPr>
          <p:cNvSpPr txBox="1"/>
          <p:nvPr/>
        </p:nvSpPr>
        <p:spPr>
          <a:xfrm>
            <a:off x="8542419" y="6553089"/>
            <a:ext cx="3031958" cy="383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Data Description</a:t>
            </a:r>
            <a:endParaRPr lang="en-US" sz="1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DB896C-FBDA-DA64-F5EA-51E2D563729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017" t="37483" r="8626" b="44011"/>
          <a:stretch>
            <a:fillRect/>
          </a:stretch>
        </p:blipFill>
        <p:spPr>
          <a:xfrm>
            <a:off x="6285297" y="4629901"/>
            <a:ext cx="8004504" cy="180185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A3D68-F514-E547-F87C-A4C4A17D9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B012B1F3-5EEC-2B81-E30E-5F2DCC7D23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DD05B444-D8F1-1878-6493-EB8096F4E8ED}"/>
              </a:ext>
            </a:extLst>
          </p:cNvPr>
          <p:cNvSpPr/>
          <p:nvPr/>
        </p:nvSpPr>
        <p:spPr>
          <a:xfrm>
            <a:off x="6104334" y="374178"/>
            <a:ext cx="7470696" cy="482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32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Exploratory Data Analysis</a:t>
            </a:r>
            <a:endParaRPr lang="en-US" sz="32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4FB09705-4ADB-E770-F5E1-E7E57918B378}"/>
              </a:ext>
            </a:extLst>
          </p:cNvPr>
          <p:cNvSpPr/>
          <p:nvPr/>
        </p:nvSpPr>
        <p:spPr>
          <a:xfrm>
            <a:off x="6104334" y="1443395"/>
            <a:ext cx="7908131" cy="494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endParaRPr lang="en-US" sz="12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3B9D766D-5C9D-7D38-9465-451124EF2D45}"/>
              </a:ext>
            </a:extLst>
          </p:cNvPr>
          <p:cNvSpPr/>
          <p:nvPr/>
        </p:nvSpPr>
        <p:spPr>
          <a:xfrm>
            <a:off x="6104334" y="1573780"/>
            <a:ext cx="7798772" cy="5735704"/>
          </a:xfrm>
          <a:prstGeom prst="roundRect">
            <a:avLst>
              <a:gd name="adj" fmla="val 12395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E22D96FC-423B-4DB3-DA99-1786DC55A292}"/>
              </a:ext>
            </a:extLst>
          </p:cNvPr>
          <p:cNvSpPr/>
          <p:nvPr/>
        </p:nvSpPr>
        <p:spPr>
          <a:xfrm>
            <a:off x="5885616" y="1420535"/>
            <a:ext cx="7908131" cy="22860"/>
          </a:xfrm>
          <a:prstGeom prst="roundRect">
            <a:avLst>
              <a:gd name="adj" fmla="val 608268"/>
            </a:avLst>
          </a:prstGeom>
          <a:solidFill>
            <a:srgbClr val="CED9CE"/>
          </a:solidFill>
          <a:ln/>
        </p:spPr>
      </p:sp>
      <p:sp>
        <p:nvSpPr>
          <p:cNvPr id="23" name="Shape 18">
            <a:extLst>
              <a:ext uri="{FF2B5EF4-FFF2-40B4-BE49-F238E27FC236}">
                <a16:creationId xmlns:a16="http://schemas.microsoft.com/office/drawing/2014/main" id="{F798BECB-CB87-F560-E5EE-7248ADB45061}"/>
              </a:ext>
            </a:extLst>
          </p:cNvPr>
          <p:cNvSpPr/>
          <p:nvPr/>
        </p:nvSpPr>
        <p:spPr>
          <a:xfrm>
            <a:off x="5994975" y="4587840"/>
            <a:ext cx="7908131" cy="22860"/>
          </a:xfrm>
          <a:prstGeom prst="roundRect">
            <a:avLst>
              <a:gd name="adj" fmla="val 608268"/>
            </a:avLst>
          </a:prstGeom>
          <a:solidFill>
            <a:srgbClr val="CED9CE"/>
          </a:solidFill>
          <a:ln/>
        </p:spPr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EEA5612B-C600-12C5-FF21-849F6B3F68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63238" y="7803832"/>
            <a:ext cx="1867161" cy="359599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E805CEAC-1820-8D47-AFE9-C0324CA2EB95}"/>
              </a:ext>
            </a:extLst>
          </p:cNvPr>
          <p:cNvSpPr txBox="1"/>
          <p:nvPr/>
        </p:nvSpPr>
        <p:spPr>
          <a:xfrm>
            <a:off x="8258385" y="7457904"/>
            <a:ext cx="3745493" cy="691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Fraudulent Vs Non- Fraudulent</a:t>
            </a:r>
            <a:endParaRPr lang="en-US" dirty="0"/>
          </a:p>
          <a:p>
            <a:pPr marL="0" indent="0" algn="ctr">
              <a:lnSpc>
                <a:spcPts val="2400"/>
              </a:lnSpc>
              <a:buNone/>
            </a:pPr>
            <a:endParaRPr lang="en-US" sz="1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5FEA12-8F37-895D-A4FA-0947A9EFDA7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2091" t="45085" r="17877" b="35690"/>
          <a:stretch>
            <a:fillRect/>
          </a:stretch>
        </p:blipFill>
        <p:spPr>
          <a:xfrm>
            <a:off x="441390" y="1378207"/>
            <a:ext cx="4690998" cy="199061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7E4EE82-981E-EB03-1D70-E5B277D61CB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1984" t="38309" r="14064" b="27762"/>
          <a:stretch>
            <a:fillRect/>
          </a:stretch>
        </p:blipFill>
        <p:spPr>
          <a:xfrm>
            <a:off x="414867" y="3368820"/>
            <a:ext cx="4717521" cy="306375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D7C81E7-6A86-29A9-389A-F4E30E9E241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54340" t="65850" r="30053" b="15576"/>
          <a:stretch>
            <a:fillRect/>
          </a:stretch>
        </p:blipFill>
        <p:spPr>
          <a:xfrm>
            <a:off x="7499027" y="2395051"/>
            <a:ext cx="5264211" cy="3524172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489145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5E1226-A603-64FC-68E2-910AF6D92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>
            <a:extLst>
              <a:ext uri="{FF2B5EF4-FFF2-40B4-BE49-F238E27FC236}">
                <a16:creationId xmlns:a16="http://schemas.microsoft.com/office/drawing/2014/main" id="{89A5CF77-3ADB-E4D2-C4DA-1DD9EE8C3969}"/>
              </a:ext>
            </a:extLst>
          </p:cNvPr>
          <p:cNvSpPr/>
          <p:nvPr/>
        </p:nvSpPr>
        <p:spPr>
          <a:xfrm>
            <a:off x="6104334" y="374178"/>
            <a:ext cx="7470696" cy="482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32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Exploratory Data Analysis</a:t>
            </a:r>
            <a:endParaRPr lang="en-US" sz="32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281290EF-2705-9DB2-F76D-614543A4FAD1}"/>
              </a:ext>
            </a:extLst>
          </p:cNvPr>
          <p:cNvSpPr/>
          <p:nvPr/>
        </p:nvSpPr>
        <p:spPr>
          <a:xfrm>
            <a:off x="6104334" y="1443395"/>
            <a:ext cx="7908131" cy="494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endParaRPr lang="en-US" sz="1200" dirty="0"/>
          </a:p>
        </p:txBody>
      </p:sp>
      <p:sp>
        <p:nvSpPr>
          <p:cNvPr id="23" name="Shape 18">
            <a:extLst>
              <a:ext uri="{FF2B5EF4-FFF2-40B4-BE49-F238E27FC236}">
                <a16:creationId xmlns:a16="http://schemas.microsoft.com/office/drawing/2014/main" id="{C839A98F-D9DF-6B60-A087-D650EE24B38E}"/>
              </a:ext>
            </a:extLst>
          </p:cNvPr>
          <p:cNvSpPr/>
          <p:nvPr/>
        </p:nvSpPr>
        <p:spPr>
          <a:xfrm>
            <a:off x="5994975" y="4587840"/>
            <a:ext cx="7908131" cy="22860"/>
          </a:xfrm>
          <a:prstGeom prst="roundRect">
            <a:avLst>
              <a:gd name="adj" fmla="val 608268"/>
            </a:avLst>
          </a:prstGeom>
          <a:solidFill>
            <a:srgbClr val="CED9CE"/>
          </a:solidFill>
          <a:ln/>
        </p:spPr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DCF0B795-7174-55A6-2E86-90A90B3043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63238" y="7803832"/>
            <a:ext cx="1867161" cy="359599"/>
          </a:xfrm>
          <a:prstGeom prst="rect">
            <a:avLst/>
          </a:prstGeom>
        </p:spPr>
      </p:pic>
      <p:sp>
        <p:nvSpPr>
          <p:cNvPr id="35" name="Shape 4">
            <a:extLst>
              <a:ext uri="{FF2B5EF4-FFF2-40B4-BE49-F238E27FC236}">
                <a16:creationId xmlns:a16="http://schemas.microsoft.com/office/drawing/2014/main" id="{1CF9BAA1-B5BF-09C7-BCA8-31D8A4F1DDE4}"/>
              </a:ext>
            </a:extLst>
          </p:cNvPr>
          <p:cNvSpPr/>
          <p:nvPr/>
        </p:nvSpPr>
        <p:spPr>
          <a:xfrm>
            <a:off x="553453" y="2030957"/>
            <a:ext cx="13648295" cy="4835198"/>
          </a:xfrm>
          <a:prstGeom prst="roundRect">
            <a:avLst>
              <a:gd name="adj" fmla="val 12395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6" name="Shape 13">
            <a:extLst>
              <a:ext uri="{FF2B5EF4-FFF2-40B4-BE49-F238E27FC236}">
                <a16:creationId xmlns:a16="http://schemas.microsoft.com/office/drawing/2014/main" id="{01954388-5EDF-DEB8-1108-6B1BA657D373}"/>
              </a:ext>
            </a:extLst>
          </p:cNvPr>
          <p:cNvSpPr/>
          <p:nvPr/>
        </p:nvSpPr>
        <p:spPr>
          <a:xfrm flipV="1">
            <a:off x="818148" y="1443395"/>
            <a:ext cx="13383600" cy="45719"/>
          </a:xfrm>
          <a:prstGeom prst="roundRect">
            <a:avLst>
              <a:gd name="adj" fmla="val 608268"/>
            </a:avLst>
          </a:prstGeom>
          <a:solidFill>
            <a:srgbClr val="CED9CE"/>
          </a:solidFill>
          <a:ln/>
        </p:spPr>
      </p:sp>
      <p:sp>
        <p:nvSpPr>
          <p:cNvPr id="3" name="Shape 13">
            <a:extLst>
              <a:ext uri="{FF2B5EF4-FFF2-40B4-BE49-F238E27FC236}">
                <a16:creationId xmlns:a16="http://schemas.microsoft.com/office/drawing/2014/main" id="{9C37A6F5-3474-1623-20EC-D9F9133DAADE}"/>
              </a:ext>
            </a:extLst>
          </p:cNvPr>
          <p:cNvSpPr/>
          <p:nvPr/>
        </p:nvSpPr>
        <p:spPr>
          <a:xfrm flipV="1">
            <a:off x="818148" y="7719818"/>
            <a:ext cx="13383600" cy="45719"/>
          </a:xfrm>
          <a:prstGeom prst="roundRect">
            <a:avLst>
              <a:gd name="adj" fmla="val 608268"/>
            </a:avLst>
          </a:prstGeom>
          <a:solidFill>
            <a:srgbClr val="CED9CE"/>
          </a:solidFill>
          <a:ln/>
        </p:spPr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BDA16EC-57CA-C18F-CA12-FF6CF9F113B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3951" t="65042" r="2383" b="7627"/>
          <a:stretch>
            <a:fillRect/>
          </a:stretch>
        </p:blipFill>
        <p:spPr>
          <a:xfrm>
            <a:off x="1842946" y="2524162"/>
            <a:ext cx="11069308" cy="3897151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0DA0B8F-3350-BBF6-2A24-099C1023F602}"/>
              </a:ext>
            </a:extLst>
          </p:cNvPr>
          <p:cNvSpPr txBox="1"/>
          <p:nvPr/>
        </p:nvSpPr>
        <p:spPr>
          <a:xfrm>
            <a:off x="6411400" y="6914518"/>
            <a:ext cx="2197095" cy="9996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Data Features Visualization</a:t>
            </a:r>
          </a:p>
          <a:p>
            <a:pPr marL="0" indent="0" algn="ctr">
              <a:lnSpc>
                <a:spcPts val="2400"/>
              </a:lnSpc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2866320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7596" y="528995"/>
            <a:ext cx="10052685" cy="599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Preprocessing Steps for Robust Modeling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767596" y="1512332"/>
            <a:ext cx="13095208" cy="614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Before training, the raw data must be cleaned and transformed to ensure the model can generalize effectively and not be biased toward the legitimate majority class.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993476" y="2740344"/>
            <a:ext cx="6163866" cy="191810"/>
          </a:xfrm>
          <a:prstGeom prst="roundRect">
            <a:avLst>
              <a:gd name="adj" fmla="val 90042"/>
            </a:avLst>
          </a:prstGeom>
          <a:solidFill>
            <a:srgbClr val="E8F3E8"/>
          </a:solidFill>
          <a:ln/>
        </p:spPr>
      </p:sp>
      <p:sp>
        <p:nvSpPr>
          <p:cNvPr id="10" name="Shape 7"/>
          <p:cNvSpPr/>
          <p:nvPr/>
        </p:nvSpPr>
        <p:spPr>
          <a:xfrm>
            <a:off x="3705702" y="2548356"/>
            <a:ext cx="575667" cy="575667"/>
          </a:xfrm>
          <a:prstGeom prst="roundRect">
            <a:avLst>
              <a:gd name="adj" fmla="val 79421"/>
            </a:avLst>
          </a:prstGeom>
          <a:solidFill>
            <a:srgbClr val="E8F3E8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52088" y="2687927"/>
            <a:ext cx="287774" cy="28777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281369" y="3161019"/>
            <a:ext cx="2398633" cy="299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Feature Scaling</a:t>
            </a:r>
            <a:endParaRPr lang="en-US" sz="1850" dirty="0"/>
          </a:p>
        </p:txBody>
      </p:sp>
      <p:sp>
        <p:nvSpPr>
          <p:cNvPr id="13" name="Text 9"/>
          <p:cNvSpPr/>
          <p:nvPr/>
        </p:nvSpPr>
        <p:spPr>
          <a:xfrm>
            <a:off x="4281369" y="3575952"/>
            <a:ext cx="6068139" cy="921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Normalized the transaction amounts using a </a:t>
            </a:r>
            <a:r>
              <a:rPr lang="en-US" sz="15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StandardScaler</a:t>
            </a:r>
            <a:r>
              <a:rPr lang="en-US" sz="15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to ensure all features contribute equally to the distance calculation during training.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1055370" y="5597009"/>
            <a:ext cx="6163747" cy="191810"/>
          </a:xfrm>
          <a:prstGeom prst="roundRect">
            <a:avLst>
              <a:gd name="adj" fmla="val 90042"/>
            </a:avLst>
          </a:prstGeom>
          <a:solidFill>
            <a:srgbClr val="E8F3E8"/>
          </a:solidFill>
          <a:ln/>
        </p:spPr>
      </p:sp>
      <p:sp>
        <p:nvSpPr>
          <p:cNvPr id="15" name="Shape 11"/>
          <p:cNvSpPr/>
          <p:nvPr/>
        </p:nvSpPr>
        <p:spPr>
          <a:xfrm>
            <a:off x="767596" y="5405021"/>
            <a:ext cx="575667" cy="575667"/>
          </a:xfrm>
          <a:prstGeom prst="roundRect">
            <a:avLst>
              <a:gd name="adj" fmla="val 79421"/>
            </a:avLst>
          </a:prstGeom>
          <a:solidFill>
            <a:srgbClr val="E8F3E8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1543" y="5548967"/>
            <a:ext cx="287774" cy="28777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59406" y="6172557"/>
            <a:ext cx="2398633" cy="299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Feature Selection</a:t>
            </a:r>
            <a:endParaRPr lang="en-US" sz="1850" dirty="0"/>
          </a:p>
        </p:txBody>
      </p:sp>
      <p:sp>
        <p:nvSpPr>
          <p:cNvPr id="18" name="Text 13"/>
          <p:cNvSpPr/>
          <p:nvPr/>
        </p:nvSpPr>
        <p:spPr>
          <a:xfrm>
            <a:off x="959406" y="6587490"/>
            <a:ext cx="6068020" cy="921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Removed irrelevant columns and used techniques like PCA (already applied to V-features) to manage dimensionality effectively.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7698819" y="5309235"/>
            <a:ext cx="6163866" cy="191810"/>
          </a:xfrm>
          <a:prstGeom prst="roundRect">
            <a:avLst>
              <a:gd name="adj" fmla="val 90042"/>
            </a:avLst>
          </a:prstGeom>
          <a:solidFill>
            <a:srgbClr val="E8F3E8"/>
          </a:solidFill>
          <a:ln/>
        </p:spPr>
      </p:sp>
      <p:sp>
        <p:nvSpPr>
          <p:cNvPr id="20" name="Shape 15"/>
          <p:cNvSpPr/>
          <p:nvPr/>
        </p:nvSpPr>
        <p:spPr>
          <a:xfrm>
            <a:off x="7411045" y="5117247"/>
            <a:ext cx="575667" cy="575667"/>
          </a:xfrm>
          <a:prstGeom prst="roundRect">
            <a:avLst>
              <a:gd name="adj" fmla="val 79421"/>
            </a:avLst>
          </a:prstGeom>
          <a:solidFill>
            <a:srgbClr val="E8F3E8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54992" y="5261193"/>
            <a:ext cx="287774" cy="28777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02855" y="5884783"/>
            <a:ext cx="2398633" cy="299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Train-Test Split</a:t>
            </a:r>
            <a:endParaRPr lang="en-US" sz="1850" dirty="0"/>
          </a:p>
        </p:txBody>
      </p:sp>
      <p:sp>
        <p:nvSpPr>
          <p:cNvPr id="23" name="Text 17"/>
          <p:cNvSpPr/>
          <p:nvPr/>
        </p:nvSpPr>
        <p:spPr>
          <a:xfrm>
            <a:off x="7602855" y="6299716"/>
            <a:ext cx="6068139" cy="614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Divided the dataset into an </a:t>
            </a:r>
            <a:r>
              <a:rPr lang="en-US" sz="15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80% training set</a:t>
            </a:r>
            <a:r>
              <a:rPr lang="en-US" sz="15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and a </a:t>
            </a:r>
            <a:r>
              <a:rPr lang="en-US" sz="15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20% testing set</a:t>
            </a:r>
            <a:r>
              <a:rPr lang="en-US" sz="15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to validate the model's performance on unseen data.</a:t>
            </a:r>
            <a:endParaRPr lang="en-US" sz="15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C6811847-44D1-AB2B-4A28-65B7CD02F78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663149" y="7712511"/>
            <a:ext cx="1867161" cy="42868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4DB70-6D72-9C0F-ABD5-2628B479A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C653A2FD-167F-AAB4-3C0C-4A10E643AB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24560119-4E44-B47E-DE98-C4AFD749340B}"/>
              </a:ext>
            </a:extLst>
          </p:cNvPr>
          <p:cNvSpPr/>
          <p:nvPr/>
        </p:nvSpPr>
        <p:spPr>
          <a:xfrm>
            <a:off x="6104334" y="374178"/>
            <a:ext cx="7470696" cy="482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32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Exploratory Data Analysis</a:t>
            </a:r>
            <a:endParaRPr lang="en-US" sz="32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E09F334B-2801-F7D7-F099-CF34A6C0C879}"/>
              </a:ext>
            </a:extLst>
          </p:cNvPr>
          <p:cNvSpPr/>
          <p:nvPr/>
        </p:nvSpPr>
        <p:spPr>
          <a:xfrm>
            <a:off x="6104334" y="1443395"/>
            <a:ext cx="7908131" cy="494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endParaRPr lang="en-US" sz="1200" dirty="0"/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91D93CE2-8801-0417-79FF-54C0011C3DAF}"/>
              </a:ext>
            </a:extLst>
          </p:cNvPr>
          <p:cNvSpPr/>
          <p:nvPr/>
        </p:nvSpPr>
        <p:spPr>
          <a:xfrm>
            <a:off x="5788687" y="874693"/>
            <a:ext cx="7908131" cy="22860"/>
          </a:xfrm>
          <a:prstGeom prst="roundRect">
            <a:avLst>
              <a:gd name="adj" fmla="val 608268"/>
            </a:avLst>
          </a:prstGeom>
          <a:solidFill>
            <a:srgbClr val="CED9CE"/>
          </a:solidFill>
          <a:ln/>
        </p:spPr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B2D949ED-9122-4262-5DC5-57BCE6268C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63238" y="7803832"/>
            <a:ext cx="1867161" cy="359599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9D8AE0E4-0BC8-47C9-F70D-27977E96B508}"/>
              </a:ext>
            </a:extLst>
          </p:cNvPr>
          <p:cNvSpPr txBox="1"/>
          <p:nvPr/>
        </p:nvSpPr>
        <p:spPr>
          <a:xfrm>
            <a:off x="8959850" y="3291530"/>
            <a:ext cx="2197095" cy="691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Box Plot </a:t>
            </a:r>
            <a:r>
              <a:rPr lang="en-US" sz="18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Visualization</a:t>
            </a:r>
            <a:endParaRPr lang="en-US" sz="18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04453CD-6428-5D29-4855-3262C2AF9BB2}"/>
              </a:ext>
            </a:extLst>
          </p:cNvPr>
          <p:cNvSpPr txBox="1"/>
          <p:nvPr/>
        </p:nvSpPr>
        <p:spPr>
          <a:xfrm>
            <a:off x="643296" y="6618397"/>
            <a:ext cx="3614288" cy="691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Dropping Transaction where Fraudulent Amount is an Outlier</a:t>
            </a:r>
            <a:endParaRPr lang="en-US" sz="18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0FA3641-33D4-301E-C161-A3851155C41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1352" t="10089" r="5717" b="68593"/>
          <a:stretch>
            <a:fillRect/>
          </a:stretch>
        </p:blipFill>
        <p:spPr>
          <a:xfrm>
            <a:off x="232278" y="1264596"/>
            <a:ext cx="4767740" cy="141510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22B871D-83CF-0B49-1510-AB8AD364248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8073" t="33951" r="12762" b="34661"/>
          <a:stretch>
            <a:fillRect/>
          </a:stretch>
        </p:blipFill>
        <p:spPr>
          <a:xfrm>
            <a:off x="8120056" y="944267"/>
            <a:ext cx="3876685" cy="234692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FF9B8DF-F570-FB3D-0869-F550A3D7901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57212" t="29296" r="12762" b="29398"/>
          <a:stretch>
            <a:fillRect/>
          </a:stretch>
        </p:blipFill>
        <p:spPr>
          <a:xfrm>
            <a:off x="232278" y="2679700"/>
            <a:ext cx="4767740" cy="386701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0FBEF34-E2D2-7F82-B8B8-4CB5E30E0071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50000" t="15690" r="15538" b="27219"/>
          <a:stretch>
            <a:fillRect/>
          </a:stretch>
        </p:blipFill>
        <p:spPr>
          <a:xfrm>
            <a:off x="8458747" y="3982617"/>
            <a:ext cx="3199302" cy="298132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5E2D0D1-5FDA-020D-0E1D-1FED82735E74}"/>
              </a:ext>
            </a:extLst>
          </p:cNvPr>
          <p:cNvSpPr txBox="1"/>
          <p:nvPr/>
        </p:nvSpPr>
        <p:spPr>
          <a:xfrm>
            <a:off x="8962464" y="7048663"/>
            <a:ext cx="2197095" cy="691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Testing-Training data split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34924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E0875-6699-1408-C23A-A7C37A547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D5FCF968-D644-88A8-0E28-D2B2AE70BD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CD885C2C-F442-1A02-A9E2-D8EAB4792F00}"/>
              </a:ext>
            </a:extLst>
          </p:cNvPr>
          <p:cNvSpPr/>
          <p:nvPr/>
        </p:nvSpPr>
        <p:spPr>
          <a:xfrm>
            <a:off x="6104334" y="425768"/>
            <a:ext cx="2273379" cy="241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Section 3: Methodology</a:t>
            </a:r>
            <a:endParaRPr lang="en-US" sz="15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6ABABD61-A6E9-4FC8-E41E-D86D5A6D9E53}"/>
              </a:ext>
            </a:extLst>
          </p:cNvPr>
          <p:cNvSpPr/>
          <p:nvPr/>
        </p:nvSpPr>
        <p:spPr>
          <a:xfrm>
            <a:off x="6104334" y="728901"/>
            <a:ext cx="7470696" cy="482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Machine Learning Algorithms Applied</a:t>
            </a:r>
            <a:endParaRPr lang="en-US" sz="30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719CE07F-C9CF-A453-7B49-FB97E5439AE0}"/>
              </a:ext>
            </a:extLst>
          </p:cNvPr>
          <p:cNvSpPr/>
          <p:nvPr/>
        </p:nvSpPr>
        <p:spPr>
          <a:xfrm>
            <a:off x="6104334" y="1443395"/>
            <a:ext cx="7908131" cy="494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 diverse set of classification algorithms were implemented to compare their efficacy in handling highly complex and imbalanced transaction data.</a:t>
            </a:r>
            <a:endParaRPr lang="en-US" sz="1200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0FB2777E-29A9-9E9D-C9E7-8E9CF686EC09}"/>
              </a:ext>
            </a:extLst>
          </p:cNvPr>
          <p:cNvSpPr/>
          <p:nvPr/>
        </p:nvSpPr>
        <p:spPr>
          <a:xfrm>
            <a:off x="6104334" y="2111454"/>
            <a:ext cx="7908131" cy="5692378"/>
          </a:xfrm>
          <a:prstGeom prst="roundRect">
            <a:avLst>
              <a:gd name="adj" fmla="val 2443"/>
            </a:avLst>
          </a:prstGeom>
          <a:solidFill>
            <a:srgbClr val="E8F3E8"/>
          </a:solidFill>
          <a:ln/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AB31BAA7-4DBD-21A6-5C08-8FD39B111A0C}"/>
              </a:ext>
            </a:extLst>
          </p:cNvPr>
          <p:cNvSpPr/>
          <p:nvPr/>
        </p:nvSpPr>
        <p:spPr>
          <a:xfrm>
            <a:off x="6104334" y="2111454"/>
            <a:ext cx="7908131" cy="1121807"/>
          </a:xfrm>
          <a:prstGeom prst="roundRect">
            <a:avLst>
              <a:gd name="adj" fmla="val 12395"/>
            </a:avLst>
          </a:prstGeom>
          <a:solidFill>
            <a:srgbClr val="E8F3E8"/>
          </a:solidFill>
          <a:ln/>
        </p:spPr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9310E86B-B2C6-DFF4-18EF-EB849AE68F2A}"/>
              </a:ext>
            </a:extLst>
          </p:cNvPr>
          <p:cNvSpPr/>
          <p:nvPr/>
        </p:nvSpPr>
        <p:spPr>
          <a:xfrm>
            <a:off x="6258758" y="2265878"/>
            <a:ext cx="1931194" cy="241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Logistic Regression</a:t>
            </a:r>
            <a:endParaRPr lang="en-US" sz="15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5513DF14-4168-0C06-E2E6-3A09FAA88013}"/>
              </a:ext>
            </a:extLst>
          </p:cNvPr>
          <p:cNvSpPr/>
          <p:nvPr/>
        </p:nvSpPr>
        <p:spPr>
          <a:xfrm>
            <a:off x="6258758" y="2599849"/>
            <a:ext cx="7599283" cy="247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Used as a baseline model for probabilistic binary classification. Simple and highly interpretable.</a:t>
            </a:r>
            <a:endParaRPr lang="en-US" sz="120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DE9B4233-E774-1E2D-F957-AC0348472BA5}"/>
              </a:ext>
            </a:extLst>
          </p:cNvPr>
          <p:cNvSpPr/>
          <p:nvPr/>
        </p:nvSpPr>
        <p:spPr>
          <a:xfrm>
            <a:off x="6104334" y="3233261"/>
            <a:ext cx="7908131" cy="1600795"/>
          </a:xfrm>
          <a:prstGeom prst="rect">
            <a:avLst/>
          </a:prstGeom>
          <a:solidFill>
            <a:srgbClr val="E8F3E8"/>
          </a:solidFill>
          <a:ln/>
        </p:spPr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FC710994-6628-5C95-8C32-29417F94BFD4}"/>
              </a:ext>
            </a:extLst>
          </p:cNvPr>
          <p:cNvSpPr/>
          <p:nvPr/>
        </p:nvSpPr>
        <p:spPr>
          <a:xfrm>
            <a:off x="6104334" y="3233261"/>
            <a:ext cx="7908131" cy="22860"/>
          </a:xfrm>
          <a:prstGeom prst="roundRect">
            <a:avLst>
              <a:gd name="adj" fmla="val 608268"/>
            </a:avLst>
          </a:prstGeom>
          <a:solidFill>
            <a:srgbClr val="CED9CE"/>
          </a:solidFill>
          <a:ln/>
        </p:spPr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F0B4BE3D-48B6-2067-A0FB-611806069063}"/>
              </a:ext>
            </a:extLst>
          </p:cNvPr>
          <p:cNvSpPr/>
          <p:nvPr/>
        </p:nvSpPr>
        <p:spPr>
          <a:xfrm>
            <a:off x="9865162" y="3051572"/>
            <a:ext cx="386239" cy="386239"/>
          </a:xfrm>
          <a:prstGeom prst="roundRect">
            <a:avLst>
              <a:gd name="adj" fmla="val 36001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</p:sp>
      <p:pic>
        <p:nvPicPr>
          <p:cNvPr id="13" name="Image 1" descr="preencoded.png">
            <a:extLst>
              <a:ext uri="{FF2B5EF4-FFF2-40B4-BE49-F238E27FC236}">
                <a16:creationId xmlns:a16="http://schemas.microsoft.com/office/drawing/2014/main" id="{C4DEDA6A-42D7-8358-48D2-2843F2586D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61721" y="3148013"/>
            <a:ext cx="193119" cy="193119"/>
          </a:xfrm>
          <a:prstGeom prst="rect">
            <a:avLst/>
          </a:prstGeom>
        </p:spPr>
      </p:pic>
      <p:sp>
        <p:nvSpPr>
          <p:cNvPr id="14" name="Text 10">
            <a:extLst>
              <a:ext uri="{FF2B5EF4-FFF2-40B4-BE49-F238E27FC236}">
                <a16:creationId xmlns:a16="http://schemas.microsoft.com/office/drawing/2014/main" id="{36D3A4B4-F075-8691-9512-8A2C357FB426}"/>
              </a:ext>
            </a:extLst>
          </p:cNvPr>
          <p:cNvSpPr/>
          <p:nvPr/>
        </p:nvSpPr>
        <p:spPr>
          <a:xfrm>
            <a:off x="6258758" y="3619500"/>
            <a:ext cx="1931194" cy="241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Random Forest</a:t>
            </a:r>
            <a:endParaRPr lang="en-US" sz="1500" dirty="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432462F7-F0CE-6236-C50D-A7EA7BC76F1A}"/>
              </a:ext>
            </a:extLst>
          </p:cNvPr>
          <p:cNvSpPr/>
          <p:nvPr/>
        </p:nvSpPr>
        <p:spPr>
          <a:xfrm>
            <a:off x="6258758" y="3953470"/>
            <a:ext cx="7599283" cy="494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An ensemble method that builds multiple decision trees. Highly effective at handling complex, nonlinear relations and managing data imbalance.</a:t>
            </a:r>
            <a:endParaRPr lang="en-US" sz="1200" dirty="0"/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ECF37AF0-CA34-41F7-45D7-BDF8539B38EE}"/>
              </a:ext>
            </a:extLst>
          </p:cNvPr>
          <p:cNvSpPr/>
          <p:nvPr/>
        </p:nvSpPr>
        <p:spPr>
          <a:xfrm>
            <a:off x="6104334" y="4834057"/>
            <a:ext cx="7908131" cy="1600795"/>
          </a:xfrm>
          <a:prstGeom prst="rect">
            <a:avLst/>
          </a:prstGeom>
          <a:solidFill>
            <a:srgbClr val="E8F3E8"/>
          </a:solidFill>
          <a:ln/>
        </p:spPr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2B35244A-8B53-A1E7-F561-14D9C72D8526}"/>
              </a:ext>
            </a:extLst>
          </p:cNvPr>
          <p:cNvSpPr/>
          <p:nvPr/>
        </p:nvSpPr>
        <p:spPr>
          <a:xfrm>
            <a:off x="6104334" y="4834057"/>
            <a:ext cx="7908131" cy="22860"/>
          </a:xfrm>
          <a:prstGeom prst="roundRect">
            <a:avLst>
              <a:gd name="adj" fmla="val 608268"/>
            </a:avLst>
          </a:prstGeom>
          <a:solidFill>
            <a:srgbClr val="CED9CE"/>
          </a:solidFill>
          <a:ln/>
        </p:spPr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38E0C0AA-3FEB-8518-8805-FFBD2629991A}"/>
              </a:ext>
            </a:extLst>
          </p:cNvPr>
          <p:cNvSpPr/>
          <p:nvPr/>
        </p:nvSpPr>
        <p:spPr>
          <a:xfrm>
            <a:off x="9865162" y="4652367"/>
            <a:ext cx="386239" cy="386239"/>
          </a:xfrm>
          <a:prstGeom prst="roundRect">
            <a:avLst>
              <a:gd name="adj" fmla="val 36001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</p:sp>
      <p:pic>
        <p:nvPicPr>
          <p:cNvPr id="19" name="Image 2" descr="preencoded.png">
            <a:extLst>
              <a:ext uri="{FF2B5EF4-FFF2-40B4-BE49-F238E27FC236}">
                <a16:creationId xmlns:a16="http://schemas.microsoft.com/office/drawing/2014/main" id="{995568C4-E8E0-3B21-A723-83BE41AD507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961721" y="4748808"/>
            <a:ext cx="193119" cy="193119"/>
          </a:xfrm>
          <a:prstGeom prst="rect">
            <a:avLst/>
          </a:prstGeom>
        </p:spPr>
      </p:pic>
      <p:sp>
        <p:nvSpPr>
          <p:cNvPr id="20" name="Text 15">
            <a:extLst>
              <a:ext uri="{FF2B5EF4-FFF2-40B4-BE49-F238E27FC236}">
                <a16:creationId xmlns:a16="http://schemas.microsoft.com/office/drawing/2014/main" id="{C905E6FB-0D7A-1B05-AA18-D85AAB2EB20C}"/>
              </a:ext>
            </a:extLst>
          </p:cNvPr>
          <p:cNvSpPr/>
          <p:nvPr/>
        </p:nvSpPr>
        <p:spPr>
          <a:xfrm>
            <a:off x="6258758" y="5220295"/>
            <a:ext cx="3715226" cy="241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XGBoost (Extreme Gradient Boosting)</a:t>
            </a:r>
            <a:endParaRPr lang="en-US" sz="1500" dirty="0"/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9CB4EDC2-882C-79AB-4329-2D074F88DBE5}"/>
              </a:ext>
            </a:extLst>
          </p:cNvPr>
          <p:cNvSpPr/>
          <p:nvPr/>
        </p:nvSpPr>
        <p:spPr>
          <a:xfrm>
            <a:off x="6258758" y="5554266"/>
            <a:ext cx="7599283" cy="494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 high-performance gradient boosting framework. Known for its speed and exceptional predictive accuracy in complex classification tasks.</a:t>
            </a:r>
            <a:endParaRPr lang="en-US" sz="1200" dirty="0"/>
          </a:p>
        </p:txBody>
      </p:sp>
      <p:sp>
        <p:nvSpPr>
          <p:cNvPr id="22" name="Shape 17">
            <a:extLst>
              <a:ext uri="{FF2B5EF4-FFF2-40B4-BE49-F238E27FC236}">
                <a16:creationId xmlns:a16="http://schemas.microsoft.com/office/drawing/2014/main" id="{B9EE7FC2-C488-4BE5-07A1-39060471A536}"/>
              </a:ext>
            </a:extLst>
          </p:cNvPr>
          <p:cNvSpPr/>
          <p:nvPr/>
        </p:nvSpPr>
        <p:spPr>
          <a:xfrm>
            <a:off x="6104334" y="6434852"/>
            <a:ext cx="7908131" cy="1368981"/>
          </a:xfrm>
          <a:prstGeom prst="rect">
            <a:avLst/>
          </a:prstGeom>
          <a:solidFill>
            <a:srgbClr val="E8F3E8"/>
          </a:solidFill>
          <a:ln/>
        </p:spPr>
      </p:sp>
      <p:sp>
        <p:nvSpPr>
          <p:cNvPr id="23" name="Shape 18">
            <a:extLst>
              <a:ext uri="{FF2B5EF4-FFF2-40B4-BE49-F238E27FC236}">
                <a16:creationId xmlns:a16="http://schemas.microsoft.com/office/drawing/2014/main" id="{0057131A-B9B7-CF55-5691-5136129349BD}"/>
              </a:ext>
            </a:extLst>
          </p:cNvPr>
          <p:cNvSpPr/>
          <p:nvPr/>
        </p:nvSpPr>
        <p:spPr>
          <a:xfrm>
            <a:off x="6104334" y="6434852"/>
            <a:ext cx="7908131" cy="22860"/>
          </a:xfrm>
          <a:prstGeom prst="roundRect">
            <a:avLst>
              <a:gd name="adj" fmla="val 608268"/>
            </a:avLst>
          </a:prstGeom>
          <a:solidFill>
            <a:srgbClr val="CED9CE"/>
          </a:solidFill>
          <a:ln/>
        </p:spPr>
      </p:sp>
      <p:sp>
        <p:nvSpPr>
          <p:cNvPr id="24" name="Shape 19">
            <a:extLst>
              <a:ext uri="{FF2B5EF4-FFF2-40B4-BE49-F238E27FC236}">
                <a16:creationId xmlns:a16="http://schemas.microsoft.com/office/drawing/2014/main" id="{07EF51E9-2332-5678-2A09-3E163A5755E4}"/>
              </a:ext>
            </a:extLst>
          </p:cNvPr>
          <p:cNvSpPr/>
          <p:nvPr/>
        </p:nvSpPr>
        <p:spPr>
          <a:xfrm>
            <a:off x="9865162" y="6253163"/>
            <a:ext cx="386239" cy="386239"/>
          </a:xfrm>
          <a:prstGeom prst="roundRect">
            <a:avLst>
              <a:gd name="adj" fmla="val 36001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</p:sp>
      <p:pic>
        <p:nvPicPr>
          <p:cNvPr id="25" name="Image 3" descr="preencoded.png">
            <a:extLst>
              <a:ext uri="{FF2B5EF4-FFF2-40B4-BE49-F238E27FC236}">
                <a16:creationId xmlns:a16="http://schemas.microsoft.com/office/drawing/2014/main" id="{432C74A0-D198-2C2E-6E0B-3CD53254820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961721" y="6349603"/>
            <a:ext cx="193119" cy="193119"/>
          </a:xfrm>
          <a:prstGeom prst="rect">
            <a:avLst/>
          </a:prstGeom>
        </p:spPr>
      </p:pic>
      <p:sp>
        <p:nvSpPr>
          <p:cNvPr id="26" name="Text 20">
            <a:extLst>
              <a:ext uri="{FF2B5EF4-FFF2-40B4-BE49-F238E27FC236}">
                <a16:creationId xmlns:a16="http://schemas.microsoft.com/office/drawing/2014/main" id="{3CA6388B-46B8-6527-178E-D84A041532D4}"/>
              </a:ext>
            </a:extLst>
          </p:cNvPr>
          <p:cNvSpPr/>
          <p:nvPr/>
        </p:nvSpPr>
        <p:spPr>
          <a:xfrm>
            <a:off x="6258758" y="6821091"/>
            <a:ext cx="1931194" cy="241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Neural Network</a:t>
            </a:r>
            <a:endParaRPr lang="en-US" sz="1500" dirty="0"/>
          </a:p>
        </p:txBody>
      </p:sp>
      <p:sp>
        <p:nvSpPr>
          <p:cNvPr id="27" name="Text 21">
            <a:extLst>
              <a:ext uri="{FF2B5EF4-FFF2-40B4-BE49-F238E27FC236}">
                <a16:creationId xmlns:a16="http://schemas.microsoft.com/office/drawing/2014/main" id="{549FBA48-3A72-CD32-A5F5-3486A376E5C2}"/>
              </a:ext>
            </a:extLst>
          </p:cNvPr>
          <p:cNvSpPr/>
          <p:nvPr/>
        </p:nvSpPr>
        <p:spPr>
          <a:xfrm>
            <a:off x="6258758" y="7155061"/>
            <a:ext cx="7599283" cy="494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 Deep Learning approach applied for recognizing complex, non-linear patterns from the large set of PCA-transformed features (V1-V28).</a:t>
            </a:r>
            <a:endParaRPr lang="en-US" sz="12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D8EE7CF8-56A8-1E55-E0A1-AFC7B3EB3D7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763238" y="7803832"/>
            <a:ext cx="1867161" cy="359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8326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9604" y="511612"/>
            <a:ext cx="10777180" cy="499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Model Evaluation Metrics: Focusing on True Positives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39604" y="1331119"/>
            <a:ext cx="13351193" cy="511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Since fraud detection is an imbalanced classification problem, standard accuracy is misleading. We must use metrics that specifically evaluate the model's performance on correctly identifying the rare, minority class (fraud).</a:t>
            </a:r>
            <a:endParaRPr lang="en-US" sz="12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9611" y="2207419"/>
            <a:ext cx="239792" cy="2397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59312" y="2202418"/>
            <a:ext cx="1999059" cy="249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Precision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1159312" y="2612112"/>
            <a:ext cx="5960864" cy="511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percentage of predicted frauds that are actually fraudulent. Minimizing false positives (legitimate transactions flagged as fraud).</a:t>
            </a:r>
            <a:endParaRPr lang="en-US" sz="12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9611" y="3448407"/>
            <a:ext cx="239792" cy="23979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59312" y="3443407"/>
            <a:ext cx="1999059" cy="249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Recall (Sensitivity)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1159312" y="3853101"/>
            <a:ext cx="5960864" cy="511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percentage of actual frauds correctly detected. Crucial for minimizing false negatives (actual frauds missed by the system).</a:t>
            </a:r>
            <a:endParaRPr lang="en-US" sz="12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9611" y="4689396"/>
            <a:ext cx="239792" cy="23979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59312" y="4684395"/>
            <a:ext cx="1999059" cy="249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F1-Score</a:t>
            </a:r>
            <a:endParaRPr lang="en-US" sz="1550" dirty="0"/>
          </a:p>
        </p:txBody>
      </p:sp>
      <p:sp>
        <p:nvSpPr>
          <p:cNvPr id="12" name="Text 7"/>
          <p:cNvSpPr/>
          <p:nvPr/>
        </p:nvSpPr>
        <p:spPr>
          <a:xfrm>
            <a:off x="1159312" y="5094089"/>
            <a:ext cx="5960864" cy="511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harmonic mean of precision and recall, providing a balanced measure of the model’s performance.</a:t>
            </a:r>
            <a:endParaRPr lang="en-US" sz="12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9611" y="5930384"/>
            <a:ext cx="239792" cy="23979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59312" y="5925383"/>
            <a:ext cx="1999059" cy="249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ROC-AUC Score</a:t>
            </a:r>
            <a:endParaRPr lang="en-US" sz="1550" dirty="0"/>
          </a:p>
        </p:txBody>
      </p:sp>
      <p:sp>
        <p:nvSpPr>
          <p:cNvPr id="15" name="Text 9"/>
          <p:cNvSpPr/>
          <p:nvPr/>
        </p:nvSpPr>
        <p:spPr>
          <a:xfrm>
            <a:off x="1159312" y="6335078"/>
            <a:ext cx="5960864" cy="511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Measures the model’s ability to distinguish between the two classes (fraud vs. legitimate) across all threshold settings.</a:t>
            </a:r>
            <a:endParaRPr lang="en-US" sz="1250" dirty="0"/>
          </a:p>
        </p:txBody>
      </p:sp>
      <p:sp>
        <p:nvSpPr>
          <p:cNvPr id="16" name="Text 10"/>
          <p:cNvSpPr/>
          <p:nvPr/>
        </p:nvSpPr>
        <p:spPr>
          <a:xfrm>
            <a:off x="7757636" y="2202418"/>
            <a:ext cx="3202662" cy="299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Example Result (Logistic Regression)</a:t>
            </a:r>
            <a:endParaRPr lang="en-US" sz="1850" dirty="0"/>
          </a:p>
        </p:txBody>
      </p:sp>
      <p:sp>
        <p:nvSpPr>
          <p:cNvPr id="21" name="Shape 15"/>
          <p:cNvSpPr/>
          <p:nvPr/>
        </p:nvSpPr>
        <p:spPr>
          <a:xfrm>
            <a:off x="7517844" y="2202418"/>
            <a:ext cx="22860" cy="1914168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22" name="Text 16"/>
          <p:cNvSpPr/>
          <p:nvPr/>
        </p:nvSpPr>
        <p:spPr>
          <a:xfrm>
            <a:off x="639604" y="7206377"/>
            <a:ext cx="13351193" cy="511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Observation: XGBoost and Random Forest consistently outperformed the other models, successfully balancing high fraud detection (Recall) with minimal disruption to legitimate users (Precision).</a:t>
            </a:r>
            <a:endParaRPr lang="en-US" sz="125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004D6BF5-B31D-401D-D1D8-2DCF4ED88D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43361" y="7717870"/>
            <a:ext cx="1867161" cy="42868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93E32A38-A6CF-EE03-1CF7-CDFF1104C7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7514" y="2716512"/>
            <a:ext cx="3404098" cy="140007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7039E-98A7-90A5-BC40-B705A793F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3F2D6C1-9470-2115-3D7A-93E7A0598D43}"/>
              </a:ext>
            </a:extLst>
          </p:cNvPr>
          <p:cNvSpPr/>
          <p:nvPr/>
        </p:nvSpPr>
        <p:spPr>
          <a:xfrm>
            <a:off x="311728" y="545242"/>
            <a:ext cx="5465617" cy="499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3B4540"/>
                </a:solidFill>
                <a:latin typeface="Fraunces Extra Bold" pitchFamily="34" charset="0"/>
              </a:rPr>
              <a:t>Logistic Regression Modelling</a:t>
            </a:r>
            <a:endParaRPr lang="en-US" sz="31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1E5E285-6899-E39C-5843-02D7A86622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43361" y="7717870"/>
            <a:ext cx="1867161" cy="42868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37BDE82-E801-9EB1-8C6E-5D09F3926F7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4347" t="12289" b="11111"/>
          <a:stretch>
            <a:fillRect/>
          </a:stretch>
        </p:blipFill>
        <p:spPr>
          <a:xfrm>
            <a:off x="311728" y="1212652"/>
            <a:ext cx="5216236" cy="630388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194C055-AB88-BDA6-EB1E-BB948F3373B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4210" t="33334" r="137" b="13888"/>
          <a:stretch>
            <a:fillRect/>
          </a:stretch>
        </p:blipFill>
        <p:spPr>
          <a:xfrm>
            <a:off x="8480790" y="1943099"/>
            <a:ext cx="5216236" cy="4343401"/>
          </a:xfrm>
          <a:prstGeom prst="rect">
            <a:avLst/>
          </a:prstGeom>
        </p:spPr>
      </p:pic>
      <p:sp>
        <p:nvSpPr>
          <p:cNvPr id="9" name="Text 0">
            <a:extLst>
              <a:ext uri="{FF2B5EF4-FFF2-40B4-BE49-F238E27FC236}">
                <a16:creationId xmlns:a16="http://schemas.microsoft.com/office/drawing/2014/main" id="{408AAF3B-21A4-DFF9-E7E5-8764273EAAD5}"/>
              </a:ext>
            </a:extLst>
          </p:cNvPr>
          <p:cNvSpPr/>
          <p:nvPr/>
        </p:nvSpPr>
        <p:spPr>
          <a:xfrm>
            <a:off x="9809019" y="550156"/>
            <a:ext cx="5465617" cy="499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3B4540"/>
                </a:solidFill>
                <a:latin typeface="Fraunces Extra Bold" pitchFamily="34" charset="0"/>
              </a:rPr>
              <a:t>KNN Modelling</a:t>
            </a:r>
            <a:endParaRPr lang="en-US" sz="3100" dirty="0"/>
          </a:p>
        </p:txBody>
      </p:sp>
    </p:spTree>
    <p:extLst>
      <p:ext uri="{BB962C8B-B14F-4D97-AF65-F5344CB8AC3E}">
        <p14:creationId xmlns:p14="http://schemas.microsoft.com/office/powerpoint/2010/main" val="28225175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8EAB4-107B-4209-C5BA-E6F562F0C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4898D78-9113-AA2D-C9E7-80E8C08E26A2}"/>
              </a:ext>
            </a:extLst>
          </p:cNvPr>
          <p:cNvSpPr/>
          <p:nvPr/>
        </p:nvSpPr>
        <p:spPr>
          <a:xfrm>
            <a:off x="6028194" y="482890"/>
            <a:ext cx="10777180" cy="499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Model Evaluation Metrics</a:t>
            </a:r>
            <a:endParaRPr lang="en-US" sz="3100" dirty="0"/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C560AD8B-7881-4B84-B9FD-4BEDFEAC01DE}"/>
              </a:ext>
            </a:extLst>
          </p:cNvPr>
          <p:cNvSpPr/>
          <p:nvPr/>
        </p:nvSpPr>
        <p:spPr>
          <a:xfrm>
            <a:off x="7557578" y="7332614"/>
            <a:ext cx="2425462" cy="299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(Logistic Regression)</a:t>
            </a:r>
            <a:endParaRPr lang="en-US" sz="185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ECBA946F-831C-E67C-06CF-1926FF2A0D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43361" y="7717870"/>
            <a:ext cx="1867161" cy="42868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DA503F7-9CB6-F0F0-CF3C-22FC7883F9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4796" y="1295009"/>
            <a:ext cx="3404098" cy="140007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959731C-82F5-43D5-08D9-B505B146345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4631" t="44444" r="1563" b="15910"/>
          <a:stretch>
            <a:fillRect/>
          </a:stretch>
        </p:blipFill>
        <p:spPr>
          <a:xfrm>
            <a:off x="5491267" y="2916478"/>
            <a:ext cx="6091155" cy="4018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9387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D5C75-FC51-2388-8831-9DE099AE6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AA323CB-3923-9009-00C0-B85BF4F52955}"/>
              </a:ext>
            </a:extLst>
          </p:cNvPr>
          <p:cNvSpPr/>
          <p:nvPr/>
        </p:nvSpPr>
        <p:spPr>
          <a:xfrm>
            <a:off x="6028194" y="482890"/>
            <a:ext cx="10777180" cy="499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Model Evaluation Metrics</a:t>
            </a:r>
            <a:endParaRPr lang="en-US" sz="3100" dirty="0"/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683CD798-4A40-5423-D9A8-6143A52CD34A}"/>
              </a:ext>
            </a:extLst>
          </p:cNvPr>
          <p:cNvSpPr/>
          <p:nvPr/>
        </p:nvSpPr>
        <p:spPr>
          <a:xfrm>
            <a:off x="6102469" y="6919764"/>
            <a:ext cx="2425462" cy="299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8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(KNN Modelling)</a:t>
            </a:r>
            <a:endParaRPr lang="en-US" sz="28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08813371-8C99-0C42-9597-B7187A095E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43361" y="7717870"/>
            <a:ext cx="1867161" cy="428685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F9E40D23-C966-E68F-897C-4CFD919652CE}"/>
              </a:ext>
            </a:extLst>
          </p:cNvPr>
          <p:cNvSpPr txBox="1"/>
          <p:nvPr/>
        </p:nvSpPr>
        <p:spPr>
          <a:xfrm>
            <a:off x="5819602" y="1208936"/>
            <a:ext cx="527858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effectLst/>
                <a:latin typeface="Consolas" panose="020B0609020204030204" pitchFamily="49" charset="0"/>
              </a:rPr>
              <a:t>Accuracy Score of KNN is 99.84 </a:t>
            </a:r>
          </a:p>
          <a:p>
            <a:r>
              <a:rPr lang="en-IN" dirty="0"/>
              <a:t>Precision = 100.00% </a:t>
            </a:r>
          </a:p>
          <a:p>
            <a:r>
              <a:rPr lang="en-IN" dirty="0"/>
              <a:t>Recall = 8.78%</a:t>
            </a:r>
            <a:endParaRPr lang="en-US" b="0" i="0" dirty="0">
              <a:effectLst/>
              <a:latin typeface="Consolas" panose="020B0609020204030204" pitchFamily="49" charset="0"/>
            </a:endParaRPr>
          </a:p>
          <a:p>
            <a:r>
              <a:rPr lang="en-US" b="0" i="0" dirty="0" err="1">
                <a:effectLst/>
                <a:latin typeface="Consolas" panose="020B0609020204030204" pitchFamily="49" charset="0"/>
              </a:rPr>
              <a:t>Roc_Auc</a:t>
            </a:r>
            <a:r>
              <a:rPr lang="en-US" b="0" i="0" dirty="0">
                <a:effectLst/>
                <a:latin typeface="Consolas" panose="020B0609020204030204" pitchFamily="49" charset="0"/>
              </a:rPr>
              <a:t> training score for KNN is 53.92:</a:t>
            </a:r>
            <a:endParaRPr lang="en-IN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7CC93EE8-90AB-101A-B659-372204A02C0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2784" t="28448" r="17614" b="49646"/>
          <a:stretch>
            <a:fillRect/>
          </a:stretch>
        </p:blipFill>
        <p:spPr>
          <a:xfrm>
            <a:off x="7693659" y="3158888"/>
            <a:ext cx="6508314" cy="316115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7317750-B7AA-3E36-B791-D084DB900D6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2784" t="55348" r="17614" b="22727"/>
          <a:stretch>
            <a:fillRect/>
          </a:stretch>
        </p:blipFill>
        <p:spPr>
          <a:xfrm>
            <a:off x="507572" y="3158888"/>
            <a:ext cx="6502743" cy="3161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6824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7A36C-65C9-F665-3F73-A0366987D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1359CC3-4D31-0486-73C6-28DDC8404E63}"/>
              </a:ext>
            </a:extLst>
          </p:cNvPr>
          <p:cNvSpPr/>
          <p:nvPr/>
        </p:nvSpPr>
        <p:spPr>
          <a:xfrm>
            <a:off x="6028194" y="482890"/>
            <a:ext cx="10777180" cy="499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Model Evaluation Metrics</a:t>
            </a:r>
            <a:endParaRPr lang="en-US" sz="3100" dirty="0"/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FC0FFA2F-4CC2-6CCA-A731-DB3C2BC44552}"/>
              </a:ext>
            </a:extLst>
          </p:cNvPr>
          <p:cNvSpPr/>
          <p:nvPr/>
        </p:nvSpPr>
        <p:spPr>
          <a:xfrm>
            <a:off x="6102469" y="6919764"/>
            <a:ext cx="2425462" cy="299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8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(Decision Tree Modelling)</a:t>
            </a:r>
            <a:endParaRPr lang="en-US" sz="28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7E2CA96-F727-6A51-9C97-9A10ADAF3E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43361" y="7717870"/>
            <a:ext cx="1867161" cy="428685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A0C7FF51-BDA3-1AAC-6E97-0F06DE7140AF}"/>
              </a:ext>
            </a:extLst>
          </p:cNvPr>
          <p:cNvSpPr txBox="1"/>
          <p:nvPr/>
        </p:nvSpPr>
        <p:spPr>
          <a:xfrm>
            <a:off x="5819602" y="1208936"/>
            <a:ext cx="527858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Training accuracy score of </a:t>
            </a:r>
            <a:r>
              <a:rPr lang="en-US" dirty="0" err="1"/>
              <a:t>DecisionTree</a:t>
            </a:r>
            <a:r>
              <a:rPr lang="en-US" dirty="0"/>
              <a:t> is 99.92 </a:t>
            </a:r>
            <a:r>
              <a:rPr lang="en-US" dirty="0" err="1"/>
              <a:t>Roc_Auc</a:t>
            </a:r>
            <a:r>
              <a:rPr lang="en-US" dirty="0"/>
              <a:t> training score for </a:t>
            </a:r>
            <a:r>
              <a:rPr lang="en-US" dirty="0" err="1"/>
              <a:t>DecisionTree</a:t>
            </a:r>
            <a:r>
              <a:rPr lang="en-US" dirty="0"/>
              <a:t> is 86.9: Test accuracy score of </a:t>
            </a:r>
            <a:r>
              <a:rPr lang="en-US" dirty="0" err="1"/>
              <a:t>DecisionTree</a:t>
            </a:r>
            <a:r>
              <a:rPr lang="en-US" dirty="0"/>
              <a:t> is 99.91 </a:t>
            </a:r>
          </a:p>
          <a:p>
            <a:r>
              <a:rPr lang="en-US" dirty="0" err="1"/>
              <a:t>Roc_Auc</a:t>
            </a:r>
            <a:r>
              <a:rPr lang="en-US" dirty="0"/>
              <a:t> test score for </a:t>
            </a:r>
            <a:r>
              <a:rPr lang="en-US" dirty="0" err="1"/>
              <a:t>DecisionTree</a:t>
            </a:r>
            <a:r>
              <a:rPr lang="en-US" dirty="0"/>
              <a:t> is 85.45: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8B238F-8D40-2713-E34E-196039FE415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4480" t="28434" r="19549" b="51806"/>
          <a:stretch>
            <a:fillRect/>
          </a:stretch>
        </p:blipFill>
        <p:spPr>
          <a:xfrm>
            <a:off x="8382191" y="2542772"/>
            <a:ext cx="5431985" cy="3780207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7DE3712-BC95-B20F-6A16-D572BB404DC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4795" t="54413" r="21786" b="26333"/>
          <a:stretch>
            <a:fillRect/>
          </a:stretch>
        </p:blipFill>
        <p:spPr>
          <a:xfrm>
            <a:off x="1614791" y="2700788"/>
            <a:ext cx="4487677" cy="3622191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29172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6481" y="286226"/>
            <a:ext cx="1509832" cy="162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4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Section 4: Key Insights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16481" y="801062"/>
            <a:ext cx="3333631" cy="3252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Results and Visualization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6481" y="1299101"/>
            <a:ext cx="13797439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model comparison confirmed the effectiveness of ensemble and boosting methods in this domain.</a:t>
            </a:r>
          </a:p>
          <a:p>
            <a:pPr marL="0" indent="0" algn="l">
              <a:lnSpc>
                <a:spcPts val="130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</a:t>
            </a:r>
          </a:p>
          <a:p>
            <a:pPr marL="0" indent="0" algn="l">
              <a:lnSpc>
                <a:spcPts val="130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Furthermore, analyzing the feature importance revealed critical patterns in fraudulent behavior.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624057" y="2221607"/>
            <a:ext cx="281107" cy="130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9281" y="2215828"/>
            <a:ext cx="4150995" cy="130135"/>
          </a:xfrm>
          <a:prstGeom prst="roundRect">
            <a:avLst>
              <a:gd name="adj" fmla="val 72009"/>
            </a:avLst>
          </a:prstGeom>
          <a:solidFill>
            <a:srgbClr val="E8F3E8"/>
          </a:solidFill>
          <a:ln/>
        </p:spPr>
      </p:sp>
      <p:sp>
        <p:nvSpPr>
          <p:cNvPr id="10" name="Shape 8"/>
          <p:cNvSpPr/>
          <p:nvPr/>
        </p:nvSpPr>
        <p:spPr>
          <a:xfrm>
            <a:off x="447886" y="2215828"/>
            <a:ext cx="3694271" cy="130135"/>
          </a:xfrm>
          <a:prstGeom prst="roundRect">
            <a:avLst>
              <a:gd name="adj" fmla="val 72009"/>
            </a:avLst>
          </a:prstGeom>
          <a:solidFill>
            <a:srgbClr val="438951"/>
          </a:solidFill>
          <a:ln/>
        </p:spPr>
      </p:sp>
      <p:sp>
        <p:nvSpPr>
          <p:cNvPr id="11" name="Text 9"/>
          <p:cNvSpPr/>
          <p:nvPr/>
        </p:nvSpPr>
        <p:spPr>
          <a:xfrm>
            <a:off x="4786953" y="2230274"/>
            <a:ext cx="283369" cy="130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0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89%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8614" y="2572250"/>
            <a:ext cx="451235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Random Forest F1-Score: Strong performance due to 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ensemble diversity.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779437" y="2221607"/>
            <a:ext cx="4170521" cy="130135"/>
          </a:xfrm>
          <a:prstGeom prst="roundRect">
            <a:avLst>
              <a:gd name="adj" fmla="val 72009"/>
            </a:avLst>
          </a:prstGeom>
          <a:solidFill>
            <a:srgbClr val="E8F3E8"/>
          </a:solidFill>
          <a:ln/>
        </p:spPr>
      </p:sp>
      <p:sp>
        <p:nvSpPr>
          <p:cNvPr id="14" name="Shape 12"/>
          <p:cNvSpPr/>
          <p:nvPr/>
        </p:nvSpPr>
        <p:spPr>
          <a:xfrm>
            <a:off x="9779437" y="2221606"/>
            <a:ext cx="3127891" cy="130135"/>
          </a:xfrm>
          <a:prstGeom prst="roundRect">
            <a:avLst>
              <a:gd name="adj" fmla="val 72009"/>
            </a:avLst>
          </a:prstGeom>
          <a:solidFill>
            <a:srgbClr val="438951"/>
          </a:solidFill>
          <a:ln/>
        </p:spPr>
      </p:sp>
      <p:sp>
        <p:nvSpPr>
          <p:cNvPr id="15" name="Text 13"/>
          <p:cNvSpPr/>
          <p:nvPr/>
        </p:nvSpPr>
        <p:spPr>
          <a:xfrm>
            <a:off x="14023601" y="2245417"/>
            <a:ext cx="263843" cy="130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0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75%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779437" y="2539931"/>
            <a:ext cx="451235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Logistic Regression F1-Score: Useful baseline, 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but less powerful for hidden patterns.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16481" y="3407868"/>
            <a:ext cx="5366623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6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Key Insights:</a:t>
            </a:r>
            <a:endParaRPr lang="en-US" sz="1600" b="1" dirty="0"/>
          </a:p>
        </p:txBody>
      </p:sp>
      <p:sp>
        <p:nvSpPr>
          <p:cNvPr id="18" name="Text 16"/>
          <p:cNvSpPr/>
          <p:nvPr/>
        </p:nvSpPr>
        <p:spPr>
          <a:xfrm>
            <a:off x="317090" y="3828425"/>
            <a:ext cx="5366623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300"/>
              </a:lnSpc>
              <a:buSzPct val="100000"/>
              <a:buChar char="•"/>
            </a:pP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Fraudulent transactions often have low amounts but occur in short,</a:t>
            </a:r>
          </a:p>
          <a:p>
            <a:pPr algn="l">
              <a:lnSpc>
                <a:spcPts val="1300"/>
              </a:lnSpc>
              <a:buSzPct val="100000"/>
            </a:pP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      intense time intervals.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05272" y="4369778"/>
            <a:ext cx="5366623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buSzPct val="100000"/>
            </a:pP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17090" y="4483794"/>
            <a:ext cx="5366623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anonymized PCA features (V-features) contributed most to the predictive power of the complex models.</a:t>
            </a:r>
            <a:endParaRPr lang="en-US" sz="16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DE764112-69E4-02E9-8FF5-1926577EFC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53210" y="7707144"/>
            <a:ext cx="1867161" cy="428685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CF188BC7-F2AB-FCEA-8440-68C3170213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3375" y="3557887"/>
            <a:ext cx="6077722" cy="4244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749" y="454938"/>
            <a:ext cx="2348865" cy="258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Section 5: Deployment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61749" y="779502"/>
            <a:ext cx="7462957" cy="516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32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Real-World Applications in FinTech</a:t>
            </a:r>
            <a:endParaRPr lang="en-US" sz="3250" dirty="0"/>
          </a:p>
        </p:txBody>
      </p:sp>
      <p:sp>
        <p:nvSpPr>
          <p:cNvPr id="4" name="Text 2"/>
          <p:cNvSpPr/>
          <p:nvPr/>
        </p:nvSpPr>
        <p:spPr>
          <a:xfrm>
            <a:off x="661749" y="1544598"/>
            <a:ext cx="13306901" cy="529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principles demonstrated in this case study are already standard practice in the financial industry, where real-time analysis is non-negotiable for securing vast daily transaction volumes.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749" y="2260283"/>
            <a:ext cx="4297680" cy="42976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1749" y="6602928"/>
            <a:ext cx="3238143" cy="258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E-Wallets (PayPal, Google Pay)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61749" y="6920660"/>
            <a:ext cx="4297680" cy="7943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Use deep neural networks and behavioral analysis to detect anomalies, such as changes in device, location, or unusually high transaction frequency.</a:t>
            </a:r>
            <a:endParaRPr lang="en-US" sz="13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6241" y="2260283"/>
            <a:ext cx="4297799" cy="429779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166241" y="6619422"/>
            <a:ext cx="3683675" cy="258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Card Networks (Visa &amp; Mastercard)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5166241" y="6892189"/>
            <a:ext cx="4297799" cy="7943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Employ advanced AI models to evaluate transaction risk scores instantly (in milliseconds) before authorization is granted.</a:t>
            </a:r>
            <a:endParaRPr lang="en-US" sz="13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0852" y="2260283"/>
            <a:ext cx="4297799" cy="429779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70852" y="6614934"/>
            <a:ext cx="2276594" cy="258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Financial Institutions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9670852" y="6866864"/>
            <a:ext cx="4297799" cy="1059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Banks use real-time streaming data analytics combined with ML models to score every transaction for risk, continuously learning and adapting to new fraud schemes.</a:t>
            </a:r>
            <a:endParaRPr lang="en-US" sz="13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71DDE41-8828-4F55-884C-E75BD1B68A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63239" y="7749289"/>
            <a:ext cx="1867161" cy="42868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137" y="494348"/>
            <a:ext cx="8896945" cy="561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Future Directions and Open Challenges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719137" y="1415653"/>
            <a:ext cx="13192125" cy="287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While ML has significantly advanced fraud detection, several challenges remain and drive the next wave of research and development in this field.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19137" y="1905476"/>
            <a:ext cx="719137" cy="1323737"/>
          </a:xfrm>
          <a:prstGeom prst="roundRect">
            <a:avLst>
              <a:gd name="adj" fmla="val 360027"/>
            </a:avLst>
          </a:prstGeom>
          <a:solidFill>
            <a:srgbClr val="E8F3E8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3808" y="2432447"/>
            <a:ext cx="269677" cy="26967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18059" y="2085261"/>
            <a:ext cx="3551992" cy="280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Graph Neural Networks (GNNs)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1618059" y="2474119"/>
            <a:ext cx="12293203" cy="575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Moving beyond single transactions to detect sophisticated fraud rings and networks by analyzing relationships between users, accounts, and merchants.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19137" y="3408998"/>
            <a:ext cx="719137" cy="1323737"/>
          </a:xfrm>
          <a:prstGeom prst="roundRect">
            <a:avLst>
              <a:gd name="adj" fmla="val 360027"/>
            </a:avLst>
          </a:prstGeom>
          <a:solidFill>
            <a:srgbClr val="E8F3E8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3808" y="3935968"/>
            <a:ext cx="269677" cy="26967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18059" y="3588782"/>
            <a:ext cx="2247424" cy="280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Federated Learning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1618059" y="3977640"/>
            <a:ext cx="12293203" cy="575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Allows multiple financial institutions to collaboratively train robust fraud detection models without sharing sensitive proprietary customer data.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719137" y="4912519"/>
            <a:ext cx="719137" cy="1323737"/>
          </a:xfrm>
          <a:prstGeom prst="roundRect">
            <a:avLst>
              <a:gd name="adj" fmla="val 360027"/>
            </a:avLst>
          </a:prstGeom>
          <a:solidFill>
            <a:srgbClr val="E8F3E8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43808" y="5439489"/>
            <a:ext cx="269677" cy="26967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18059" y="5092303"/>
            <a:ext cx="2330410" cy="280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Explainable AI (XAI)</a:t>
            </a:r>
            <a:endParaRPr lang="en-US" sz="1750" dirty="0"/>
          </a:p>
        </p:txBody>
      </p:sp>
      <p:sp>
        <p:nvSpPr>
          <p:cNvPr id="15" name="Text 10"/>
          <p:cNvSpPr/>
          <p:nvPr/>
        </p:nvSpPr>
        <p:spPr>
          <a:xfrm>
            <a:off x="1618059" y="5481161"/>
            <a:ext cx="12293203" cy="575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Improving model transparency to provide justifications for why a specific transaction was flagged, which is critical for regulatory compliance and customer trust.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719137" y="6416040"/>
            <a:ext cx="719137" cy="1323737"/>
          </a:xfrm>
          <a:prstGeom prst="roundRect">
            <a:avLst>
              <a:gd name="adj" fmla="val 360027"/>
            </a:avLst>
          </a:prstGeom>
          <a:solidFill>
            <a:srgbClr val="E8F3E8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43808" y="6943011"/>
            <a:ext cx="269677" cy="26967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618059" y="6595824"/>
            <a:ext cx="2445425" cy="280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Real-Time Scalability</a:t>
            </a:r>
            <a:endParaRPr lang="en-US" sz="1750" dirty="0"/>
          </a:p>
        </p:txBody>
      </p:sp>
      <p:sp>
        <p:nvSpPr>
          <p:cNvPr id="19" name="Text 13"/>
          <p:cNvSpPr/>
          <p:nvPr/>
        </p:nvSpPr>
        <p:spPr>
          <a:xfrm>
            <a:off x="1618059" y="6984683"/>
            <a:ext cx="12293203" cy="575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Addressing the engineering challenge of deploying complex models that can process millions of transactions per second with low latency across global networks.</a:t>
            </a:r>
            <a:endParaRPr lang="en-US" sz="14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A4D5A74-378D-588A-6ED8-F27002AE495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633332" y="7667864"/>
            <a:ext cx="1867161" cy="4286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</TotalTime>
  <Words>1307</Words>
  <Application>Microsoft Office PowerPoint</Application>
  <PresentationFormat>Custom</PresentationFormat>
  <Paragraphs>141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Fraunces Extra Bold</vt:lpstr>
      <vt:lpstr>Nobile</vt:lpstr>
      <vt:lpstr>Consolas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lastModifiedBy>ISHAAN JAIN</cp:lastModifiedBy>
  <cp:revision>14</cp:revision>
  <dcterms:created xsi:type="dcterms:W3CDTF">2025-11-03T16:52:52Z</dcterms:created>
  <dcterms:modified xsi:type="dcterms:W3CDTF">2025-11-04T06:21:54Z</dcterms:modified>
</cp:coreProperties>
</file>