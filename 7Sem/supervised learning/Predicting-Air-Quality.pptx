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8" r:id="rId6"/>
    <p:sldId id="259" r:id="rId7"/>
    <p:sldId id="260" r:id="rId8"/>
    <p:sldId id="261" r:id="rId9"/>
    <p:sldId id="262" r:id="rId10"/>
    <p:sldId id="267" r:id="rId11"/>
    <p:sldId id="269" r:id="rId12"/>
    <p:sldId id="263" r:id="rId13"/>
    <p:sldId id="264" r:id="rId14"/>
    <p:sldId id="265" r:id="rId15"/>
  </p:sldIdLst>
  <p:sldSz cx="14630400" cy="8229600"/>
  <p:notesSz cx="8229600" cy="14630400"/>
  <p:embeddedFontLst>
    <p:embeddedFont>
      <p:font typeface="Fraunces Extra 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63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57D1-5AF0-7764-4FE3-E3E55B03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EE7AA-A1E2-5435-94A8-F964C299D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391AB-2E8E-D4AE-7FA5-13D440781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A132B-5B4B-7ABC-4197-844B971D1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44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A0D2-02A9-B860-DEFE-E24542D06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A4DC2-BBAB-E6FD-E544-0E14697EB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DD331-2DC6-763F-B28C-96217922B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25C3F-40BD-3FB7-90BA-DA8D52D7E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5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5635-5594-F798-16FA-BA08E6E4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CF6F6-8C03-3CED-C156-EDEEFF5D8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4DD79-2D16-5799-88B7-E11617F3A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743DA-022C-2C90-A7FE-2CCA829F3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12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61C2-CD50-128E-3E4C-A7E6E3D8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9088A-D2DB-5584-DFBB-8E4175738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52F40-3019-8191-93DF-B714C90E9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7F604-FA3D-17EB-EFD9-5D40E5E41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50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9.png"/><Relationship Id="rId20" Type="http://schemas.openxmlformats.org/officeDocument/2006/relationships/image" Target="../media/image33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7083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Predicting Air Quality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460259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Using GRU Networks for Environmental Forecasting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60767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exploration of deep learning approaches to forecast air quality and protect public health.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A0D329-D642-1354-FC64-F1247253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CBE647-5DC7-D98E-CA03-512F8A274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225" y="3943326"/>
            <a:ext cx="1609950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3691"/>
            <a:ext cx="6753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Air Pollution Crisis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00263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 pollution has escalated since the Industrial Revolution. Today, it's a leading environmental risk factor for human health, contributing to morbidity, mortality, and reduced quality of life.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346490"/>
            <a:ext cx="3664744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3573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Health Impact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063722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 million premature deaths annually attributed to air pollution, per WHO.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346490"/>
            <a:ext cx="3664863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3573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Primary Pollutants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406372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PM2.5, PM10, NO₂, CO, SO₂, O₃ penetrate lungs and bloodstream.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06058"/>
            <a:ext cx="7556421" cy="1669852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832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Societal Costs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32329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Respiratory disease, neurological impairment, reduced productivity, economic losses.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569" y="597456"/>
            <a:ext cx="76528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Understanding the Air Quality Index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5569" y="2248257"/>
            <a:ext cx="7652861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AQI consolidates multiple pollutant readings into a single metric, categorizing air quality from Good to Hazardous. It's used globally for public health advisories and policy-making.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5569" y="3510082"/>
            <a:ext cx="3719870" cy="2295287"/>
          </a:xfrm>
          <a:prstGeom prst="roundRect">
            <a:avLst>
              <a:gd name="adj" fmla="val 835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1432" y="3745944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Public Health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81432" y="4206478"/>
            <a:ext cx="3248144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citizens to avoid outdoor exposure during high pollution periods and protects vulnerable groups.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678442" y="3510082"/>
            <a:ext cx="3719989" cy="2295287"/>
          </a:xfrm>
          <a:prstGeom prst="roundRect">
            <a:avLst>
              <a:gd name="adj" fmla="val 835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4305" y="3745944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Urban Planning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4914305" y="4206478"/>
            <a:ext cx="3248263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Authorities enforce traffic restrictions, industrial regulations, and emission control strategies.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5569" y="6018371"/>
            <a:ext cx="7652861" cy="1613773"/>
          </a:xfrm>
          <a:prstGeom prst="roundRect">
            <a:avLst>
              <a:gd name="adj" fmla="val 1188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1432" y="6254234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Scientific Value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981432" y="6714768"/>
            <a:ext cx="7181136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Supports long-term strategies for air quality improvement and environmental research.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B91E-D4E0-F553-D012-73AAC69E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2FBCF8E-4459-C0D0-1757-373C5FB25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2F6A173-2BCF-F4AB-EC4A-8736E7F47048}"/>
              </a:ext>
            </a:extLst>
          </p:cNvPr>
          <p:cNvSpPr/>
          <p:nvPr/>
        </p:nvSpPr>
        <p:spPr>
          <a:xfrm>
            <a:off x="745569" y="597456"/>
            <a:ext cx="76528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About the dataset</a:t>
            </a:r>
            <a:endParaRPr lang="en-US" sz="41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77A9155-0B02-4C95-7B94-2FB257120B7D}"/>
              </a:ext>
            </a:extLst>
          </p:cNvPr>
          <p:cNvSpPr/>
          <p:nvPr/>
        </p:nvSpPr>
        <p:spPr>
          <a:xfrm>
            <a:off x="745569" y="2248257"/>
            <a:ext cx="7652861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00" dirty="0"/>
              <a:t>The dataset used in the study spans from 1 January 2021 to 31 December 2023 and was collected from </a:t>
            </a:r>
            <a:r>
              <a:rPr lang="en-US" sz="1600" dirty="0" err="1"/>
              <a:t>Xitun</a:t>
            </a:r>
            <a:r>
              <a:rPr lang="en-US" sz="1600" dirty="0"/>
              <a:t> District, Taichung City, Taiwan. It includes daily-averaged air quality index (AQI) values and 18 environmental variables such as PM2.5, PM10, NO₂, CO, O₃, temperature, humidity, and wind speed. The data was preprocessed using linear interpolation for missing values and normalized using Min-Max and Z-score methods. Gray Relational Analysis revealed RAINFALL (0.85), NO (0.81), and PM2.5 (0.81) as the most influential variables on AQI. The dataset was split 80:20 for training and testing, ensuring robust model evaluation</a:t>
            </a:r>
            <a:endParaRPr lang="en-US" sz="1650" dirty="0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9081EE1A-DAB4-98AC-7372-BD08E35C65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43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BE7E-DCC4-D191-3277-EB785B8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46514BF-1FFC-1EF5-4729-44B5BEB8E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4" name="AutoShape 2">
            <a:extLst>
              <a:ext uri="{FF2B5EF4-FFF2-40B4-BE49-F238E27FC236}">
                <a16:creationId xmlns:a16="http://schemas.microsoft.com/office/drawing/2014/main" id="{B9C16CB0-EEB8-A893-D7C2-219BCAFF6E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D43B73-D925-103F-E7F4-59468FC1F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2838"/>
            <a:ext cx="14630400" cy="600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20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1616" y="609005"/>
            <a:ext cx="7103031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Prediction Challenge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1616" y="1633299"/>
            <a:ext cx="759356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Developing accurate AQI forecasts requires handling temporal dependencies, multivariate relationships, seasonal variations, event-driven spikes, and data quality issues.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61616" y="2945368"/>
            <a:ext cx="498277" cy="498277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344603" y="2986802"/>
            <a:ext cx="332184" cy="41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81349" y="3021449"/>
            <a:ext cx="3388043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Temporal Dependencies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6981349" y="3500318"/>
            <a:ext cx="6873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AQI depends on historical pollutant trends and weather patterns over time.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1616" y="4651891"/>
            <a:ext cx="498277" cy="498277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6344603" y="4693325"/>
            <a:ext cx="332184" cy="41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81349" y="4727972"/>
            <a:ext cx="3561874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Multivariate Interactions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981349" y="5206841"/>
            <a:ext cx="6873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Pollutants and weather variables interact non-linearly and unpredictably.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61616" y="6358414"/>
            <a:ext cx="498277" cy="498277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6344603" y="6399848"/>
            <a:ext cx="332184" cy="41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981349" y="6434495"/>
            <a:ext cx="2774871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Seasonal Variations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6981349" y="6913364"/>
            <a:ext cx="6873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Pollution patterns change with seasons and time of day, requiring adaptive models.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F7AFB3-0BDA-71CB-41AC-125F9342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9695" y="1084659"/>
            <a:ext cx="7543562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Evolution of Prediction Methods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29695" y="1934766"/>
            <a:ext cx="7857411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traditional statistical models to modern deep learning, each approach offers distinct advantages and limitations for AQI forecasting.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36387" y="2729627"/>
            <a:ext cx="22860" cy="4415195"/>
          </a:xfrm>
          <a:prstGeom prst="roundRect">
            <a:avLst>
              <a:gd name="adj" fmla="val 723724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6520279" y="2924889"/>
            <a:ext cx="551378" cy="22860"/>
          </a:xfrm>
          <a:prstGeom prst="roundRect">
            <a:avLst>
              <a:gd name="adj" fmla="val 723724"/>
            </a:avLst>
          </a:prstGeom>
          <a:solidFill>
            <a:srgbClr val="CED9CE"/>
          </a:solidFill>
          <a:ln/>
        </p:spPr>
      </p:sp>
      <p:sp>
        <p:nvSpPr>
          <p:cNvPr id="7" name="Shape 4"/>
          <p:cNvSpPr/>
          <p:nvPr/>
        </p:nvSpPr>
        <p:spPr>
          <a:xfrm>
            <a:off x="6129635" y="2729627"/>
            <a:ext cx="413504" cy="413504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198513" y="2764036"/>
            <a:ext cx="27563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255550" y="2792730"/>
            <a:ext cx="3265051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ARIMA &amp; Linear Regression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55550" y="3190161"/>
            <a:ext cx="673155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Simple, interpretable; cannot model non-linear patterns.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20279" y="4047053"/>
            <a:ext cx="551378" cy="22860"/>
          </a:xfrm>
          <a:prstGeom prst="roundRect">
            <a:avLst>
              <a:gd name="adj" fmla="val 723724"/>
            </a:avLst>
          </a:prstGeom>
          <a:solidFill>
            <a:srgbClr val="CED9CE"/>
          </a:solidFill>
          <a:ln/>
        </p:spPr>
      </p:sp>
      <p:sp>
        <p:nvSpPr>
          <p:cNvPr id="12" name="Shape 9"/>
          <p:cNvSpPr/>
          <p:nvPr/>
        </p:nvSpPr>
        <p:spPr>
          <a:xfrm>
            <a:off x="6129635" y="3851791"/>
            <a:ext cx="413504" cy="413504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6198513" y="3886200"/>
            <a:ext cx="27563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255550" y="3914894"/>
            <a:ext cx="229778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55550" y="4312325"/>
            <a:ext cx="6731556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SVR, Random Forest capture non-linearity; lack temporal sequence modeling.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20279" y="5463302"/>
            <a:ext cx="551378" cy="22860"/>
          </a:xfrm>
          <a:prstGeom prst="roundRect">
            <a:avLst>
              <a:gd name="adj" fmla="val 723724"/>
            </a:avLst>
          </a:prstGeom>
          <a:solidFill>
            <a:srgbClr val="CED9CE"/>
          </a:solidFill>
          <a:ln/>
        </p:spPr>
      </p:sp>
      <p:sp>
        <p:nvSpPr>
          <p:cNvPr id="17" name="Shape 14"/>
          <p:cNvSpPr/>
          <p:nvPr/>
        </p:nvSpPr>
        <p:spPr>
          <a:xfrm>
            <a:off x="6129635" y="5268039"/>
            <a:ext cx="413504" cy="413504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8" name="Text 15"/>
          <p:cNvSpPr/>
          <p:nvPr/>
        </p:nvSpPr>
        <p:spPr>
          <a:xfrm>
            <a:off x="6198513" y="5302448"/>
            <a:ext cx="27563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255550" y="5331143"/>
            <a:ext cx="229778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RNN &amp; LSTM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55550" y="5728573"/>
            <a:ext cx="673155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sequences; LSTM computationally heavy with many parameters.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20279" y="6585466"/>
            <a:ext cx="551378" cy="22860"/>
          </a:xfrm>
          <a:prstGeom prst="roundRect">
            <a:avLst>
              <a:gd name="adj" fmla="val 723724"/>
            </a:avLst>
          </a:prstGeom>
          <a:solidFill>
            <a:srgbClr val="CED9CE"/>
          </a:solidFill>
          <a:ln/>
        </p:spPr>
      </p:sp>
      <p:sp>
        <p:nvSpPr>
          <p:cNvPr id="22" name="Shape 19"/>
          <p:cNvSpPr/>
          <p:nvPr/>
        </p:nvSpPr>
        <p:spPr>
          <a:xfrm>
            <a:off x="6129635" y="6390203"/>
            <a:ext cx="413504" cy="413504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23" name="Text 20"/>
          <p:cNvSpPr/>
          <p:nvPr/>
        </p:nvSpPr>
        <p:spPr>
          <a:xfrm>
            <a:off x="6198513" y="6424613"/>
            <a:ext cx="275630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255550" y="6453307"/>
            <a:ext cx="2297787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GRU Networks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55550" y="6850737"/>
            <a:ext cx="673155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Efficient, fewer parameters, captures long and short-term dependencies.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DF9BF54-D972-2E43-EC1F-241215BA5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83" y="492800"/>
            <a:ext cx="7890034" cy="111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GRU Architecture for AQI Prediction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6983" y="1881188"/>
            <a:ext cx="7890034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Gated Recurrent Units balance performance and computational efficiency through update gates, reset gates, and candidate hidden states that learn temporal patterns.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83" y="2656046"/>
            <a:ext cx="537448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3501" y="2835116"/>
            <a:ext cx="2239328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 Layer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343501" y="3222427"/>
            <a:ext cx="7173516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Multivariate data: PM2.5, PM10, NO₂, CO, SO₂, O₃, temperature, humidity, wind speed, pressure.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07" y="4153972"/>
            <a:ext cx="537448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2225" y="4333042"/>
            <a:ext cx="2239328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GRU Layers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612225" y="4720352"/>
            <a:ext cx="69047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32–64 neurons per layer with 10–20% dropout to prevent overfitting.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431" y="5407938"/>
            <a:ext cx="537448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0949" y="5587008"/>
            <a:ext cx="2239328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Dense Layer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880949" y="5974318"/>
            <a:ext cx="6636068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Fully connected layer processes hidden states.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155" y="6661904"/>
            <a:ext cx="537448" cy="1143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149673" y="6840974"/>
            <a:ext cx="2239328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Output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2149673" y="7228284"/>
            <a:ext cx="636734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Single neuron predicts next AQI value.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5612"/>
            <a:ext cx="69562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Training and Evaluation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345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Rigorous data preparation, model training with Adam optimizer, and comprehensive evaluation metrics ensure robust AQI predictions.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342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92346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 and outliers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72856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Normalize features (Min-Max scaling)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53366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sequences using sliding window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33876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Split: 70% train, 15% validation, 15% test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3342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392346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Squared Error (MSE)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36566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Mean Squared Error (RMSE)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17076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Absolute Error (MAE)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561296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R² Score for model fit quality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13351A-CB02-16B0-4425-6D25D11E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8D43-2314-1796-4B69-B122E4A6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CAB726-DA78-3C66-108D-85A7D65F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317D52D-D7D9-1819-2EC7-DD92A9A6A641}"/>
              </a:ext>
            </a:extLst>
          </p:cNvPr>
          <p:cNvSpPr/>
          <p:nvPr/>
        </p:nvSpPr>
        <p:spPr>
          <a:xfrm>
            <a:off x="6280190" y="1085612"/>
            <a:ext cx="69562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</a:t>
            </a:r>
            <a:endParaRPr lang="en-US" sz="4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6F30C4-08A6-0BCD-631F-0110F911B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  <p:pic>
        <p:nvPicPr>
          <p:cNvPr id="3074" name="Picture 2" descr="Atmosphere 16 01095 g002">
            <a:extLst>
              <a:ext uri="{FF2B5EF4-FFF2-40B4-BE49-F238E27FC236}">
                <a16:creationId xmlns:a16="http://schemas.microsoft.com/office/drawing/2014/main" id="{51CBD94C-90B0-710F-7B82-6DF494AA4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619" y="406492"/>
            <a:ext cx="3694079" cy="634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BC2935-BC04-F7EB-2066-78BE0DCCA30F}"/>
              </a:ext>
            </a:extLst>
          </p:cNvPr>
          <p:cNvSpPr txBox="1"/>
          <p:nvPr/>
        </p:nvSpPr>
        <p:spPr>
          <a:xfrm>
            <a:off x="7472058" y="7143988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AQI time series decomposed into 10 intrinsic mode functions (IMFs) and a residual using EEMD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75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B294-3C4C-6E31-EF94-95E9737B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C04CBD2-00FA-708D-23F7-ADF62A6B5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  <p:sp>
        <p:nvSpPr>
          <p:cNvPr id="6" name="AutoShape 2" descr="Atmosphere 16 01095 g003">
            <a:extLst>
              <a:ext uri="{FF2B5EF4-FFF2-40B4-BE49-F238E27FC236}">
                <a16:creationId xmlns:a16="http://schemas.microsoft.com/office/drawing/2014/main" id="{0117BF3B-72B1-E926-54B2-E4FDC1B940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 descr="Atmosphere 16 01095 g004">
            <a:extLst>
              <a:ext uri="{FF2B5EF4-FFF2-40B4-BE49-F238E27FC236}">
                <a16:creationId xmlns:a16="http://schemas.microsoft.com/office/drawing/2014/main" id="{A11DB37A-696F-F725-B1EE-4190CA0046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73389" y="3083667"/>
            <a:ext cx="385581" cy="3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6" descr="Atmosphere 16 01095 g004">
            <a:extLst>
              <a:ext uri="{FF2B5EF4-FFF2-40B4-BE49-F238E27FC236}">
                <a16:creationId xmlns:a16="http://schemas.microsoft.com/office/drawing/2014/main" id="{6F813D7E-EB47-0FB6-9AEA-4080FC8202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25789" y="3236067"/>
            <a:ext cx="385581" cy="3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4" name="Picture 8" descr="Atmosphere 16 01095 g005">
            <a:extLst>
              <a:ext uri="{FF2B5EF4-FFF2-40B4-BE49-F238E27FC236}">
                <a16:creationId xmlns:a16="http://schemas.microsoft.com/office/drawing/2014/main" id="{6DB0D99D-AECD-248D-9AC5-C1F92E9E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014" y="707181"/>
            <a:ext cx="6627171" cy="601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1468DA-85D2-5A8B-6717-09380A1E6E32}"/>
              </a:ext>
            </a:extLst>
          </p:cNvPr>
          <p:cNvSpPr txBox="1"/>
          <p:nvPr/>
        </p:nvSpPr>
        <p:spPr>
          <a:xfrm>
            <a:off x="5642043" y="6872233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Gray correlation analysis diagram.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71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845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583" y="2909173"/>
            <a:ext cx="9445943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Limitations and Ethical Considerations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583" y="3791426"/>
            <a:ext cx="1329523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GRU models face challenges with data quality, extreme events, and interpretability. Ethical deployment requires accuracy, transparency, fairness, and privacy safeguards for vulnerable populations.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67583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723" y="4616291"/>
            <a:ext cx="91440" cy="1449943"/>
          </a:xfrm>
          <a:prstGeom prst="roundRect">
            <a:avLst>
              <a:gd name="adj" fmla="val 187766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949762" y="4829889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Dependency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49762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depends on sensor accuracy; missing data degrades predictions.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0569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7709" y="4616291"/>
            <a:ext cx="91440" cy="1449943"/>
          </a:xfrm>
          <a:prstGeom prst="roundRect">
            <a:avLst>
              <a:gd name="adj" fmla="val 187766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7692747" y="4829889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Extreme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692747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Sudden spikes from festivals or industrial accidents may not be captured.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7583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723" y="6256973"/>
            <a:ext cx="91440" cy="1449943"/>
          </a:xfrm>
          <a:prstGeom prst="roundRect">
            <a:avLst>
              <a:gd name="adj" fmla="val 187766"/>
            </a:avLst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949762" y="6470571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Black Box Problem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49762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lacks interpretability; difficult to explain individual predictions.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10569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87709" y="6256973"/>
            <a:ext cx="91440" cy="1449943"/>
          </a:xfrm>
          <a:prstGeom prst="roundRect">
            <a:avLst>
              <a:gd name="adj" fmla="val 187766"/>
            </a:avLst>
          </a:prstGeom>
          <a:solidFill>
            <a:srgbClr val="438951"/>
          </a:solidFill>
          <a:ln/>
        </p:spPr>
      </p:sp>
      <p:sp>
        <p:nvSpPr>
          <p:cNvPr id="19" name="Text 16"/>
          <p:cNvSpPr/>
          <p:nvPr/>
        </p:nvSpPr>
        <p:spPr>
          <a:xfrm>
            <a:off x="7692747" y="6470571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Equity Concerns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692747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Urban areas with dense sensors get better accuracy; rural regions suffer from bias.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9B0332-0C97-21EA-F0B0-F494092C5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758126"/>
            <a:ext cx="2052979" cy="471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7933"/>
            <a:ext cx="5527357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Innovations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3787" y="1740813"/>
            <a:ext cx="13082826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architectures, multi-city models, real-time IoT integration, and explainable AI will enhance AQI prediction accuracy and societal impact.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262068" y="2697004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Satellite Data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73787" y="3175040"/>
            <a:ext cx="4251960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Remote sensing enables spatial AQI prediction over large geographic areas.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0107" y="3983831"/>
            <a:ext cx="310872" cy="3108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4653" y="2697004"/>
            <a:ext cx="3173730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Attention Mechanisms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9604653" y="3175040"/>
            <a:ext cx="4251960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key features and time steps influencing AQI predictions.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9183" y="3983831"/>
            <a:ext cx="310872" cy="3108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46732" y="4214098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Hybrid Models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10046732" y="4692134"/>
            <a:ext cx="3809881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CNN + GRU captures spatial correlations and temporal dependencies.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8661" y="5005030"/>
            <a:ext cx="310872" cy="3108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4653" y="6261735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Transformers</a:t>
            </a:r>
            <a:endParaRPr lang="en-US" sz="2150" dirty="0"/>
          </a:p>
        </p:txBody>
      </p:sp>
      <p:sp>
        <p:nvSpPr>
          <p:cNvPr id="17" name="Text 9"/>
          <p:cNvSpPr/>
          <p:nvPr/>
        </p:nvSpPr>
        <p:spPr>
          <a:xfrm>
            <a:off x="9604653" y="6739771"/>
            <a:ext cx="4251960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longer sequences efficiently for improved long-term forecasting.</a:t>
            </a:r>
            <a:endParaRPr lang="en-US" sz="17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9183" y="6026110"/>
            <a:ext cx="310872" cy="31087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262068" y="6084927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Systems</a:t>
            </a:r>
            <a:endParaRPr lang="en-US" sz="2150" dirty="0"/>
          </a:p>
        </p:txBody>
      </p:sp>
      <p:sp>
        <p:nvSpPr>
          <p:cNvPr id="21" name="Text 11"/>
          <p:cNvSpPr/>
          <p:nvPr/>
        </p:nvSpPr>
        <p:spPr>
          <a:xfrm>
            <a:off x="773787" y="6562963"/>
            <a:ext cx="4251960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IoT-enabled networks with mobile app integration for personalized health recommendations.</a:t>
            </a:r>
            <a:endParaRPr lang="en-US" sz="17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0107" y="6026110"/>
            <a:ext cx="310872" cy="31087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819989" y="4214098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Explainable AI</a:t>
            </a:r>
            <a:endParaRPr lang="en-US" sz="2150" dirty="0"/>
          </a:p>
        </p:txBody>
      </p:sp>
      <p:sp>
        <p:nvSpPr>
          <p:cNvPr id="25" name="Text 13"/>
          <p:cNvSpPr/>
          <p:nvPr/>
        </p:nvSpPr>
        <p:spPr>
          <a:xfrm>
            <a:off x="773787" y="4692134"/>
            <a:ext cx="3809881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attribution techniques build trust with policymakers and the public.</a:t>
            </a:r>
            <a:endParaRPr lang="en-US" sz="17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5747" y="2871073"/>
            <a:ext cx="4578906" cy="4578906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80628" y="5005030"/>
            <a:ext cx="310872" cy="3108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7DE4C0-FFE2-248B-71E6-26243FC6A41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5649" y="517922"/>
            <a:ext cx="4708922" cy="5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45649" y="1388983"/>
            <a:ext cx="7825502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GRU networks offer an efficient, powerful solution for AQI prediction. Accurate forecasts empower citizens and policymakers to make informed decisions, protect vulnerable populations, and guide sustainable urban development.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45649" y="2504837"/>
            <a:ext cx="7825502" cy="1085374"/>
          </a:xfrm>
          <a:prstGeom prst="roundRect">
            <a:avLst>
              <a:gd name="adj" fmla="val 41651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334006" y="2693194"/>
            <a:ext cx="306050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Computational Efficiency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4006" y="3100507"/>
            <a:ext cx="744878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GRU balances performance with fewer parameters than LSTM.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5649" y="3778568"/>
            <a:ext cx="7825502" cy="1085374"/>
          </a:xfrm>
          <a:prstGeom prst="roundRect">
            <a:avLst>
              <a:gd name="adj" fmla="val 41651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334006" y="3966924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Temporal Learning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34006" y="4374237"/>
            <a:ext cx="744878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Captures complex non-linear interactions in multivariate environmental data.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5649" y="5052298"/>
            <a:ext cx="7825502" cy="1085374"/>
          </a:xfrm>
          <a:prstGeom prst="roundRect">
            <a:avLst>
              <a:gd name="adj" fmla="val 41651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6334006" y="5240655"/>
            <a:ext cx="254591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Public Health Impact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34006" y="5647968"/>
            <a:ext cx="744878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proactive health advisories and protective measures for at-risk groups.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45649" y="6326029"/>
            <a:ext cx="7825502" cy="1386721"/>
          </a:xfrm>
          <a:prstGeom prst="roundRect">
            <a:avLst>
              <a:gd name="adj" fmla="val 32600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6334006" y="6514386"/>
            <a:ext cx="2973824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Responsible Deployment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334006" y="6921698"/>
            <a:ext cx="7448788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Ethical frameworks ensure accuracy, transparency, fairness, and privacy protection.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A60A72-18A9-B3C5-960F-41CA4712E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935" y="7663070"/>
            <a:ext cx="2052979" cy="437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945</Words>
  <Application>Microsoft Office PowerPoint</Application>
  <PresentationFormat>Custom</PresentationFormat>
  <Paragraphs>119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Fraunces Extra 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ISHAAN JAIN</cp:lastModifiedBy>
  <cp:revision>4</cp:revision>
  <dcterms:created xsi:type="dcterms:W3CDTF">2025-11-06T20:34:40Z</dcterms:created>
  <dcterms:modified xsi:type="dcterms:W3CDTF">2025-11-07T06:52:39Z</dcterms:modified>
</cp:coreProperties>
</file>